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aleway"/>
      <p:regular r:id="rId25"/>
      <p:bold r:id="rId26"/>
      <p:italic r:id="rId27"/>
      <p:boldItalic r:id="rId28"/>
    </p:embeddedFont>
    <p:embeddedFont>
      <p:font typeface="Lato"/>
      <p:regular r:id="rId29"/>
      <p:bold r:id="rId30"/>
      <p:italic r:id="rId31"/>
      <p:boldItalic r:id="rId32"/>
    </p:embeddedFont>
    <p:embeddedFont>
      <p:font typeface="Comfortaa"/>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DBEEBC-0381-47E2-8A9E-798B04C1E166}">
  <a:tblStyle styleId="{65DBEEBC-0381-47E2-8A9E-798B04C1E1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bold.fntdata"/><Relationship Id="rId25" Type="http://schemas.openxmlformats.org/officeDocument/2006/relationships/font" Target="fonts/Raleway-regular.fntdata"/><Relationship Id="rId28" Type="http://schemas.openxmlformats.org/officeDocument/2006/relationships/font" Target="fonts/Raleway-boldItalic.fntdata"/><Relationship Id="rId27" Type="http://schemas.openxmlformats.org/officeDocument/2006/relationships/font" Target="fonts/Raleway-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5.xml"/><Relationship Id="rId33" Type="http://schemas.openxmlformats.org/officeDocument/2006/relationships/font" Target="fonts/Comfortaa-regular.fntdata"/><Relationship Id="rId10" Type="http://schemas.openxmlformats.org/officeDocument/2006/relationships/slide" Target="slides/slide4.xml"/><Relationship Id="rId32"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Comfortaa-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a0c8d23f6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a0c8d23f6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a0c8d23f6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a0c8d23f6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a0c8d23f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a0c8d23f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a0c8d23f8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a0c8d23f8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a891bfff75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a891bfff7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a891bfff75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a891bfff75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a891bfff75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a891bfff75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a891bfff75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a891bfff75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a0b6afca0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a0b6afca0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9c2a07ab3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9c2a07ab3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9fee020d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9fee020d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9fee020de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9fee020de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9fee020de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9fee020de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fee020de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9fee020de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a0c8d23f8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a0c8d23f8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a0c8d23f8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a0c8d23f8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a0c8d23f8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a0c8d23f8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RnZVztZLN8G16zf2r0c12j8SaH65aVJu2ztDEzGIjlE/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drive.google.com/file/d/1x4guVgiZ-aAlItUjlCpv9keWNg_wa2dQ/view" TargetMode="Externa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drive.google.com/file/d/18Zf_j7pZVJEBmkqYqUELWP9NRicw5HZI/view" TargetMode="Externa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T8FEbGIo8olgv5x8HCZzCV4BJg8sc-MS/view" TargetMode="Externa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pETzP1RC_D1-mPgPo62jNg4pMrxHu4Rk/view" TargetMode="Externa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drive.google.com/file/d/15L45SV_SVpOojoJ1qgW9l0pvzbab5FcJ/view" TargetMode="Externa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researchgate.net/profile/Debjoy_Saha/publication/336218818_Warehouse_Management_Using_Real-Time_QR-Code_and_Text_Detection/links/5d9795ac299bf1c363f8d4d6/Warehouse-Management-Using-Real-Time-QR-Code-and-Text-Detection.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311700" y="758650"/>
            <a:ext cx="8520600" cy="1728900"/>
          </a:xfrm>
          <a:prstGeom prst="rect">
            <a:avLst/>
          </a:prstGeom>
          <a:noFill/>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3500"/>
              <a:t>MATRIX BARCODE BASED DETECTION AND TRACKING FOR AUTONOMOUS UAV LANDING</a:t>
            </a:r>
            <a:endParaRPr sz="7700"/>
          </a:p>
        </p:txBody>
      </p:sp>
      <p:sp>
        <p:nvSpPr>
          <p:cNvPr id="87" name="Google Shape;87;p13"/>
          <p:cNvSpPr txBox="1"/>
          <p:nvPr/>
        </p:nvSpPr>
        <p:spPr>
          <a:xfrm>
            <a:off x="1859175" y="1461300"/>
            <a:ext cx="4167000" cy="4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txBox="1"/>
          <p:nvPr/>
        </p:nvSpPr>
        <p:spPr>
          <a:xfrm>
            <a:off x="4403850" y="3026750"/>
            <a:ext cx="4676400" cy="185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Group:</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    Velayudhan A 	        : 	   AM.EN.U4EEE17101</a:t>
            </a:r>
            <a:endParaRPr/>
          </a:p>
          <a:p>
            <a:pPr indent="0" lvl="0" marL="0" rtl="0" algn="ctr">
              <a:spcBef>
                <a:spcPts val="0"/>
              </a:spcBef>
              <a:spcAft>
                <a:spcPts val="0"/>
              </a:spcAft>
              <a:buNone/>
            </a:pPr>
            <a:r>
              <a:rPr lang="en"/>
              <a:t>  Nandakishore R Nair	     :     AM.EN.U4EEE17123</a:t>
            </a:r>
            <a:endParaRPr/>
          </a:p>
          <a:p>
            <a:pPr indent="0" lvl="0" marL="0" rtl="0" algn="ctr">
              <a:spcBef>
                <a:spcPts val="0"/>
              </a:spcBef>
              <a:spcAft>
                <a:spcPts val="0"/>
              </a:spcAft>
              <a:buNone/>
            </a:pPr>
            <a:r>
              <a:rPr lang="en"/>
              <a:t>  Neeraj S		:	        AM.EN.U4EEE17124</a:t>
            </a:r>
            <a:endParaRPr/>
          </a:p>
          <a:p>
            <a:pPr indent="0" lvl="0" marL="0" rtl="0" algn="ctr">
              <a:spcBef>
                <a:spcPts val="0"/>
              </a:spcBef>
              <a:spcAft>
                <a:spcPts val="0"/>
              </a:spcAft>
              <a:buNone/>
            </a:pPr>
            <a:r>
              <a:rPr lang="en"/>
              <a:t>  Vishnu S		:	        AM.EN.U4EEE17147</a:t>
            </a:r>
            <a:endParaRPr/>
          </a:p>
          <a:p>
            <a:pPr indent="0" lvl="0" marL="0" rtl="0" algn="l">
              <a:spcBef>
                <a:spcPts val="0"/>
              </a:spcBef>
              <a:spcAft>
                <a:spcPts val="0"/>
              </a:spcAft>
              <a:buNone/>
            </a:pPr>
            <a:r>
              <a:t/>
            </a:r>
            <a:endParaRPr sz="2000"/>
          </a:p>
          <a:p>
            <a:pPr indent="0" lvl="0" marL="0" rtl="0" algn="l">
              <a:spcBef>
                <a:spcPts val="0"/>
              </a:spcBef>
              <a:spcAft>
                <a:spcPts val="0"/>
              </a:spcAft>
              <a:buNone/>
            </a:pPr>
            <a:r>
              <a:t/>
            </a:r>
            <a:endParaRPr sz="1600">
              <a:highlight>
                <a:srgbClr val="CCCCCC"/>
              </a:highlight>
            </a:endParaRPr>
          </a:p>
        </p:txBody>
      </p:sp>
      <p:sp>
        <p:nvSpPr>
          <p:cNvPr id="89" name="Google Shape;89;p13"/>
          <p:cNvSpPr txBox="1"/>
          <p:nvPr/>
        </p:nvSpPr>
        <p:spPr>
          <a:xfrm>
            <a:off x="412350" y="3154100"/>
            <a:ext cx="2915400" cy="17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Mentor : Mr Vivek </a:t>
            </a:r>
            <a:endParaRPr sz="1800"/>
          </a:p>
          <a:p>
            <a:pPr indent="0" lvl="0" marL="0" rtl="0" algn="l">
              <a:spcBef>
                <a:spcPts val="0"/>
              </a:spcBef>
              <a:spcAft>
                <a:spcPts val="0"/>
              </a:spcAft>
              <a:buNone/>
            </a:pPr>
            <a:r>
              <a:rPr b="1" lang="en" sz="1450">
                <a:solidFill>
                  <a:srgbClr val="333333"/>
                </a:solidFill>
                <a:highlight>
                  <a:schemeClr val="lt1"/>
                </a:highlight>
                <a:latin typeface="Courier New"/>
                <a:ea typeface="Courier New"/>
                <a:cs typeface="Courier New"/>
                <a:sym typeface="Courier New"/>
              </a:rPr>
              <a:t>Asst. Professor, Electrical and Electronics, </a:t>
            </a:r>
            <a:endParaRPr b="1" sz="1450">
              <a:solidFill>
                <a:srgbClr val="333333"/>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en" sz="1450">
                <a:solidFill>
                  <a:srgbClr val="333333"/>
                </a:solidFill>
                <a:highlight>
                  <a:schemeClr val="lt1"/>
                </a:highlight>
                <a:latin typeface="Courier New"/>
                <a:ea typeface="Courier New"/>
                <a:cs typeface="Courier New"/>
                <a:sym typeface="Courier New"/>
              </a:rPr>
              <a:t>School of Engineering, Amritapuri</a:t>
            </a:r>
            <a:endParaRPr b="1" sz="1800">
              <a:latin typeface="Courier New"/>
              <a:ea typeface="Courier New"/>
              <a:cs typeface="Courier New"/>
              <a:sym typeface="Courier New"/>
            </a:endParaRPr>
          </a:p>
          <a:p>
            <a:pPr indent="0" lvl="0" marL="0" rtl="0" algn="l">
              <a:spcBef>
                <a:spcPts val="0"/>
              </a:spcBef>
              <a:spcAft>
                <a:spcPts val="0"/>
              </a:spcAft>
              <a:buNone/>
            </a:pPr>
            <a:r>
              <a:t/>
            </a:r>
            <a:endParaRPr>
              <a:latin typeface="Lato"/>
              <a:ea typeface="Lato"/>
              <a:cs typeface="Lato"/>
              <a:sym typeface="Lato"/>
            </a:endParaRPr>
          </a:p>
        </p:txBody>
      </p:sp>
      <p:sp>
        <p:nvSpPr>
          <p:cNvPr id="90" name="Google Shape;90;p13"/>
          <p:cNvSpPr txBox="1"/>
          <p:nvPr/>
        </p:nvSpPr>
        <p:spPr>
          <a:xfrm>
            <a:off x="544025" y="2530200"/>
            <a:ext cx="8358300" cy="5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Lato"/>
                <a:ea typeface="Lato"/>
                <a:cs typeface="Lato"/>
                <a:sym typeface="Lato"/>
                <a:hlinkClick r:id="rId3"/>
              </a:rPr>
              <a:t>https://docs.google.com/presentation/d/1RnZVztZLN8G16zf2r0c12j8SaH65aVJu2ztDEzGIjlE/edit?usp=sharing</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ctrTitle"/>
          </p:nvPr>
        </p:nvSpPr>
        <p:spPr>
          <a:xfrm>
            <a:off x="729450" y="426825"/>
            <a:ext cx="7688100" cy="50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Introduction </a:t>
            </a:r>
            <a:endParaRPr sz="2500"/>
          </a:p>
        </p:txBody>
      </p:sp>
      <p:sp>
        <p:nvSpPr>
          <p:cNvPr id="96" name="Google Shape;96;p14"/>
          <p:cNvSpPr txBox="1"/>
          <p:nvPr>
            <p:ph idx="1" type="subTitle"/>
          </p:nvPr>
        </p:nvSpPr>
        <p:spPr>
          <a:xfrm>
            <a:off x="729625" y="1360025"/>
            <a:ext cx="7688100" cy="3783600"/>
          </a:xfrm>
          <a:prstGeom prst="rect">
            <a:avLst/>
          </a:prstGeom>
        </p:spPr>
        <p:txBody>
          <a:bodyPr anchorCtr="0" anchor="t" bIns="91425" lIns="91425" spcFirstLastPara="1" rIns="91425" wrap="square" tIns="91425">
            <a:noAutofit/>
          </a:bodyPr>
          <a:lstStyle/>
          <a:p>
            <a:pPr indent="0" lvl="0" marL="0" rtl="0" algn="just">
              <a:spcBef>
                <a:spcPts val="2000"/>
              </a:spcBef>
              <a:spcAft>
                <a:spcPts val="0"/>
              </a:spcAft>
              <a:buNone/>
            </a:pPr>
            <a:r>
              <a:rPr lang="en" sz="1500">
                <a:solidFill>
                  <a:srgbClr val="000000"/>
                </a:solidFill>
                <a:latin typeface="Arial"/>
                <a:ea typeface="Arial"/>
                <a:cs typeface="Arial"/>
                <a:sym typeface="Arial"/>
              </a:rPr>
              <a:t>Dynamic remotely operated navigation equipment (DRONE)  is the state of art technology that is most often associated with the military ,where they were used initially for  anti-aircraft target practice intelligence gathering and then,more controversially,as weapons platform.Drones are now also used in a wide range of civilian roles ranging from search and and rescue, surveillance , traffic monitoring, weather monitoring and fire fighting , to personal drones for photography , agriculture and even delivery services.</a:t>
            </a:r>
            <a:endParaRPr sz="1500">
              <a:solidFill>
                <a:srgbClr val="000000"/>
              </a:solidFill>
              <a:latin typeface="Arial"/>
              <a:ea typeface="Arial"/>
              <a:cs typeface="Arial"/>
              <a:sym typeface="Arial"/>
            </a:endParaRPr>
          </a:p>
          <a:p>
            <a:pPr indent="0" lvl="0" marL="0" rtl="0" algn="just">
              <a:spcBef>
                <a:spcPts val="2000"/>
              </a:spcBef>
              <a:spcAft>
                <a:spcPts val="0"/>
              </a:spcAft>
              <a:buNone/>
            </a:pPr>
            <a:r>
              <a:rPr lang="en" sz="1500">
                <a:solidFill>
                  <a:srgbClr val="000000"/>
                </a:solidFill>
                <a:latin typeface="Arial"/>
                <a:ea typeface="Arial"/>
                <a:cs typeface="Arial"/>
                <a:sym typeface="Arial"/>
              </a:rPr>
              <a:t>The proposed system is composed of a Matrix barcode Code analyser mounted on board an unmanned aerial vehicle (UAV) along with on board processor, which allows the drone to be versatile enough in order to specifically to be used in object recognition,Human tracking, navigation, moving body identification, godown inspection, etc. </a:t>
            </a:r>
            <a:endParaRPr sz="15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311700" y="383400"/>
            <a:ext cx="8347500" cy="5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rgbClr val="000000"/>
                </a:solidFill>
              </a:rPr>
              <a:t>Objectives </a:t>
            </a:r>
            <a:endParaRPr/>
          </a:p>
        </p:txBody>
      </p:sp>
      <p:sp>
        <p:nvSpPr>
          <p:cNvPr id="102" name="Google Shape;102;p15"/>
          <p:cNvSpPr txBox="1"/>
          <p:nvPr>
            <p:ph idx="1" type="body"/>
          </p:nvPr>
        </p:nvSpPr>
        <p:spPr>
          <a:xfrm>
            <a:off x="361150" y="1790075"/>
            <a:ext cx="8520600" cy="2225700"/>
          </a:xfrm>
          <a:prstGeom prst="rect">
            <a:avLst/>
          </a:prstGeom>
        </p:spPr>
        <p:txBody>
          <a:bodyPr anchorCtr="0" anchor="t" bIns="91425" lIns="91425" spcFirstLastPara="1" rIns="91425" wrap="square" tIns="91425">
            <a:noAutofit/>
          </a:bodyPr>
          <a:lstStyle/>
          <a:p>
            <a:pPr indent="-349250" lvl="0" marL="457200" rtl="0" algn="just">
              <a:spcBef>
                <a:spcPts val="0"/>
              </a:spcBef>
              <a:spcAft>
                <a:spcPts val="0"/>
              </a:spcAft>
              <a:buSzPts val="1900"/>
              <a:buAutoNum type="arabicPeriod"/>
            </a:pPr>
            <a:r>
              <a:rPr lang="en" sz="1900">
                <a:highlight>
                  <a:srgbClr val="FFFFFF"/>
                </a:highlight>
              </a:rPr>
              <a:t>Apriltag recognition with enhanced precision.</a:t>
            </a:r>
            <a:endParaRPr sz="1900">
              <a:highlight>
                <a:srgbClr val="FFFFFF"/>
              </a:highlight>
            </a:endParaRPr>
          </a:p>
          <a:p>
            <a:pPr indent="-349250" lvl="0" marL="457200" rtl="0" algn="just">
              <a:spcBef>
                <a:spcPts val="0"/>
              </a:spcBef>
              <a:spcAft>
                <a:spcPts val="0"/>
              </a:spcAft>
              <a:buSzPts val="1900"/>
              <a:buAutoNum type="arabicPeriod"/>
            </a:pPr>
            <a:r>
              <a:rPr lang="en" sz="1900">
                <a:highlight>
                  <a:srgbClr val="FFFFFF"/>
                </a:highlight>
              </a:rPr>
              <a:t>Localisation with respect to global frame.</a:t>
            </a:r>
            <a:endParaRPr sz="1900">
              <a:highlight>
                <a:srgbClr val="FFFFFF"/>
              </a:highlight>
            </a:endParaRPr>
          </a:p>
          <a:p>
            <a:pPr indent="-349250" lvl="0" marL="457200" rtl="0" algn="just">
              <a:spcBef>
                <a:spcPts val="0"/>
              </a:spcBef>
              <a:spcAft>
                <a:spcPts val="0"/>
              </a:spcAft>
              <a:buSzPts val="1900"/>
              <a:buAutoNum type="arabicPeriod"/>
            </a:pPr>
            <a:r>
              <a:rPr lang="en" sz="1900">
                <a:highlight>
                  <a:srgbClr val="FFFFFF"/>
                </a:highlight>
              </a:rPr>
              <a:t>Code the drone for tracking of the localised region in frame of interest.</a:t>
            </a:r>
            <a:endParaRPr sz="1900">
              <a:highlight>
                <a:srgbClr val="FFFFFF"/>
              </a:highlight>
            </a:endParaRPr>
          </a:p>
          <a:p>
            <a:pPr indent="-349250" lvl="0" marL="457200" rtl="0" algn="just">
              <a:spcBef>
                <a:spcPts val="0"/>
              </a:spcBef>
              <a:spcAft>
                <a:spcPts val="0"/>
              </a:spcAft>
              <a:buSzPts val="1900"/>
              <a:buAutoNum type="arabicPeriod"/>
            </a:pPr>
            <a:r>
              <a:rPr lang="en" sz="1900">
                <a:highlight>
                  <a:srgbClr val="FFFFFF"/>
                </a:highlight>
              </a:rPr>
              <a:t>Attain all of the above mentioned steps without third party intervention(autonomous nature).</a:t>
            </a:r>
            <a:endParaRPr sz="1900">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Description</a:t>
            </a:r>
            <a:r>
              <a:rPr lang="en"/>
              <a:t> of the system </a:t>
            </a:r>
            <a:endParaRPr/>
          </a:p>
        </p:txBody>
      </p:sp>
      <p:sp>
        <p:nvSpPr>
          <p:cNvPr id="108" name="Google Shape;108;p16"/>
          <p:cNvSpPr txBox="1"/>
          <p:nvPr>
            <p:ph idx="1" type="body"/>
          </p:nvPr>
        </p:nvSpPr>
        <p:spPr>
          <a:xfrm>
            <a:off x="729450" y="20564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Block diagram</a:t>
            </a:r>
            <a:r>
              <a:rPr lang="en" sz="1700"/>
              <a:t> </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sz="1700"/>
          </a:p>
        </p:txBody>
      </p:sp>
      <p:sp>
        <p:nvSpPr>
          <p:cNvPr id="109" name="Google Shape;109;p16"/>
          <p:cNvSpPr/>
          <p:nvPr/>
        </p:nvSpPr>
        <p:spPr>
          <a:xfrm>
            <a:off x="3372975" y="2413500"/>
            <a:ext cx="2017800" cy="74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HARDWARE</a:t>
            </a:r>
            <a:endParaRPr b="1"/>
          </a:p>
        </p:txBody>
      </p:sp>
      <p:sp>
        <p:nvSpPr>
          <p:cNvPr id="110" name="Google Shape;110;p16"/>
          <p:cNvSpPr/>
          <p:nvPr/>
        </p:nvSpPr>
        <p:spPr>
          <a:xfrm>
            <a:off x="6805250" y="2397725"/>
            <a:ext cx="1404600" cy="226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LANDING ZONE DETECTION</a:t>
            </a:r>
            <a:endParaRPr b="1"/>
          </a:p>
          <a:p>
            <a:pPr indent="0" lvl="0" marL="0" rtl="0" algn="ctr">
              <a:spcBef>
                <a:spcPts val="0"/>
              </a:spcBef>
              <a:spcAft>
                <a:spcPts val="0"/>
              </a:spcAft>
              <a:buNone/>
            </a:pPr>
            <a:r>
              <a:rPr b="1" lang="en"/>
              <a:t>AND TRACKING SEG.</a:t>
            </a:r>
            <a:endParaRPr b="1"/>
          </a:p>
        </p:txBody>
      </p:sp>
      <p:sp>
        <p:nvSpPr>
          <p:cNvPr id="111" name="Google Shape;111;p16"/>
          <p:cNvSpPr/>
          <p:nvPr/>
        </p:nvSpPr>
        <p:spPr>
          <a:xfrm>
            <a:off x="910000" y="3946600"/>
            <a:ext cx="2463000" cy="74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UAV NAVIGATION</a:t>
            </a:r>
            <a:endParaRPr b="1"/>
          </a:p>
        </p:txBody>
      </p:sp>
      <p:cxnSp>
        <p:nvCxnSpPr>
          <p:cNvPr id="112" name="Google Shape;112;p16"/>
          <p:cNvCxnSpPr>
            <a:stCxn id="109" idx="3"/>
            <a:endCxn id="110" idx="1"/>
          </p:cNvCxnSpPr>
          <p:nvPr/>
        </p:nvCxnSpPr>
        <p:spPr>
          <a:xfrm>
            <a:off x="5390775" y="2784450"/>
            <a:ext cx="1414500" cy="7437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16"/>
          <p:cNvCxnSpPr>
            <a:stCxn id="110" idx="1"/>
            <a:endCxn id="111" idx="3"/>
          </p:cNvCxnSpPr>
          <p:nvPr/>
        </p:nvCxnSpPr>
        <p:spPr>
          <a:xfrm flipH="1">
            <a:off x="3372950" y="3528275"/>
            <a:ext cx="3432300" cy="789300"/>
          </a:xfrm>
          <a:prstGeom prst="straightConnector1">
            <a:avLst/>
          </a:prstGeom>
          <a:noFill/>
          <a:ln cap="flat" cmpd="sng" w="9525">
            <a:solidFill>
              <a:schemeClr val="dk2"/>
            </a:solidFill>
            <a:prstDash val="solid"/>
            <a:round/>
            <a:headEnd len="med" w="med" type="none"/>
            <a:tailEnd len="med" w="med" type="triangle"/>
          </a:ln>
        </p:spPr>
      </p:cxnSp>
      <p:cxnSp>
        <p:nvCxnSpPr>
          <p:cNvPr id="114" name="Google Shape;114;p16"/>
          <p:cNvCxnSpPr/>
          <p:nvPr/>
        </p:nvCxnSpPr>
        <p:spPr>
          <a:xfrm flipH="1" rot="10800000">
            <a:off x="2141500" y="2784450"/>
            <a:ext cx="1231500" cy="11622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6"/>
          <p:cNvCxnSpPr/>
          <p:nvPr/>
        </p:nvCxnSpPr>
        <p:spPr>
          <a:xfrm flipH="1">
            <a:off x="1384550" y="2561850"/>
            <a:ext cx="1978500" cy="1335600"/>
          </a:xfrm>
          <a:prstGeom prst="straightConnector1">
            <a:avLst/>
          </a:prstGeom>
          <a:noFill/>
          <a:ln cap="flat" cmpd="sng" w="9525">
            <a:solidFill>
              <a:schemeClr val="dk2"/>
            </a:solidFill>
            <a:prstDash val="solid"/>
            <a:round/>
            <a:headEnd len="med" w="med" type="none"/>
            <a:tailEnd len="med" w="med" type="triangle"/>
          </a:ln>
        </p:spPr>
      </p:cxnSp>
      <p:sp>
        <p:nvSpPr>
          <p:cNvPr id="116" name="Google Shape;116;p16"/>
          <p:cNvSpPr txBox="1"/>
          <p:nvPr/>
        </p:nvSpPr>
        <p:spPr>
          <a:xfrm>
            <a:off x="1760675" y="2854575"/>
            <a:ext cx="9792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odometry</a:t>
            </a:r>
            <a:endParaRPr>
              <a:latin typeface="Lato"/>
              <a:ea typeface="Lato"/>
              <a:cs typeface="Lato"/>
              <a:sym typeface="Lato"/>
            </a:endParaRPr>
          </a:p>
        </p:txBody>
      </p:sp>
      <p:sp>
        <p:nvSpPr>
          <p:cNvPr id="117" name="Google Shape;117;p16"/>
          <p:cNvSpPr txBox="1"/>
          <p:nvPr/>
        </p:nvSpPr>
        <p:spPr>
          <a:xfrm>
            <a:off x="2571750" y="3283400"/>
            <a:ext cx="10683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Velocity commands</a:t>
            </a:r>
            <a:endParaRPr>
              <a:latin typeface="Lato"/>
              <a:ea typeface="Lato"/>
              <a:cs typeface="Lato"/>
              <a:sym typeface="Lato"/>
            </a:endParaRPr>
          </a:p>
        </p:txBody>
      </p:sp>
      <p:sp>
        <p:nvSpPr>
          <p:cNvPr id="118" name="Google Shape;118;p16"/>
          <p:cNvSpPr txBox="1"/>
          <p:nvPr/>
        </p:nvSpPr>
        <p:spPr>
          <a:xfrm>
            <a:off x="5628200" y="2679525"/>
            <a:ext cx="7815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Image in frames</a:t>
            </a:r>
            <a:endParaRPr>
              <a:latin typeface="Lato"/>
              <a:ea typeface="Lato"/>
              <a:cs typeface="Lato"/>
              <a:sym typeface="Lato"/>
            </a:endParaRPr>
          </a:p>
        </p:txBody>
      </p:sp>
      <p:sp>
        <p:nvSpPr>
          <p:cNvPr id="119" name="Google Shape;119;p16"/>
          <p:cNvSpPr txBox="1"/>
          <p:nvPr/>
        </p:nvSpPr>
        <p:spPr>
          <a:xfrm>
            <a:off x="4906100" y="3852850"/>
            <a:ext cx="1365000" cy="9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Estimated landing zone velocities and locations</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559000" y="576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done</a:t>
            </a:r>
            <a:endParaRPr/>
          </a:p>
        </p:txBody>
      </p:sp>
      <p:sp>
        <p:nvSpPr>
          <p:cNvPr id="125" name="Google Shape;125;p17"/>
          <p:cNvSpPr txBox="1"/>
          <p:nvPr>
            <p:ph idx="1" type="body"/>
          </p:nvPr>
        </p:nvSpPr>
        <p:spPr>
          <a:xfrm>
            <a:off x="727650" y="1537450"/>
            <a:ext cx="7688700" cy="26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been constantly updating the project </a:t>
            </a:r>
            <a:r>
              <a:rPr lang="en"/>
              <a:t>prerequisites</a:t>
            </a:r>
            <a:r>
              <a:rPr lang="en"/>
              <a:t> and learning the ways by which this task of </a:t>
            </a:r>
            <a:r>
              <a:rPr lang="en"/>
              <a:t>autonomous uav landing using fiducial markers can be implemented. As a result we have enrolled ourselves in various courses offered by various online platforms such as edX so that the basics is strong.</a:t>
            </a:r>
            <a:endParaRPr/>
          </a:p>
          <a:p>
            <a:pPr indent="0" lvl="0" marL="0" rtl="0" algn="l">
              <a:spcBef>
                <a:spcPts val="1600"/>
              </a:spcBef>
              <a:spcAft>
                <a:spcPts val="0"/>
              </a:spcAft>
              <a:buNone/>
            </a:pPr>
            <a:r>
              <a:rPr lang="en"/>
              <a:t>Also as the trend of robotic systems is prevalent in the vast sector, proper simulation and documentation needs to be facilitated as a result the totally new concept of ROS is been focal point. We have made ways to educate ourselves with this meta operating software.</a:t>
            </a:r>
            <a:endParaRPr/>
          </a:p>
          <a:p>
            <a:pPr indent="0" lvl="0" marL="0" rtl="0" algn="l">
              <a:spcBef>
                <a:spcPts val="1600"/>
              </a:spcBef>
              <a:spcAft>
                <a:spcPts val="1600"/>
              </a:spcAft>
              <a:buNone/>
            </a:pPr>
            <a:r>
              <a:rPr lang="en"/>
              <a:t>MATlab implementation of the feature extraction is been understood as it is been used in the existing packages prevalent in the UAV techs. Also the codes for the drone fight and general navigation is been exported. </a:t>
            </a: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541875" y="691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Designing</a:t>
            </a:r>
            <a:endParaRPr sz="2000"/>
          </a:p>
        </p:txBody>
      </p:sp>
      <p:sp>
        <p:nvSpPr>
          <p:cNvPr id="131" name="Google Shape;131;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32" name="Google Shape;132;p18" title="1.mp4">
            <a:hlinkClick r:id="rId3"/>
          </p:cNvPr>
          <p:cNvPicPr preferRelativeResize="0"/>
          <p:nvPr/>
        </p:nvPicPr>
        <p:blipFill>
          <a:blip r:embed="rId4">
            <a:alphaModFix/>
          </a:blip>
          <a:stretch>
            <a:fillRect/>
          </a:stretch>
        </p:blipFill>
        <p:spPr>
          <a:xfrm>
            <a:off x="653375" y="733025"/>
            <a:ext cx="7840848" cy="44104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39" name="Google Shape;139;p19" title="2.mp4">
            <a:hlinkClick r:id="rId3"/>
          </p:cNvPr>
          <p:cNvPicPr preferRelativeResize="0"/>
          <p:nvPr/>
        </p:nvPicPr>
        <p:blipFill>
          <a:blip r:embed="rId4">
            <a:alphaModFix/>
          </a:blip>
          <a:stretch>
            <a:fillRect/>
          </a:stretch>
        </p:blipFill>
        <p:spPr>
          <a:xfrm>
            <a:off x="69011" y="0"/>
            <a:ext cx="9005976"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6" name="Google Shape;146;p20" title="3.mp4">
            <a:hlinkClick r:id="rId3"/>
          </p:cNvPr>
          <p:cNvPicPr preferRelativeResize="0"/>
          <p:nvPr/>
        </p:nvPicPr>
        <p:blipFill>
          <a:blip r:embed="rId4">
            <a:alphaModFix/>
          </a:blip>
          <a:stretch>
            <a:fillRect/>
          </a:stretch>
        </p:blipFill>
        <p:spPr>
          <a:xfrm>
            <a:off x="69011" y="0"/>
            <a:ext cx="9005976"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3" name="Google Shape;153;p21" title="4.mp4">
            <a:hlinkClick r:id="rId3"/>
          </p:cNvPr>
          <p:cNvPicPr preferRelativeResize="0"/>
          <p:nvPr/>
        </p:nvPicPr>
        <p:blipFill>
          <a:blip r:embed="rId4">
            <a:alphaModFix/>
          </a:blip>
          <a:stretch>
            <a:fillRect/>
          </a:stretch>
        </p:blipFill>
        <p:spPr>
          <a:xfrm>
            <a:off x="69011" y="0"/>
            <a:ext cx="9005976"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254950" y="1498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Diamond collection code</a:t>
            </a:r>
            <a:endParaRPr sz="1700"/>
          </a:p>
        </p:txBody>
      </p:sp>
      <p:sp>
        <p:nvSpPr>
          <p:cNvPr id="159" name="Google Shape;159;p22"/>
          <p:cNvSpPr txBox="1"/>
          <p:nvPr>
            <p:ph idx="1" type="body"/>
          </p:nvPr>
        </p:nvSpPr>
        <p:spPr>
          <a:xfrm>
            <a:off x="311700" y="525050"/>
            <a:ext cx="8520600" cy="4618500"/>
          </a:xfrm>
          <a:prstGeom prst="rect">
            <a:avLst/>
          </a:prstGeom>
        </p:spPr>
        <p:txBody>
          <a:bodyPr anchorCtr="0" anchor="t" bIns="91425" lIns="91425" spcFirstLastPara="1" rIns="91425" wrap="square" tIns="91425">
            <a:noAutofit/>
          </a:bodyPr>
          <a:lstStyle/>
          <a:p>
            <a:pPr indent="0" lvl="0" marL="0" rtl="0" algn="l">
              <a:lnSpc>
                <a:spcPct val="30000"/>
              </a:lnSpc>
              <a:spcBef>
                <a:spcPts val="200"/>
              </a:spcBef>
              <a:spcAft>
                <a:spcPts val="0"/>
              </a:spcAft>
              <a:buNone/>
            </a:pPr>
            <a:r>
              <a:rPr lang="en" sz="1200">
                <a:latin typeface="Comfortaa"/>
                <a:ea typeface="Comfortaa"/>
                <a:cs typeface="Comfortaa"/>
                <a:sym typeface="Comfortaa"/>
              </a:rPr>
              <a:t>import quadrotor.command as cmd</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from math import sqrt</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def plan_mission(mission):</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commands  = [</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cmd.up(1),</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cmd.forward(1),</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cmd.turn_right(90),</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cmd.forward(2),</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cmd.turn_left(90),</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cmd.forward(4),</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cmd.turn_left(90),</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cmd.forward(4),</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cmd.turn_left(90),</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cmd.forward(4),</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cmd.turn_left(135),</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cmd.forward(sqrt(8))</a:t>
            </a:r>
            <a:endParaRPr sz="1200">
              <a:latin typeface="Comfortaa"/>
              <a:ea typeface="Comfortaa"/>
              <a:cs typeface="Comfortaa"/>
              <a:sym typeface="Comfortaa"/>
            </a:endParaRPr>
          </a:p>
          <a:p>
            <a:pPr indent="0" lvl="0" marL="0" rtl="0" algn="l">
              <a:lnSpc>
                <a:spcPct val="30000"/>
              </a:lnSpc>
              <a:spcBef>
                <a:spcPts val="1600"/>
              </a:spcBef>
              <a:spcAft>
                <a:spcPts val="0"/>
              </a:spcAft>
              <a:buNone/>
            </a:pPr>
            <a:r>
              <a:rPr lang="en" sz="1200">
                <a:latin typeface="Comfortaa"/>
                <a:ea typeface="Comfortaa"/>
                <a:cs typeface="Comfortaa"/>
                <a:sym typeface="Comfortaa"/>
              </a:rPr>
              <a:t>    ]</a:t>
            </a:r>
            <a:endParaRPr sz="1200">
              <a:latin typeface="Comfortaa"/>
              <a:ea typeface="Comfortaa"/>
              <a:cs typeface="Comfortaa"/>
              <a:sym typeface="Comfortaa"/>
            </a:endParaRPr>
          </a:p>
          <a:p>
            <a:pPr indent="0" lvl="0" marL="0" rtl="0" algn="l">
              <a:lnSpc>
                <a:spcPct val="30000"/>
              </a:lnSpc>
              <a:spcBef>
                <a:spcPts val="1600"/>
              </a:spcBef>
              <a:spcAft>
                <a:spcPts val="1600"/>
              </a:spcAft>
              <a:buNone/>
            </a:pPr>
            <a:r>
              <a:rPr lang="en" sz="1200">
                <a:latin typeface="Comfortaa"/>
                <a:ea typeface="Comfortaa"/>
                <a:cs typeface="Comfortaa"/>
                <a:sym typeface="Comfortaa"/>
              </a:rPr>
              <a:t>    mission.add_commands(commands)</a:t>
            </a:r>
            <a:endParaRPr sz="1200">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3" title="Drone Simulation.mp4">
            <a:hlinkClick r:id="rId3"/>
          </p:cNvPr>
          <p:cNvPicPr preferRelativeResize="0"/>
          <p:nvPr/>
        </p:nvPicPr>
        <p:blipFill>
          <a:blip r:embed="rId4">
            <a:alphaModFix/>
          </a:blip>
          <a:stretch>
            <a:fillRect/>
          </a:stretch>
        </p:blipFill>
        <p:spPr>
          <a:xfrm>
            <a:off x="804575" y="853350"/>
            <a:ext cx="7416350" cy="4171700"/>
          </a:xfrm>
          <a:prstGeom prst="rect">
            <a:avLst/>
          </a:prstGeom>
          <a:noFill/>
          <a:ln>
            <a:noFill/>
          </a:ln>
        </p:spPr>
      </p:pic>
      <p:sp>
        <p:nvSpPr>
          <p:cNvPr id="165" name="Google Shape;165;p23"/>
          <p:cNvSpPr txBox="1"/>
          <p:nvPr/>
        </p:nvSpPr>
        <p:spPr>
          <a:xfrm>
            <a:off x="844075" y="424550"/>
            <a:ext cx="56865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Simulation of the previous commands</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nvSpPr>
        <p:spPr>
          <a:xfrm>
            <a:off x="458575" y="706450"/>
            <a:ext cx="3172800" cy="3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PWM generation code</a:t>
            </a:r>
            <a:endParaRPr>
              <a:latin typeface="Lato"/>
              <a:ea typeface="Lato"/>
              <a:cs typeface="Lato"/>
              <a:sym typeface="Lato"/>
            </a:endParaRPr>
          </a:p>
        </p:txBody>
      </p:sp>
      <p:sp>
        <p:nvSpPr>
          <p:cNvPr id="171" name="Google Shape;171;p24"/>
          <p:cNvSpPr txBox="1"/>
          <p:nvPr/>
        </p:nvSpPr>
        <p:spPr>
          <a:xfrm>
            <a:off x="421400" y="1301375"/>
            <a:ext cx="4362600" cy="348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import</a:t>
            </a:r>
            <a:r>
              <a:rPr lang="en" sz="1050">
                <a:highlight>
                  <a:srgbClr val="FFFFFE"/>
                </a:highlight>
                <a:latin typeface="Courier New"/>
                <a:ea typeface="Courier New"/>
                <a:cs typeface="Courier New"/>
                <a:sym typeface="Courier New"/>
              </a:rPr>
              <a:t> matplotlib.pyplot </a:t>
            </a:r>
            <a:r>
              <a:rPr lang="en" sz="1050">
                <a:solidFill>
                  <a:srgbClr val="AF00DB"/>
                </a:solidFill>
                <a:highlight>
                  <a:srgbClr val="FFFFFE"/>
                </a:highlight>
                <a:latin typeface="Courier New"/>
                <a:ea typeface="Courier New"/>
                <a:cs typeface="Courier New"/>
                <a:sym typeface="Courier New"/>
              </a:rPr>
              <a:t>as</a:t>
            </a:r>
            <a:r>
              <a:rPr lang="en" sz="1050">
                <a:highlight>
                  <a:srgbClr val="FFFFFE"/>
                </a:highlight>
                <a:latin typeface="Courier New"/>
                <a:ea typeface="Courier New"/>
                <a:cs typeface="Courier New"/>
                <a:sym typeface="Courier New"/>
              </a:rPr>
              <a:t> plt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###freq=50Hz timeperiod of 1 pwm=20ms  max rpm at ontime=2ms min at ontime=1ms</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 stable idle pwm ontime=1.25ms</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##motor 1,4 in clockwise and 2,3 in anticlockwise</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command=</a:t>
            </a:r>
            <a:r>
              <a:rPr lang="en" sz="1050">
                <a:solidFill>
                  <a:srgbClr val="795E26"/>
                </a:solidFill>
                <a:highlight>
                  <a:srgbClr val="FFFFFE"/>
                </a:highlight>
                <a:latin typeface="Courier New"/>
                <a:ea typeface="Courier New"/>
                <a:cs typeface="Courier New"/>
                <a:sym typeface="Courier New"/>
              </a:rPr>
              <a:t>input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"input the command :"</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command.lower()</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motor1=[]</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motor2=[]</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motor3=[]</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motor4=[]</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time=[]</a:t>
            </a:r>
            <a:endParaRPr sz="1050">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a:latin typeface="Lato"/>
              <a:ea typeface="Lato"/>
              <a:cs typeface="Lato"/>
              <a:sym typeface="Lato"/>
            </a:endParaRPr>
          </a:p>
        </p:txBody>
      </p:sp>
      <p:sp>
        <p:nvSpPr>
          <p:cNvPr id="172" name="Google Shape;172;p24"/>
          <p:cNvSpPr txBox="1"/>
          <p:nvPr/>
        </p:nvSpPr>
        <p:spPr>
          <a:xfrm>
            <a:off x="4784000" y="1295275"/>
            <a:ext cx="2094600" cy="3668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for</a:t>
            </a:r>
            <a:r>
              <a:rPr lang="en" sz="1050">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motor1.append(</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motor2.append(</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motor3.append(</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motor4.append(</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time.append(i)</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if</a:t>
            </a:r>
            <a:r>
              <a:rPr lang="en" sz="1050">
                <a:highlight>
                  <a:srgbClr val="FFFFFE"/>
                </a:highlight>
                <a:latin typeface="Courier New"/>
                <a:ea typeface="Courier New"/>
                <a:cs typeface="Courier New"/>
                <a:sym typeface="Courier New"/>
              </a:rPr>
              <a:t> command==</a:t>
            </a:r>
            <a:r>
              <a:rPr lang="en" sz="1050">
                <a:solidFill>
                  <a:srgbClr val="A31515"/>
                </a:solidFill>
                <a:highlight>
                  <a:srgbClr val="FFFFFE"/>
                </a:highlight>
                <a:latin typeface="Courier New"/>
                <a:ea typeface="Courier New"/>
                <a:cs typeface="Courier New"/>
                <a:sym typeface="Courier New"/>
              </a:rPr>
              <a:t>"up"</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"up"</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for</a:t>
            </a:r>
            <a:r>
              <a:rPr lang="en" sz="1050">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10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cxnSp>
        <p:nvCxnSpPr>
          <p:cNvPr id="173" name="Google Shape;173;p24"/>
          <p:cNvCxnSpPr/>
          <p:nvPr/>
        </p:nvCxnSpPr>
        <p:spPr>
          <a:xfrm>
            <a:off x="4672525" y="1189825"/>
            <a:ext cx="12300" cy="387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idx="1" type="body"/>
          </p:nvPr>
        </p:nvSpPr>
        <p:spPr>
          <a:xfrm>
            <a:off x="334625" y="731250"/>
            <a:ext cx="3755400" cy="4189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elif</a:t>
            </a:r>
            <a:r>
              <a:rPr lang="en" sz="1050">
                <a:solidFill>
                  <a:srgbClr val="000000"/>
                </a:solidFill>
                <a:highlight>
                  <a:srgbClr val="FFFFFE"/>
                </a:highlight>
                <a:latin typeface="Courier New"/>
                <a:ea typeface="Courier New"/>
                <a:cs typeface="Courier New"/>
                <a:sym typeface="Courier New"/>
              </a:rPr>
              <a:t> command==</a:t>
            </a:r>
            <a:r>
              <a:rPr lang="en" sz="1050">
                <a:solidFill>
                  <a:srgbClr val="A31515"/>
                </a:solidFill>
                <a:highlight>
                  <a:srgbClr val="FFFFFE"/>
                </a:highlight>
                <a:latin typeface="Courier New"/>
                <a:ea typeface="Courier New"/>
                <a:cs typeface="Courier New"/>
                <a:sym typeface="Courier New"/>
              </a:rPr>
              <a:t>"down"</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print</a:t>
            </a:r>
            <a:r>
              <a:rPr lang="en" sz="1050">
                <a:solidFill>
                  <a:srgbClr val="000000"/>
                </a:solidFill>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"down"</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for</a:t>
            </a:r>
            <a:r>
              <a:rPr lang="en" sz="1050">
                <a:solidFill>
                  <a:srgbClr val="000000"/>
                </a:solidFill>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solidFill>
                  <a:srgbClr val="000000"/>
                </a:solidFill>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solidFill>
                  <a:srgbClr val="000000"/>
                </a:solidFill>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solidFill>
                  <a:srgbClr val="000000"/>
                </a:solidFill>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if</a:t>
            </a:r>
            <a:r>
              <a:rPr lang="en" sz="1050">
                <a:solidFill>
                  <a:srgbClr val="000000"/>
                </a:solidFill>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3</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else</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0</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0</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0</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0</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elif</a:t>
            </a:r>
            <a:r>
              <a:rPr lang="en" sz="1050">
                <a:solidFill>
                  <a:srgbClr val="000000"/>
                </a:solidFill>
                <a:highlight>
                  <a:srgbClr val="FFFFFE"/>
                </a:highlight>
                <a:latin typeface="Courier New"/>
                <a:ea typeface="Courier New"/>
                <a:cs typeface="Courier New"/>
                <a:sym typeface="Courier New"/>
              </a:rPr>
              <a:t> command==</a:t>
            </a:r>
            <a:r>
              <a:rPr lang="en" sz="1050">
                <a:solidFill>
                  <a:srgbClr val="A31515"/>
                </a:solidFill>
                <a:highlight>
                  <a:srgbClr val="FFFFFE"/>
                </a:highlight>
                <a:latin typeface="Courier New"/>
                <a:ea typeface="Courier New"/>
                <a:cs typeface="Courier New"/>
                <a:sym typeface="Courier New"/>
              </a:rPr>
              <a:t>"left"</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print</a:t>
            </a:r>
            <a:r>
              <a:rPr lang="en" sz="1050">
                <a:solidFill>
                  <a:srgbClr val="000000"/>
                </a:solidFill>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"left"</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for</a:t>
            </a:r>
            <a:r>
              <a:rPr lang="en" sz="1050">
                <a:solidFill>
                  <a:srgbClr val="000000"/>
                </a:solidFill>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solidFill>
                  <a:srgbClr val="000000"/>
                </a:solidFill>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solidFill>
                  <a:srgbClr val="000000"/>
                </a:solidFill>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solidFill>
                  <a:srgbClr val="000000"/>
                </a:solidFill>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solidFill>
                  <a:srgbClr val="000000"/>
                </a:solidFill>
                <a:highlight>
                  <a:srgbClr val="FFFFFE"/>
                </a:highlight>
                <a:latin typeface="Courier New"/>
                <a:ea typeface="Courier New"/>
                <a:cs typeface="Courier New"/>
                <a:sym typeface="Courier New"/>
              </a:rPr>
              <a:t>):</a:t>
            </a:r>
            <a:endParaRPr sz="1050">
              <a:solidFill>
                <a:srgbClr val="000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00"/>
                </a:solidFill>
                <a:highlight>
                  <a:srgbClr val="FFFFFE"/>
                </a:highlight>
                <a:latin typeface="Courier New"/>
                <a:ea typeface="Courier New"/>
                <a:cs typeface="Courier New"/>
                <a:sym typeface="Courier New"/>
              </a:rPr>
              <a:t>       </a:t>
            </a:r>
            <a:endParaRPr sz="1050">
              <a:solidFill>
                <a:srgbClr val="000000"/>
              </a:solidFill>
              <a:highlight>
                <a:srgbClr val="FFFFFE"/>
              </a:highlight>
              <a:latin typeface="Courier New"/>
              <a:ea typeface="Courier New"/>
              <a:cs typeface="Courier New"/>
              <a:sym typeface="Courier New"/>
            </a:endParaRPr>
          </a:p>
        </p:txBody>
      </p:sp>
      <p:sp>
        <p:nvSpPr>
          <p:cNvPr id="179" name="Google Shape;179;p25"/>
          <p:cNvSpPr txBox="1"/>
          <p:nvPr/>
        </p:nvSpPr>
        <p:spPr>
          <a:xfrm>
            <a:off x="4660125" y="700350"/>
            <a:ext cx="4102500" cy="42510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3</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10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command==</a:t>
            </a:r>
            <a:r>
              <a:rPr lang="en" sz="1050">
                <a:solidFill>
                  <a:srgbClr val="A31515"/>
                </a:solidFill>
                <a:highlight>
                  <a:srgbClr val="FFFFFE"/>
                </a:highlight>
                <a:latin typeface="Courier New"/>
                <a:ea typeface="Courier New"/>
                <a:cs typeface="Courier New"/>
                <a:sym typeface="Courier New"/>
              </a:rPr>
              <a:t>"right"</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"right"</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for</a:t>
            </a:r>
            <a:r>
              <a:rPr lang="en" sz="1050">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3</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10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p:txBody>
      </p:sp>
      <p:cxnSp>
        <p:nvCxnSpPr>
          <p:cNvPr id="180" name="Google Shape;180;p25"/>
          <p:cNvCxnSpPr/>
          <p:nvPr/>
        </p:nvCxnSpPr>
        <p:spPr>
          <a:xfrm>
            <a:off x="4213950" y="731250"/>
            <a:ext cx="0" cy="4214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nvSpPr>
        <p:spPr>
          <a:xfrm>
            <a:off x="433775" y="495750"/>
            <a:ext cx="3804900" cy="4412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command==</a:t>
            </a:r>
            <a:r>
              <a:rPr lang="en" sz="1050">
                <a:solidFill>
                  <a:srgbClr val="A31515"/>
                </a:solidFill>
                <a:highlight>
                  <a:srgbClr val="FFFFFE"/>
                </a:highlight>
                <a:latin typeface="Courier New"/>
                <a:ea typeface="Courier New"/>
                <a:cs typeface="Courier New"/>
                <a:sym typeface="Courier New"/>
              </a:rPr>
              <a:t>"clockwise"</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"yaw clockwise"</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for</a:t>
            </a:r>
            <a:r>
              <a:rPr lang="en" sz="1050">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3</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10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command==</a:t>
            </a:r>
            <a:r>
              <a:rPr lang="en" sz="1050">
                <a:solidFill>
                  <a:srgbClr val="A31515"/>
                </a:solidFill>
                <a:highlight>
                  <a:srgbClr val="FFFFFE"/>
                </a:highlight>
                <a:latin typeface="Courier New"/>
                <a:ea typeface="Courier New"/>
                <a:cs typeface="Courier New"/>
                <a:sym typeface="Courier New"/>
              </a:rPr>
              <a:t>"anticlockwise"</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"yaw anti-clockwise"</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endParaRPr>
              <a:latin typeface="Lato"/>
              <a:ea typeface="Lato"/>
              <a:cs typeface="Lato"/>
              <a:sym typeface="Lato"/>
            </a:endParaRPr>
          </a:p>
        </p:txBody>
      </p:sp>
      <p:sp>
        <p:nvSpPr>
          <p:cNvPr id="186" name="Google Shape;186;p26"/>
          <p:cNvSpPr txBox="1"/>
          <p:nvPr/>
        </p:nvSpPr>
        <p:spPr>
          <a:xfrm>
            <a:off x="4684900" y="297450"/>
            <a:ext cx="3904200" cy="47718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AF00DB"/>
                </a:solidFill>
                <a:highlight>
                  <a:srgbClr val="FFFFFE"/>
                </a:highlight>
                <a:latin typeface="Courier New"/>
                <a:ea typeface="Courier New"/>
                <a:cs typeface="Courier New"/>
                <a:sym typeface="Courier New"/>
              </a:rPr>
              <a:t>for</a:t>
            </a:r>
            <a:r>
              <a:rPr lang="en" sz="1050">
                <a:highlight>
                  <a:srgbClr val="FFFFFE"/>
                </a:highlight>
                <a:latin typeface="Courier New"/>
                <a:ea typeface="Courier New"/>
                <a:cs typeface="Courier New"/>
                <a:sym typeface="Courier New"/>
              </a:rPr>
              <a:t> i </a:t>
            </a:r>
            <a:r>
              <a:rPr lang="en" sz="1050">
                <a:solidFill>
                  <a:srgbClr val="0000FF"/>
                </a:solidFill>
                <a:highlight>
                  <a:srgbClr val="FFFFFE"/>
                </a:highlight>
                <a:latin typeface="Courier New"/>
                <a:ea typeface="Courier New"/>
                <a:cs typeface="Courier New"/>
                <a:sym typeface="Courier New"/>
              </a:rPr>
              <a:t>in</a:t>
            </a:r>
            <a:r>
              <a:rPr lang="en" sz="1050">
                <a:highlight>
                  <a:srgbClr val="FFFFFE"/>
                </a:highlight>
                <a:latin typeface="Courier New"/>
                <a:ea typeface="Courier New"/>
                <a:cs typeface="Courier New"/>
                <a:sym typeface="Courier New"/>
              </a:rPr>
              <a:t> </a:t>
            </a:r>
            <a:r>
              <a:rPr lang="en" sz="1050">
                <a:solidFill>
                  <a:srgbClr val="795E26"/>
                </a:solidFill>
                <a:highlight>
                  <a:srgbClr val="FFFFFE"/>
                </a:highlight>
                <a:latin typeface="Courier New"/>
                <a:ea typeface="Courier New"/>
                <a:cs typeface="Courier New"/>
                <a:sym typeface="Courier New"/>
              </a:rPr>
              <a:t>range</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100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3</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motor2[i]=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motor3[i]=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a:t>
            </a:r>
            <a:r>
              <a:rPr lang="en" sz="1050">
                <a:solidFill>
                  <a:srgbClr val="AF00DB"/>
                </a:solidFill>
                <a:highlight>
                  <a:srgbClr val="FFFFFE"/>
                </a:highlight>
                <a:latin typeface="Courier New"/>
                <a:ea typeface="Courier New"/>
                <a:cs typeface="Courier New"/>
                <a:sym typeface="Courier New"/>
              </a:rPr>
              <a:t>elif</a:t>
            </a:r>
            <a:r>
              <a:rPr lang="en" sz="1050">
                <a:highlight>
                  <a:srgbClr val="FFFFFE"/>
                </a:highlight>
                <a:latin typeface="Courier New"/>
                <a:ea typeface="Courier New"/>
                <a:cs typeface="Courier New"/>
                <a:sym typeface="Courier New"/>
              </a:rPr>
              <a:t> i&lt;</a:t>
            </a:r>
            <a:r>
              <a:rPr lang="en" sz="1050">
                <a:solidFill>
                  <a:srgbClr val="09885A"/>
                </a:solidFill>
                <a:highlight>
                  <a:srgbClr val="FFFFFE"/>
                </a:highlight>
                <a:latin typeface="Courier New"/>
                <a:ea typeface="Courier New"/>
                <a:cs typeface="Courier New"/>
                <a:sym typeface="Courier New"/>
              </a:rPr>
              <a:t>10</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motor1[i]=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           motor4[i]=</a:t>
            </a:r>
            <a:r>
              <a:rPr lang="en" sz="1050">
                <a:solidFill>
                  <a:srgbClr val="09885A"/>
                </a:solidFill>
                <a:highlight>
                  <a:srgbClr val="FFFFFE"/>
                </a:highlight>
                <a:latin typeface="Courier New"/>
                <a:ea typeface="Courier New"/>
                <a:cs typeface="Courier New"/>
                <a:sym typeface="Courier New"/>
              </a:rPr>
              <a:t>1</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"motor1:{}"</a:t>
            </a:r>
            <a:r>
              <a:rPr lang="en" sz="1050">
                <a:highlight>
                  <a:srgbClr val="FFFFFE"/>
                </a:highlight>
                <a:latin typeface="Courier New"/>
                <a:ea typeface="Courier New"/>
                <a:cs typeface="Courier New"/>
                <a:sym typeface="Courier New"/>
              </a:rPr>
              <a:t>.</a:t>
            </a:r>
            <a:r>
              <a:rPr lang="en" sz="1050">
                <a:solidFill>
                  <a:srgbClr val="795E26"/>
                </a:solidFill>
                <a:highlight>
                  <a:srgbClr val="FFFFFE"/>
                </a:highlight>
                <a:latin typeface="Courier New"/>
                <a:ea typeface="Courier New"/>
                <a:cs typeface="Courier New"/>
                <a:sym typeface="Courier New"/>
              </a:rPr>
              <a:t>format</a:t>
            </a:r>
            <a:r>
              <a:rPr lang="en" sz="1050">
                <a:highlight>
                  <a:srgbClr val="FFFFFE"/>
                </a:highlight>
                <a:latin typeface="Courier New"/>
                <a:ea typeface="Courier New"/>
                <a:cs typeface="Courier New"/>
                <a:sym typeface="Courier New"/>
              </a:rPr>
              <a:t>(motor1))</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"motor2:{}"</a:t>
            </a:r>
            <a:r>
              <a:rPr lang="en" sz="1050">
                <a:highlight>
                  <a:srgbClr val="FFFFFE"/>
                </a:highlight>
                <a:latin typeface="Courier New"/>
                <a:ea typeface="Courier New"/>
                <a:cs typeface="Courier New"/>
                <a:sym typeface="Courier New"/>
              </a:rPr>
              <a:t>.</a:t>
            </a:r>
            <a:r>
              <a:rPr lang="en" sz="1050">
                <a:solidFill>
                  <a:srgbClr val="795E26"/>
                </a:solidFill>
                <a:highlight>
                  <a:srgbClr val="FFFFFE"/>
                </a:highlight>
                <a:latin typeface="Courier New"/>
                <a:ea typeface="Courier New"/>
                <a:cs typeface="Courier New"/>
                <a:sym typeface="Courier New"/>
              </a:rPr>
              <a:t>format</a:t>
            </a:r>
            <a:r>
              <a:rPr lang="en" sz="1050">
                <a:highlight>
                  <a:srgbClr val="FFFFFE"/>
                </a:highlight>
                <a:latin typeface="Courier New"/>
                <a:ea typeface="Courier New"/>
                <a:cs typeface="Courier New"/>
                <a:sym typeface="Courier New"/>
              </a:rPr>
              <a:t>(motor2))</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"motor3:{}"</a:t>
            </a:r>
            <a:r>
              <a:rPr lang="en" sz="1050">
                <a:highlight>
                  <a:srgbClr val="FFFFFE"/>
                </a:highlight>
                <a:latin typeface="Courier New"/>
                <a:ea typeface="Courier New"/>
                <a:cs typeface="Courier New"/>
                <a:sym typeface="Courier New"/>
              </a:rPr>
              <a:t>.</a:t>
            </a:r>
            <a:r>
              <a:rPr lang="en" sz="1050">
                <a:solidFill>
                  <a:srgbClr val="795E26"/>
                </a:solidFill>
                <a:highlight>
                  <a:srgbClr val="FFFFFE"/>
                </a:highlight>
                <a:latin typeface="Courier New"/>
                <a:ea typeface="Courier New"/>
                <a:cs typeface="Courier New"/>
                <a:sym typeface="Courier New"/>
              </a:rPr>
              <a:t>format</a:t>
            </a:r>
            <a:r>
              <a:rPr lang="en" sz="1050">
                <a:highlight>
                  <a:srgbClr val="FFFFFE"/>
                </a:highlight>
                <a:latin typeface="Courier New"/>
                <a:ea typeface="Courier New"/>
                <a:cs typeface="Courier New"/>
                <a:sym typeface="Courier New"/>
              </a:rPr>
              <a:t>(motor3))</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795E26"/>
                </a:solidFill>
                <a:highlight>
                  <a:srgbClr val="FFFFFE"/>
                </a:highlight>
                <a:latin typeface="Courier New"/>
                <a:ea typeface="Courier New"/>
                <a:cs typeface="Courier New"/>
                <a:sym typeface="Courier New"/>
              </a:rPr>
              <a:t>print</a:t>
            </a:r>
            <a:r>
              <a:rPr lang="en" sz="1050">
                <a:highlight>
                  <a:srgbClr val="FFFFFE"/>
                </a:highlight>
                <a:latin typeface="Courier New"/>
                <a:ea typeface="Courier New"/>
                <a:cs typeface="Courier New"/>
                <a:sym typeface="Courier New"/>
              </a:rPr>
              <a:t>(</a:t>
            </a:r>
            <a:r>
              <a:rPr lang="en" sz="1050">
                <a:solidFill>
                  <a:srgbClr val="A31515"/>
                </a:solidFill>
                <a:highlight>
                  <a:srgbClr val="FFFFFE"/>
                </a:highlight>
                <a:latin typeface="Courier New"/>
                <a:ea typeface="Courier New"/>
                <a:cs typeface="Courier New"/>
                <a:sym typeface="Courier New"/>
              </a:rPr>
              <a:t>"motor4:{}"</a:t>
            </a:r>
            <a:r>
              <a:rPr lang="en" sz="1050">
                <a:highlight>
                  <a:srgbClr val="FFFFFE"/>
                </a:highlight>
                <a:latin typeface="Courier New"/>
                <a:ea typeface="Courier New"/>
                <a:cs typeface="Courier New"/>
                <a:sym typeface="Courier New"/>
              </a:rPr>
              <a:t>.</a:t>
            </a:r>
            <a:r>
              <a:rPr lang="en" sz="1050">
                <a:solidFill>
                  <a:srgbClr val="795E26"/>
                </a:solidFill>
                <a:highlight>
                  <a:srgbClr val="FFFFFE"/>
                </a:highlight>
                <a:latin typeface="Courier New"/>
                <a:ea typeface="Courier New"/>
                <a:cs typeface="Courier New"/>
                <a:sym typeface="Courier New"/>
              </a:rPr>
              <a:t>format</a:t>
            </a:r>
            <a:r>
              <a:rPr lang="en" sz="1050">
                <a:highlight>
                  <a:srgbClr val="FFFFFE"/>
                </a:highlight>
                <a:latin typeface="Courier New"/>
                <a:ea typeface="Courier New"/>
                <a:cs typeface="Courier New"/>
                <a:sym typeface="Courier New"/>
              </a:rPr>
              <a:t>(motor4))</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plt.plot(time, motor1);</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plt.axis([</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20</a:t>
            </a:r>
            <a:r>
              <a:rPr lang="en" sz="1050">
                <a:highlight>
                  <a:srgbClr val="FFFFFE"/>
                </a:highlight>
                <a:latin typeface="Courier New"/>
                <a:ea typeface="Courier New"/>
                <a:cs typeface="Courier New"/>
                <a:sym typeface="Courier New"/>
              </a:rPr>
              <a:t>, </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plt.plot(time, motor2);</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plt.axis([</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20</a:t>
            </a:r>
            <a:r>
              <a:rPr lang="en" sz="1050">
                <a:highlight>
                  <a:srgbClr val="FFFFFE"/>
                </a:highlight>
                <a:latin typeface="Courier New"/>
                <a:ea typeface="Courier New"/>
                <a:cs typeface="Courier New"/>
                <a:sym typeface="Courier New"/>
              </a:rPr>
              <a:t>, </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plt.plot(time, motor3);</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plt.axis([</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20</a:t>
            </a:r>
            <a:r>
              <a:rPr lang="en" sz="1050">
                <a:highlight>
                  <a:srgbClr val="FFFFFE"/>
                </a:highlight>
                <a:latin typeface="Courier New"/>
                <a:ea typeface="Courier New"/>
                <a:cs typeface="Courier New"/>
                <a:sym typeface="Courier New"/>
              </a:rPr>
              <a:t>, </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plt.plot(time, motor4);</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highlight>
                  <a:srgbClr val="FFFFFE"/>
                </a:highlight>
                <a:latin typeface="Courier New"/>
                <a:ea typeface="Courier New"/>
                <a:cs typeface="Courier New"/>
                <a:sym typeface="Courier New"/>
              </a:rPr>
              <a:t>plt.axis([</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20</a:t>
            </a:r>
            <a:r>
              <a:rPr lang="en" sz="1050">
                <a:highlight>
                  <a:srgbClr val="FFFFFE"/>
                </a:highlight>
                <a:latin typeface="Courier New"/>
                <a:ea typeface="Courier New"/>
                <a:cs typeface="Courier New"/>
                <a:sym typeface="Courier New"/>
              </a:rPr>
              <a:t>, </a:t>
            </a:r>
            <a:r>
              <a:rPr lang="en" sz="1050">
                <a:solidFill>
                  <a:srgbClr val="09885A"/>
                </a:solidFill>
                <a:highlight>
                  <a:srgbClr val="FFFFFE"/>
                </a:highlight>
                <a:latin typeface="Courier New"/>
                <a:ea typeface="Courier New"/>
                <a:cs typeface="Courier New"/>
                <a:sym typeface="Courier New"/>
              </a:rPr>
              <a:t>0</a:t>
            </a:r>
            <a:r>
              <a:rPr lang="en" sz="1050">
                <a:highlight>
                  <a:srgbClr val="FFFFFE"/>
                </a:highlight>
                <a:latin typeface="Courier New"/>
                <a:ea typeface="Courier New"/>
                <a:cs typeface="Courier New"/>
                <a:sym typeface="Courier New"/>
              </a:rPr>
              <a:t>,</a:t>
            </a:r>
            <a:r>
              <a:rPr lang="en" sz="1050">
                <a:solidFill>
                  <a:srgbClr val="09885A"/>
                </a:solidFill>
                <a:highlight>
                  <a:srgbClr val="FFFFFE"/>
                </a:highlight>
                <a:latin typeface="Courier New"/>
                <a:ea typeface="Courier New"/>
                <a:cs typeface="Courier New"/>
                <a:sym typeface="Courier New"/>
              </a:rPr>
              <a:t>2</a:t>
            </a:r>
            <a:r>
              <a:rPr lang="en" sz="1050">
                <a:highlight>
                  <a:srgbClr val="FFFFFE"/>
                </a:highlight>
                <a:latin typeface="Courier New"/>
                <a:ea typeface="Courier New"/>
                <a:cs typeface="Courier New"/>
                <a:sym typeface="Courier New"/>
              </a:rPr>
              <a:t>])</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a:latin typeface="Lato"/>
              <a:ea typeface="Lato"/>
              <a:cs typeface="Lato"/>
              <a:sym typeface="Lato"/>
            </a:endParaRPr>
          </a:p>
        </p:txBody>
      </p:sp>
      <p:cxnSp>
        <p:nvCxnSpPr>
          <p:cNvPr id="187" name="Google Shape;187;p26"/>
          <p:cNvCxnSpPr/>
          <p:nvPr/>
        </p:nvCxnSpPr>
        <p:spPr>
          <a:xfrm>
            <a:off x="4313100" y="520550"/>
            <a:ext cx="0" cy="4338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27"/>
          <p:cNvPicPr preferRelativeResize="0"/>
          <p:nvPr/>
        </p:nvPicPr>
        <p:blipFill>
          <a:blip r:embed="rId3">
            <a:alphaModFix/>
          </a:blip>
          <a:stretch>
            <a:fillRect/>
          </a:stretch>
        </p:blipFill>
        <p:spPr>
          <a:xfrm>
            <a:off x="4286700" y="638546"/>
            <a:ext cx="3091550" cy="2028829"/>
          </a:xfrm>
          <a:prstGeom prst="rect">
            <a:avLst/>
          </a:prstGeom>
          <a:noFill/>
          <a:ln>
            <a:noFill/>
          </a:ln>
        </p:spPr>
      </p:pic>
      <p:pic>
        <p:nvPicPr>
          <p:cNvPr id="193" name="Google Shape;193;p27"/>
          <p:cNvPicPr preferRelativeResize="0"/>
          <p:nvPr/>
        </p:nvPicPr>
        <p:blipFill>
          <a:blip r:embed="rId3">
            <a:alphaModFix/>
          </a:blip>
          <a:stretch>
            <a:fillRect/>
          </a:stretch>
        </p:blipFill>
        <p:spPr>
          <a:xfrm>
            <a:off x="537450" y="2952850"/>
            <a:ext cx="3091550" cy="2028836"/>
          </a:xfrm>
          <a:prstGeom prst="rect">
            <a:avLst/>
          </a:prstGeom>
          <a:noFill/>
          <a:ln>
            <a:noFill/>
          </a:ln>
        </p:spPr>
      </p:pic>
      <p:pic>
        <p:nvPicPr>
          <p:cNvPr id="194" name="Google Shape;194;p27"/>
          <p:cNvPicPr preferRelativeResize="0"/>
          <p:nvPr/>
        </p:nvPicPr>
        <p:blipFill>
          <a:blip r:embed="rId4">
            <a:alphaModFix/>
          </a:blip>
          <a:stretch>
            <a:fillRect/>
          </a:stretch>
        </p:blipFill>
        <p:spPr>
          <a:xfrm>
            <a:off x="502100" y="592150"/>
            <a:ext cx="3162248" cy="2075225"/>
          </a:xfrm>
          <a:prstGeom prst="rect">
            <a:avLst/>
          </a:prstGeom>
          <a:noFill/>
          <a:ln>
            <a:noFill/>
          </a:ln>
        </p:spPr>
      </p:pic>
      <p:pic>
        <p:nvPicPr>
          <p:cNvPr id="195" name="Google Shape;195;p27"/>
          <p:cNvPicPr preferRelativeResize="0"/>
          <p:nvPr/>
        </p:nvPicPr>
        <p:blipFill>
          <a:blip r:embed="rId4">
            <a:alphaModFix/>
          </a:blip>
          <a:stretch>
            <a:fillRect/>
          </a:stretch>
        </p:blipFill>
        <p:spPr>
          <a:xfrm>
            <a:off x="4346600" y="2929663"/>
            <a:ext cx="3162250" cy="2075209"/>
          </a:xfrm>
          <a:prstGeom prst="rect">
            <a:avLst/>
          </a:prstGeom>
          <a:noFill/>
          <a:ln>
            <a:noFill/>
          </a:ln>
        </p:spPr>
      </p:pic>
      <p:sp>
        <p:nvSpPr>
          <p:cNvPr id="196" name="Google Shape;196;p27"/>
          <p:cNvSpPr txBox="1"/>
          <p:nvPr/>
        </p:nvSpPr>
        <p:spPr>
          <a:xfrm>
            <a:off x="838200" y="352500"/>
            <a:ext cx="971400" cy="14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Motor 1</a:t>
            </a:r>
            <a:endParaRPr>
              <a:latin typeface="Lato"/>
              <a:ea typeface="Lato"/>
              <a:cs typeface="Lato"/>
              <a:sym typeface="Lato"/>
            </a:endParaRPr>
          </a:p>
        </p:txBody>
      </p:sp>
      <p:sp>
        <p:nvSpPr>
          <p:cNvPr id="197" name="Google Shape;197;p27"/>
          <p:cNvSpPr txBox="1"/>
          <p:nvPr/>
        </p:nvSpPr>
        <p:spPr>
          <a:xfrm>
            <a:off x="838200" y="2667375"/>
            <a:ext cx="9714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Motor 3</a:t>
            </a:r>
            <a:endParaRPr/>
          </a:p>
        </p:txBody>
      </p:sp>
      <p:sp>
        <p:nvSpPr>
          <p:cNvPr id="198" name="Google Shape;198;p27"/>
          <p:cNvSpPr txBox="1"/>
          <p:nvPr/>
        </p:nvSpPr>
        <p:spPr>
          <a:xfrm>
            <a:off x="4476850" y="352500"/>
            <a:ext cx="11049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Motor 2</a:t>
            </a:r>
            <a:endParaRPr/>
          </a:p>
        </p:txBody>
      </p:sp>
      <p:sp>
        <p:nvSpPr>
          <p:cNvPr id="199" name="Google Shape;199;p27"/>
          <p:cNvSpPr txBox="1"/>
          <p:nvPr/>
        </p:nvSpPr>
        <p:spPr>
          <a:xfrm>
            <a:off x="4476850" y="2667375"/>
            <a:ext cx="9714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Motor 4</a:t>
            </a:r>
            <a:endParaRPr/>
          </a:p>
        </p:txBody>
      </p:sp>
      <p:sp>
        <p:nvSpPr>
          <p:cNvPr id="200" name="Google Shape;200;p27"/>
          <p:cNvSpPr txBox="1"/>
          <p:nvPr/>
        </p:nvSpPr>
        <p:spPr>
          <a:xfrm>
            <a:off x="7629525" y="4191000"/>
            <a:ext cx="1343100" cy="7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Lato"/>
                <a:ea typeface="Lato"/>
                <a:cs typeface="Lato"/>
                <a:sym typeface="Lato"/>
              </a:rPr>
              <a:t>In graph:</a:t>
            </a:r>
            <a:endParaRPr sz="1100">
              <a:latin typeface="Lato"/>
              <a:ea typeface="Lato"/>
              <a:cs typeface="Lato"/>
              <a:sym typeface="Lato"/>
            </a:endParaRPr>
          </a:p>
          <a:p>
            <a:pPr indent="0" lvl="0" marL="0" rtl="0" algn="l">
              <a:spcBef>
                <a:spcPts val="0"/>
              </a:spcBef>
              <a:spcAft>
                <a:spcPts val="0"/>
              </a:spcAft>
              <a:buNone/>
            </a:pPr>
            <a:r>
              <a:rPr lang="en" sz="1100">
                <a:latin typeface="Lato"/>
                <a:ea typeface="Lato"/>
                <a:cs typeface="Lato"/>
                <a:sym typeface="Lato"/>
              </a:rPr>
              <a:t>X-axis=</a:t>
            </a:r>
            <a:r>
              <a:rPr lang="en" sz="1100">
                <a:latin typeface="Lato"/>
                <a:ea typeface="Lato"/>
                <a:cs typeface="Lato"/>
                <a:sym typeface="Lato"/>
              </a:rPr>
              <a:t>time(T)</a:t>
            </a:r>
            <a:endParaRPr sz="1100">
              <a:latin typeface="Lato"/>
              <a:ea typeface="Lato"/>
              <a:cs typeface="Lato"/>
              <a:sym typeface="Lato"/>
            </a:endParaRPr>
          </a:p>
          <a:p>
            <a:pPr indent="0" lvl="0" marL="0" rtl="0" algn="l">
              <a:spcBef>
                <a:spcPts val="0"/>
              </a:spcBef>
              <a:spcAft>
                <a:spcPts val="0"/>
              </a:spcAft>
              <a:buNone/>
            </a:pPr>
            <a:r>
              <a:rPr lang="en" sz="1100">
                <a:latin typeface="Lato"/>
                <a:ea typeface="Lato"/>
                <a:cs typeface="Lato"/>
                <a:sym typeface="Lato"/>
              </a:rPr>
              <a:t>Y-axis=</a:t>
            </a:r>
            <a:r>
              <a:rPr lang="en" sz="1100">
                <a:latin typeface="Lato"/>
                <a:ea typeface="Lato"/>
                <a:cs typeface="Lato"/>
                <a:sym typeface="Lato"/>
              </a:rPr>
              <a:t>Voltage(V)</a:t>
            </a:r>
            <a:endParaRPr sz="1100">
              <a:latin typeface="Lato"/>
              <a:ea typeface="Lato"/>
              <a:cs typeface="Lato"/>
              <a:sym typeface="Lato"/>
            </a:endParaRPr>
          </a:p>
        </p:txBody>
      </p:sp>
      <p:sp>
        <p:nvSpPr>
          <p:cNvPr id="201" name="Google Shape;201;p27"/>
          <p:cNvSpPr txBox="1"/>
          <p:nvPr/>
        </p:nvSpPr>
        <p:spPr>
          <a:xfrm>
            <a:off x="619125" y="109475"/>
            <a:ext cx="4229100" cy="3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PWM Generated with code for anticlockwise yaw</a:t>
            </a:r>
            <a:endParaRPr b="1">
              <a:latin typeface="Lato"/>
              <a:ea typeface="Lato"/>
              <a:cs typeface="Lato"/>
              <a:sym typeface="Lato"/>
            </a:endParaRPr>
          </a:p>
        </p:txBody>
      </p:sp>
      <p:sp>
        <p:nvSpPr>
          <p:cNvPr id="202" name="Google Shape;202;p27"/>
          <p:cNvSpPr txBox="1"/>
          <p:nvPr/>
        </p:nvSpPr>
        <p:spPr>
          <a:xfrm>
            <a:off x="7423125" y="3038475"/>
            <a:ext cx="1914600" cy="11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Direction of rotation:</a:t>
            </a:r>
            <a:endParaRPr sz="1200">
              <a:latin typeface="Lato"/>
              <a:ea typeface="Lato"/>
              <a:cs typeface="Lato"/>
              <a:sym typeface="Lato"/>
            </a:endParaRPr>
          </a:p>
          <a:p>
            <a:pPr indent="0" lvl="0" marL="0" rtl="0" algn="l">
              <a:spcBef>
                <a:spcPts val="0"/>
              </a:spcBef>
              <a:spcAft>
                <a:spcPts val="0"/>
              </a:spcAft>
              <a:buNone/>
            </a:pPr>
            <a:r>
              <a:rPr lang="en" sz="1200">
                <a:latin typeface="Lato"/>
                <a:ea typeface="Lato"/>
                <a:cs typeface="Lato"/>
                <a:sym typeface="Lato"/>
              </a:rPr>
              <a:t>Motor 1 </a:t>
            </a:r>
            <a:r>
              <a:rPr lang="en" sz="1200">
                <a:latin typeface="Lato"/>
                <a:ea typeface="Lato"/>
                <a:cs typeface="Lato"/>
                <a:sym typeface="Lato"/>
              </a:rPr>
              <a:t>&amp;</a:t>
            </a:r>
            <a:r>
              <a:rPr lang="en" sz="1200">
                <a:latin typeface="Lato"/>
                <a:ea typeface="Lato"/>
                <a:cs typeface="Lato"/>
                <a:sym typeface="Lato"/>
              </a:rPr>
              <a:t> Motor 4 in clockwise direction</a:t>
            </a:r>
            <a:endParaRPr sz="1200">
              <a:latin typeface="Lato"/>
              <a:ea typeface="Lato"/>
              <a:cs typeface="Lato"/>
              <a:sym typeface="Lato"/>
            </a:endParaRPr>
          </a:p>
          <a:p>
            <a:pPr indent="0" lvl="0" marL="0" rtl="0" algn="l">
              <a:spcBef>
                <a:spcPts val="0"/>
              </a:spcBef>
              <a:spcAft>
                <a:spcPts val="0"/>
              </a:spcAft>
              <a:buNone/>
            </a:pPr>
            <a:r>
              <a:rPr lang="en" sz="1200">
                <a:latin typeface="Lato"/>
                <a:ea typeface="Lato"/>
                <a:cs typeface="Lato"/>
                <a:sym typeface="Lato"/>
              </a:rPr>
              <a:t>Motor 2 &amp; Motor 3 in anti-clockwise direction</a:t>
            </a:r>
            <a:endParaRPr sz="1200">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510450" y="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 plan</a:t>
            </a:r>
            <a:endParaRPr/>
          </a:p>
        </p:txBody>
      </p:sp>
      <p:sp>
        <p:nvSpPr>
          <p:cNvPr id="208" name="Google Shape;208;p28"/>
          <p:cNvSpPr txBox="1"/>
          <p:nvPr>
            <p:ph idx="1" type="body"/>
          </p:nvPr>
        </p:nvSpPr>
        <p:spPr>
          <a:xfrm>
            <a:off x="727650" y="1132350"/>
            <a:ext cx="7688700" cy="371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Arial"/>
              <a:ea typeface="Arial"/>
              <a:cs typeface="Arial"/>
              <a:sym typeface="Arial"/>
            </a:endParaRPr>
          </a:p>
          <a:p>
            <a:pPr indent="0" lvl="0" marL="0" rtl="0" algn="l">
              <a:spcBef>
                <a:spcPts val="1600"/>
              </a:spcBef>
              <a:spcAft>
                <a:spcPts val="1600"/>
              </a:spcAft>
              <a:buNone/>
            </a:pPr>
            <a:r>
              <a:t/>
            </a:r>
            <a:endParaRPr>
              <a:latin typeface="Arial"/>
              <a:ea typeface="Arial"/>
              <a:cs typeface="Arial"/>
              <a:sym typeface="Arial"/>
            </a:endParaRPr>
          </a:p>
        </p:txBody>
      </p:sp>
      <p:graphicFrame>
        <p:nvGraphicFramePr>
          <p:cNvPr id="209" name="Google Shape;209;p28"/>
          <p:cNvGraphicFramePr/>
          <p:nvPr/>
        </p:nvGraphicFramePr>
        <p:xfrm>
          <a:off x="735300" y="648513"/>
          <a:ext cx="3000000" cy="3000000"/>
        </p:xfrm>
        <a:graphic>
          <a:graphicData uri="http://schemas.openxmlformats.org/drawingml/2006/table">
            <a:tbl>
              <a:tblPr>
                <a:noFill/>
                <a:tableStyleId>{65DBEEBC-0381-47E2-8A9E-798B04C1E166}</a:tableStyleId>
              </a:tblPr>
              <a:tblGrid>
                <a:gridCol w="2010300"/>
                <a:gridCol w="5228700"/>
              </a:tblGrid>
              <a:tr h="603950">
                <a:tc>
                  <a:txBody>
                    <a:bodyPr/>
                    <a:lstStyle/>
                    <a:p>
                      <a:pPr indent="0" lvl="0" marL="0" rtl="0" algn="l">
                        <a:spcBef>
                          <a:spcPts val="0"/>
                        </a:spcBef>
                        <a:spcAft>
                          <a:spcPts val="0"/>
                        </a:spcAft>
                        <a:buNone/>
                      </a:pPr>
                      <a:r>
                        <a:rPr lang="en" sz="1300"/>
                        <a:t>December 2020</a:t>
                      </a:r>
                      <a:endParaRPr sz="1300"/>
                    </a:p>
                  </a:txBody>
                  <a:tcPr marT="91425" marB="91425" marR="91425" marL="91425"/>
                </a:tc>
                <a:tc>
                  <a:txBody>
                    <a:bodyPr/>
                    <a:lstStyle/>
                    <a:p>
                      <a:pPr indent="0" lvl="0" marL="0" rtl="0" algn="l">
                        <a:spcBef>
                          <a:spcPts val="0"/>
                        </a:spcBef>
                        <a:spcAft>
                          <a:spcPts val="0"/>
                        </a:spcAft>
                        <a:buNone/>
                      </a:pPr>
                      <a:r>
                        <a:rPr lang="en"/>
                        <a:t>Controlling the motor output with respect to the given movement commands.</a:t>
                      </a:r>
                      <a:endParaRPr/>
                    </a:p>
                  </a:txBody>
                  <a:tcPr marT="91425" marB="91425" marR="91425" marL="91425"/>
                </a:tc>
              </a:tr>
              <a:tr h="403450">
                <a:tc>
                  <a:txBody>
                    <a:bodyPr/>
                    <a:lstStyle/>
                    <a:p>
                      <a:pPr indent="0" lvl="0" marL="0" rtl="0" algn="l">
                        <a:spcBef>
                          <a:spcPts val="0"/>
                        </a:spcBef>
                        <a:spcAft>
                          <a:spcPts val="0"/>
                        </a:spcAft>
                        <a:buNone/>
                      </a:pPr>
                      <a:r>
                        <a:rPr lang="en"/>
                        <a:t>January 2021</a:t>
                      </a:r>
                      <a:endParaRPr/>
                    </a:p>
                  </a:txBody>
                  <a:tcPr marT="91425" marB="91425" marR="91425" marL="91425"/>
                </a:tc>
                <a:tc>
                  <a:txBody>
                    <a:bodyPr/>
                    <a:lstStyle/>
                    <a:p>
                      <a:pPr indent="0" lvl="0" marL="0" rtl="0" algn="just">
                        <a:lnSpc>
                          <a:spcPct val="115000"/>
                        </a:lnSpc>
                        <a:spcBef>
                          <a:spcPts val="0"/>
                        </a:spcBef>
                        <a:spcAft>
                          <a:spcPts val="1600"/>
                        </a:spcAft>
                        <a:buNone/>
                      </a:pPr>
                      <a:r>
                        <a:rPr lang="en">
                          <a:highlight>
                            <a:schemeClr val="lt1"/>
                          </a:highlight>
                        </a:rPr>
                        <a:t>Localisation with respect to global frame.</a:t>
                      </a:r>
                      <a:endParaRPr sz="900"/>
                    </a:p>
                  </a:txBody>
                  <a:tcPr marT="91425" marB="91425" marR="91425" marL="91425"/>
                </a:tc>
              </a:tr>
              <a:tr h="603950">
                <a:tc>
                  <a:txBody>
                    <a:bodyPr/>
                    <a:lstStyle/>
                    <a:p>
                      <a:pPr indent="0" lvl="0" marL="0" rtl="0" algn="l">
                        <a:spcBef>
                          <a:spcPts val="0"/>
                        </a:spcBef>
                        <a:spcAft>
                          <a:spcPts val="0"/>
                        </a:spcAft>
                        <a:buNone/>
                      </a:pPr>
                      <a:r>
                        <a:rPr lang="en"/>
                        <a:t>February 2021</a:t>
                      </a:r>
                      <a:endParaRPr/>
                    </a:p>
                  </a:txBody>
                  <a:tcPr marT="91425" marB="91425" marR="91425" marL="91425"/>
                </a:tc>
                <a:tc>
                  <a:txBody>
                    <a:bodyPr/>
                    <a:lstStyle/>
                    <a:p>
                      <a:pPr indent="0" lvl="0" marL="0" rtl="0" algn="just">
                        <a:lnSpc>
                          <a:spcPct val="115000"/>
                        </a:lnSpc>
                        <a:spcBef>
                          <a:spcPts val="0"/>
                        </a:spcBef>
                        <a:spcAft>
                          <a:spcPts val="1600"/>
                        </a:spcAft>
                        <a:buNone/>
                      </a:pPr>
                      <a:r>
                        <a:rPr lang="en">
                          <a:highlight>
                            <a:schemeClr val="lt1"/>
                          </a:highlight>
                        </a:rPr>
                        <a:t>Code the drone for tracking of the localised region in frame of interest.</a:t>
                      </a:r>
                      <a:endParaRPr sz="900"/>
                    </a:p>
                  </a:txBody>
                  <a:tcPr marT="91425" marB="91425" marR="91425" marL="91425"/>
                </a:tc>
              </a:tr>
              <a:tr h="603950">
                <a:tc>
                  <a:txBody>
                    <a:bodyPr/>
                    <a:lstStyle/>
                    <a:p>
                      <a:pPr indent="0" lvl="0" marL="0" rtl="0" algn="l">
                        <a:spcBef>
                          <a:spcPts val="0"/>
                        </a:spcBef>
                        <a:spcAft>
                          <a:spcPts val="0"/>
                        </a:spcAft>
                        <a:buNone/>
                      </a:pPr>
                      <a:r>
                        <a:rPr lang="en"/>
                        <a:t>March 2021</a:t>
                      </a:r>
                      <a:endParaRPr/>
                    </a:p>
                  </a:txBody>
                  <a:tcPr marT="91425" marB="91425" marR="91425" marL="91425"/>
                </a:tc>
                <a:tc>
                  <a:txBody>
                    <a:bodyPr/>
                    <a:lstStyle/>
                    <a:p>
                      <a:pPr indent="0" lvl="0" marL="0" rtl="0" algn="l">
                        <a:spcBef>
                          <a:spcPts val="0"/>
                        </a:spcBef>
                        <a:spcAft>
                          <a:spcPts val="0"/>
                        </a:spcAft>
                        <a:buNone/>
                      </a:pPr>
                      <a:r>
                        <a:rPr lang="en"/>
                        <a:t>Finding the required landing pad by scanning the area.</a:t>
                      </a:r>
                      <a:endParaRPr/>
                    </a:p>
                  </a:txBody>
                  <a:tcPr marT="91425" marB="91425" marR="91425" marL="91425"/>
                </a:tc>
              </a:tr>
              <a:tr h="603950">
                <a:tc>
                  <a:txBody>
                    <a:bodyPr/>
                    <a:lstStyle/>
                    <a:p>
                      <a:pPr indent="0" lvl="0" marL="0" rtl="0" algn="l">
                        <a:spcBef>
                          <a:spcPts val="0"/>
                        </a:spcBef>
                        <a:spcAft>
                          <a:spcPts val="0"/>
                        </a:spcAft>
                        <a:buNone/>
                      </a:pPr>
                      <a:r>
                        <a:rPr lang="en"/>
                        <a:t>April 2021</a:t>
                      </a:r>
                      <a:endParaRPr/>
                    </a:p>
                  </a:txBody>
                  <a:tcPr marT="91425" marB="91425" marR="91425" marL="91425"/>
                </a:tc>
                <a:tc>
                  <a:txBody>
                    <a:bodyPr/>
                    <a:lstStyle/>
                    <a:p>
                      <a:pPr indent="0" lvl="0" marL="0" rtl="0" algn="just">
                        <a:lnSpc>
                          <a:spcPct val="115000"/>
                        </a:lnSpc>
                        <a:spcBef>
                          <a:spcPts val="0"/>
                        </a:spcBef>
                        <a:spcAft>
                          <a:spcPts val="1600"/>
                        </a:spcAft>
                        <a:buNone/>
                      </a:pPr>
                      <a:r>
                        <a:rPr lang="en">
                          <a:highlight>
                            <a:schemeClr val="lt1"/>
                          </a:highlight>
                        </a:rPr>
                        <a:t>Attain all of the above mentioned steps without third party intervention(autonomous nature).</a:t>
                      </a:r>
                      <a:endParaRPr sz="900"/>
                    </a:p>
                  </a:txBody>
                  <a:tcPr marT="91425" marB="91425" marR="91425" marL="91425"/>
                </a:tc>
              </a:tr>
              <a:tr h="603950">
                <a:tc>
                  <a:txBody>
                    <a:bodyPr/>
                    <a:lstStyle/>
                    <a:p>
                      <a:pPr indent="0" lvl="0" marL="0" rtl="0" algn="l">
                        <a:spcBef>
                          <a:spcPts val="0"/>
                        </a:spcBef>
                        <a:spcAft>
                          <a:spcPts val="0"/>
                        </a:spcAft>
                        <a:buNone/>
                      </a:pPr>
                      <a:r>
                        <a:rPr lang="en"/>
                        <a:t>May 2021</a:t>
                      </a:r>
                      <a:endParaRPr/>
                    </a:p>
                  </a:txBody>
                  <a:tcPr marT="91425" marB="91425" marR="91425" marL="91425"/>
                </a:tc>
                <a:tc>
                  <a:txBody>
                    <a:bodyPr/>
                    <a:lstStyle/>
                    <a:p>
                      <a:pPr indent="0" lvl="0" marL="0" rtl="0" algn="l">
                        <a:spcBef>
                          <a:spcPts val="0"/>
                        </a:spcBef>
                        <a:spcAft>
                          <a:spcPts val="0"/>
                        </a:spcAft>
                        <a:buNone/>
                      </a:pPr>
                      <a:r>
                        <a:rPr lang="en"/>
                        <a:t>Completing the simulation clearing all the faults in the above stages.</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a:t>
            </a:r>
            <a:endParaRPr/>
          </a:p>
        </p:txBody>
      </p:sp>
      <p:sp>
        <p:nvSpPr>
          <p:cNvPr id="215" name="Google Shape;215;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We intend to create a robust modular approach for tackling the autonomous UAV landing procedure by which it would be great advantages in various fields such as UAV landing in ships, UAV landing in remote charging pods for long distance coverage course and much more.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482625" y="568625"/>
            <a:ext cx="7688700" cy="53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Reference </a:t>
            </a:r>
            <a:endParaRPr sz="1800"/>
          </a:p>
        </p:txBody>
      </p:sp>
      <p:sp>
        <p:nvSpPr>
          <p:cNvPr id="221" name="Google Shape;221;p30"/>
          <p:cNvSpPr txBox="1"/>
          <p:nvPr>
            <p:ph idx="1" type="body"/>
          </p:nvPr>
        </p:nvSpPr>
        <p:spPr>
          <a:xfrm>
            <a:off x="601100" y="1441200"/>
            <a:ext cx="7688700" cy="3198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rgbClr val="000000"/>
                </a:solidFill>
                <a:latin typeface="Arial"/>
                <a:ea typeface="Arial"/>
                <a:cs typeface="Arial"/>
                <a:sym typeface="Arial"/>
              </a:rPr>
              <a:t> </a:t>
            </a:r>
            <a:r>
              <a:rPr b="1" lang="en" sz="1000">
                <a:solidFill>
                  <a:srgbClr val="000000"/>
                </a:solidFill>
                <a:latin typeface="Arial"/>
                <a:ea typeface="Arial"/>
                <a:cs typeface="Arial"/>
                <a:sym typeface="Arial"/>
              </a:rPr>
              <a:t>[1]</a:t>
            </a:r>
            <a:r>
              <a:rPr b="1" lang="en" sz="1200">
                <a:solidFill>
                  <a:srgbClr val="000000"/>
                </a:solidFill>
                <a:latin typeface="Arial"/>
                <a:ea typeface="Arial"/>
                <a:cs typeface="Arial"/>
                <a:sym typeface="Arial"/>
              </a:rPr>
              <a:t>Recognition system for QR Code on Moving Car</a:t>
            </a:r>
            <a:r>
              <a:rPr lang="en" sz="700">
                <a:solidFill>
                  <a:srgbClr val="000000"/>
                </a:solidFill>
                <a:latin typeface="Arial"/>
                <a:ea typeface="Arial"/>
                <a:cs typeface="Arial"/>
                <a:sym typeface="Arial"/>
              </a:rPr>
              <a:t> , </a:t>
            </a:r>
            <a:endParaRPr sz="7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700">
                <a:solidFill>
                  <a:srgbClr val="000000"/>
                </a:solidFill>
                <a:latin typeface="Arial"/>
                <a:ea typeface="Arial"/>
                <a:cs typeface="Arial"/>
                <a:sym typeface="Arial"/>
              </a:rPr>
              <a:t>        The 10th international conference on computer science and education, (ICCSE 2015) cambridge  university, UK</a:t>
            </a:r>
            <a:endParaRPr sz="700">
              <a:solidFill>
                <a:srgbClr val="000000"/>
              </a:solidFill>
              <a:latin typeface="Arial"/>
              <a:ea typeface="Arial"/>
              <a:cs typeface="Arial"/>
              <a:sym typeface="Arial"/>
            </a:endParaRPr>
          </a:p>
          <a:p>
            <a:pPr indent="0" lvl="0" marL="457200" rtl="0" algn="l">
              <a:lnSpc>
                <a:spcPct val="100000"/>
              </a:lnSpc>
              <a:spcBef>
                <a:spcPts val="0"/>
              </a:spcBef>
              <a:spcAft>
                <a:spcPts val="0"/>
              </a:spcAft>
              <a:buNone/>
            </a:pPr>
            <a:r>
              <a:t/>
            </a:r>
            <a:endParaRPr sz="7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 sz="1200">
                <a:solidFill>
                  <a:schemeClr val="dk2"/>
                </a:solidFill>
                <a:latin typeface="Raleway"/>
                <a:ea typeface="Raleway"/>
                <a:cs typeface="Raleway"/>
                <a:sym typeface="Raleway"/>
              </a:rPr>
              <a:t>[2]Development of a Human-Tracking Robot Using QR Code Recognition</a:t>
            </a:r>
            <a:endParaRPr b="1" sz="1200">
              <a:solidFill>
                <a:schemeClr val="dk2"/>
              </a:solidFill>
              <a:latin typeface="Raleway"/>
              <a:ea typeface="Raleway"/>
              <a:cs typeface="Raleway"/>
              <a:sym typeface="Raleway"/>
            </a:endParaRPr>
          </a:p>
          <a:p>
            <a:pPr indent="0" lvl="0" marL="457200" rtl="0" algn="l">
              <a:lnSpc>
                <a:spcPct val="100000"/>
              </a:lnSpc>
              <a:spcBef>
                <a:spcPts val="0"/>
              </a:spcBef>
              <a:spcAft>
                <a:spcPts val="0"/>
              </a:spcAft>
              <a:buNone/>
            </a:pPr>
            <a:r>
              <a:rPr b="1" lang="en" sz="800">
                <a:solidFill>
                  <a:schemeClr val="dk2"/>
                </a:solidFill>
                <a:latin typeface="Raleway"/>
                <a:ea typeface="Raleway"/>
                <a:cs typeface="Raleway"/>
                <a:sym typeface="Raleway"/>
              </a:rPr>
              <a:t> </a:t>
            </a:r>
            <a:r>
              <a:rPr b="1" lang="en" sz="700">
                <a:solidFill>
                  <a:schemeClr val="dk2"/>
                </a:solidFill>
                <a:latin typeface="Raleway"/>
                <a:ea typeface="Raleway"/>
                <a:cs typeface="Raleway"/>
                <a:sym typeface="Raleway"/>
              </a:rPr>
              <a:t>Takashi Anezaki* ,Koki Eimon* ,Suriyon Tansuriyavong* ,Yasushi Yagi**</a:t>
            </a:r>
            <a:endParaRPr b="1" sz="700">
              <a:solidFill>
                <a:schemeClr val="dk2"/>
              </a:solidFill>
              <a:latin typeface="Raleway"/>
              <a:ea typeface="Raleway"/>
              <a:cs typeface="Raleway"/>
              <a:sym typeface="Raleway"/>
            </a:endParaRPr>
          </a:p>
          <a:p>
            <a:pPr indent="0" lvl="0" marL="457200" rtl="0" algn="l">
              <a:lnSpc>
                <a:spcPct val="100000"/>
              </a:lnSpc>
              <a:spcBef>
                <a:spcPts val="0"/>
              </a:spcBef>
              <a:spcAft>
                <a:spcPts val="0"/>
              </a:spcAft>
              <a:buNone/>
            </a:pPr>
            <a:r>
              <a:t/>
            </a:r>
            <a:endParaRPr b="1" sz="700">
              <a:solidFill>
                <a:schemeClr val="dk2"/>
              </a:solidFill>
              <a:latin typeface="Raleway"/>
              <a:ea typeface="Raleway"/>
              <a:cs typeface="Raleway"/>
              <a:sym typeface="Raleway"/>
            </a:endParaRPr>
          </a:p>
          <a:p>
            <a:pPr indent="0" lvl="0" marL="0" marR="740664" rtl="0" algn="l">
              <a:spcBef>
                <a:spcPts val="0"/>
              </a:spcBef>
              <a:spcAft>
                <a:spcPts val="0"/>
              </a:spcAft>
              <a:buNone/>
            </a:pPr>
            <a:r>
              <a:rPr b="1" lang="en" sz="1221">
                <a:solidFill>
                  <a:srgbClr val="000000"/>
                </a:solidFill>
                <a:latin typeface="Arial"/>
                <a:ea typeface="Arial"/>
                <a:cs typeface="Arial"/>
                <a:sym typeface="Arial"/>
              </a:rPr>
              <a:t> [3]</a:t>
            </a:r>
            <a:r>
              <a:rPr b="1" lang="en" sz="1200">
                <a:solidFill>
                  <a:srgbClr val="000000"/>
                </a:solidFill>
                <a:highlight>
                  <a:schemeClr val="lt1"/>
                </a:highlight>
                <a:latin typeface="Arial"/>
                <a:ea typeface="Arial"/>
                <a:cs typeface="Arial"/>
                <a:sym typeface="Arial"/>
              </a:rPr>
              <a:t>Eye in the Sky: Drone-Based Object Tracking and 3D Localization</a:t>
            </a:r>
            <a:r>
              <a:rPr lang="en" sz="1600">
                <a:solidFill>
                  <a:srgbClr val="000000"/>
                </a:solidFill>
                <a:highlight>
                  <a:schemeClr val="lt1"/>
                </a:highlight>
                <a:latin typeface="Arial"/>
                <a:ea typeface="Arial"/>
                <a:cs typeface="Arial"/>
                <a:sym typeface="Arial"/>
              </a:rPr>
              <a:t>  </a:t>
            </a:r>
            <a:endParaRPr sz="1600">
              <a:solidFill>
                <a:srgbClr val="000000"/>
              </a:solidFill>
              <a:highlight>
                <a:schemeClr val="lt1"/>
              </a:highlight>
              <a:latin typeface="Arial"/>
              <a:ea typeface="Arial"/>
              <a:cs typeface="Arial"/>
              <a:sym typeface="Arial"/>
            </a:endParaRPr>
          </a:p>
          <a:p>
            <a:pPr indent="0" lvl="0" marL="457200" rtl="0" algn="ctr">
              <a:spcBef>
                <a:spcPts val="0"/>
              </a:spcBef>
              <a:spcAft>
                <a:spcPts val="0"/>
              </a:spcAft>
              <a:buNone/>
            </a:pPr>
            <a:r>
              <a:rPr lang="en" sz="750">
                <a:solidFill>
                  <a:srgbClr val="000000"/>
                </a:solidFill>
                <a:highlight>
                  <a:schemeClr val="lt1"/>
                </a:highlight>
                <a:latin typeface="Arial"/>
                <a:ea typeface="Arial"/>
                <a:cs typeface="Arial"/>
                <a:sym typeface="Arial"/>
              </a:rPr>
              <a:t>Haotian Zhang</a:t>
            </a:r>
            <a:r>
              <a:rPr baseline="30000" lang="en" sz="1500">
                <a:solidFill>
                  <a:srgbClr val="000000"/>
                </a:solidFill>
                <a:highlight>
                  <a:schemeClr val="lt1"/>
                </a:highlight>
                <a:latin typeface="Arial"/>
                <a:ea typeface="Arial"/>
                <a:cs typeface="Arial"/>
                <a:sym typeface="Arial"/>
              </a:rPr>
              <a:t>∗ </a:t>
            </a:r>
            <a:r>
              <a:rPr lang="en" sz="550" u="sng">
                <a:solidFill>
                  <a:srgbClr val="000000"/>
                </a:solidFill>
                <a:highlight>
                  <a:schemeClr val="lt1"/>
                </a:highlight>
                <a:latin typeface="Arial"/>
                <a:ea typeface="Arial"/>
                <a:cs typeface="Arial"/>
                <a:sym typeface="Arial"/>
              </a:rPr>
              <a:t>haotiz@uw.edu</a:t>
            </a:r>
            <a:r>
              <a:rPr lang="en" sz="550">
                <a:solidFill>
                  <a:srgbClr val="000000"/>
                </a:solidFill>
                <a:highlight>
                  <a:schemeClr val="lt1"/>
                </a:highlight>
                <a:latin typeface="Arial"/>
                <a:ea typeface="Arial"/>
                <a:cs typeface="Arial"/>
                <a:sym typeface="Arial"/>
              </a:rPr>
              <a:t> University of Washington Seattle, Washington ,</a:t>
            </a:r>
            <a:r>
              <a:rPr lang="en" sz="750">
                <a:solidFill>
                  <a:srgbClr val="000000"/>
                </a:solidFill>
                <a:highlight>
                  <a:schemeClr val="lt1"/>
                </a:highlight>
                <a:latin typeface="Arial"/>
                <a:ea typeface="Arial"/>
                <a:cs typeface="Arial"/>
                <a:sym typeface="Arial"/>
              </a:rPr>
              <a:t>Gaoang Wang </a:t>
            </a:r>
            <a:r>
              <a:rPr lang="en" sz="550" u="sng">
                <a:solidFill>
                  <a:srgbClr val="000000"/>
                </a:solidFill>
                <a:highlight>
                  <a:schemeClr val="lt1"/>
                </a:highlight>
                <a:latin typeface="Arial"/>
                <a:ea typeface="Arial"/>
                <a:cs typeface="Arial"/>
                <a:sym typeface="Arial"/>
              </a:rPr>
              <a:t>gaoang@uw.edu</a:t>
            </a:r>
            <a:r>
              <a:rPr lang="en" sz="550">
                <a:solidFill>
                  <a:srgbClr val="000000"/>
                </a:solidFill>
                <a:highlight>
                  <a:schemeClr val="lt1"/>
                </a:highlight>
                <a:latin typeface="Arial"/>
                <a:ea typeface="Arial"/>
                <a:cs typeface="Arial"/>
                <a:sym typeface="Arial"/>
              </a:rPr>
              <a:t> University of Washington Seattle, Washington  ,</a:t>
            </a:r>
            <a:r>
              <a:rPr lang="en" sz="750">
                <a:solidFill>
                  <a:srgbClr val="000000"/>
                </a:solidFill>
                <a:highlight>
                  <a:schemeClr val="lt1"/>
                </a:highlight>
                <a:latin typeface="Arial"/>
                <a:ea typeface="Arial"/>
                <a:cs typeface="Arial"/>
                <a:sym typeface="Arial"/>
              </a:rPr>
              <a:t>Zhichao Lei </a:t>
            </a:r>
            <a:r>
              <a:rPr lang="en" sz="550" u="sng">
                <a:solidFill>
                  <a:srgbClr val="000000"/>
                </a:solidFill>
                <a:highlight>
                  <a:schemeClr val="lt1"/>
                </a:highlight>
                <a:latin typeface="Arial"/>
                <a:ea typeface="Arial"/>
                <a:cs typeface="Arial"/>
                <a:sym typeface="Arial"/>
              </a:rPr>
              <a:t>zl68@uw.edu</a:t>
            </a:r>
            <a:r>
              <a:rPr lang="en" sz="550">
                <a:solidFill>
                  <a:srgbClr val="000000"/>
                </a:solidFill>
                <a:highlight>
                  <a:schemeClr val="lt1"/>
                </a:highlight>
                <a:latin typeface="Arial"/>
                <a:ea typeface="Arial"/>
                <a:cs typeface="Arial"/>
                <a:sym typeface="Arial"/>
              </a:rPr>
              <a:t> University of Washington Seattle, Washington  .</a:t>
            </a:r>
            <a:r>
              <a:rPr lang="en" sz="750">
                <a:solidFill>
                  <a:srgbClr val="000000"/>
                </a:solidFill>
                <a:highlight>
                  <a:schemeClr val="lt1"/>
                </a:highlight>
                <a:latin typeface="Arial"/>
                <a:ea typeface="Arial"/>
                <a:cs typeface="Arial"/>
                <a:sym typeface="Arial"/>
              </a:rPr>
              <a:t>Jenq-Neng Hwang </a:t>
            </a:r>
            <a:r>
              <a:rPr lang="en" sz="550">
                <a:solidFill>
                  <a:srgbClr val="000000"/>
                </a:solidFill>
                <a:highlight>
                  <a:schemeClr val="lt1"/>
                </a:highlight>
                <a:latin typeface="Arial"/>
                <a:ea typeface="Arial"/>
                <a:cs typeface="Arial"/>
                <a:sym typeface="Arial"/>
              </a:rPr>
              <a:t>hwang@uw.edu University of Washington Seattle, Washington </a:t>
            </a:r>
            <a:endParaRPr sz="550">
              <a:solidFill>
                <a:srgbClr val="000000"/>
              </a:solidFill>
              <a:highlight>
                <a:schemeClr val="lt1"/>
              </a:highlight>
              <a:latin typeface="Arial"/>
              <a:ea typeface="Arial"/>
              <a:cs typeface="Arial"/>
              <a:sym typeface="Arial"/>
            </a:endParaRPr>
          </a:p>
          <a:p>
            <a:pPr indent="0" lvl="0" marL="0" rtl="0" algn="l">
              <a:lnSpc>
                <a:spcPct val="100000"/>
              </a:lnSpc>
              <a:spcBef>
                <a:spcPts val="0"/>
              </a:spcBef>
              <a:spcAft>
                <a:spcPts val="0"/>
              </a:spcAft>
              <a:buNone/>
            </a:pPr>
            <a:r>
              <a:rPr b="1" lang="en">
                <a:solidFill>
                  <a:srgbClr val="333333"/>
                </a:solidFill>
                <a:highlight>
                  <a:schemeClr val="lt1"/>
                </a:highlight>
                <a:latin typeface="Arial"/>
                <a:ea typeface="Arial"/>
                <a:cs typeface="Arial"/>
                <a:sym typeface="Arial"/>
              </a:rPr>
              <a:t>[4]Localization and navigation using QR code for mobile robot in indoor  environment</a:t>
            </a:r>
            <a:endParaRPr b="1">
              <a:solidFill>
                <a:srgbClr val="333333"/>
              </a:solidFill>
              <a:highlight>
                <a:schemeClr val="lt1"/>
              </a:highlight>
              <a:latin typeface="Arial"/>
              <a:ea typeface="Arial"/>
              <a:cs typeface="Arial"/>
              <a:sym typeface="Arial"/>
            </a:endParaRPr>
          </a:p>
          <a:p>
            <a:pPr indent="0" lvl="0" marL="457200" rtl="0" algn="l">
              <a:lnSpc>
                <a:spcPct val="100000"/>
              </a:lnSpc>
              <a:spcBef>
                <a:spcPts val="0"/>
              </a:spcBef>
              <a:spcAft>
                <a:spcPts val="0"/>
              </a:spcAft>
              <a:buNone/>
            </a:pPr>
            <a:r>
              <a:rPr lang="en" sz="800">
                <a:solidFill>
                  <a:srgbClr val="333333"/>
                </a:solidFill>
                <a:highlight>
                  <a:schemeClr val="lt1"/>
                </a:highlight>
                <a:latin typeface="Arial"/>
                <a:ea typeface="Arial"/>
                <a:cs typeface="Arial"/>
                <a:sym typeface="Arial"/>
              </a:rPr>
              <a:t>Huijuan Zhang, Chengning Zhang, Wei Yang, Chin-Yin Chen, Member, IEEE</a:t>
            </a:r>
            <a:endParaRPr sz="800">
              <a:solidFill>
                <a:srgbClr val="333333"/>
              </a:solidFill>
              <a:highlight>
                <a:schemeClr val="lt1"/>
              </a:highlight>
              <a:latin typeface="Arial"/>
              <a:ea typeface="Arial"/>
              <a:cs typeface="Arial"/>
              <a:sym typeface="Arial"/>
            </a:endParaRPr>
          </a:p>
          <a:p>
            <a:pPr indent="0" lvl="0" marL="457200" rtl="0" algn="l">
              <a:lnSpc>
                <a:spcPct val="100000"/>
              </a:lnSpc>
              <a:spcBef>
                <a:spcPts val="0"/>
              </a:spcBef>
              <a:spcAft>
                <a:spcPts val="0"/>
              </a:spcAft>
              <a:buNone/>
            </a:pPr>
            <a:r>
              <a:t/>
            </a:r>
            <a:endParaRPr b="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 sz="1200">
                <a:solidFill>
                  <a:srgbClr val="000000"/>
                </a:solidFill>
                <a:latin typeface="Arial"/>
                <a:ea typeface="Arial"/>
                <a:cs typeface="Arial"/>
                <a:sym typeface="Arial"/>
              </a:rPr>
              <a:t>[5]Warehouse Management Using Real-Time QR-Code and Text Detection,</a:t>
            </a:r>
            <a:r>
              <a:rPr lang="en" sz="1200">
                <a:solidFill>
                  <a:srgbClr val="000000"/>
                </a:solidFill>
                <a:latin typeface="Arial"/>
                <a:ea typeface="Arial"/>
                <a:cs typeface="Arial"/>
                <a:sym typeface="Arial"/>
              </a:rPr>
              <a:t>Debjoy Saha,IIT Kharagpur</a:t>
            </a:r>
            <a:endParaRPr sz="1200">
              <a:solidFill>
                <a:srgbClr val="000000"/>
              </a:solidFill>
              <a:latin typeface="Arial"/>
              <a:ea typeface="Arial"/>
              <a:cs typeface="Arial"/>
              <a:sym typeface="Arial"/>
            </a:endParaRPr>
          </a:p>
          <a:p>
            <a:pPr indent="0" lvl="0" marL="457200" rtl="0" algn="l">
              <a:lnSpc>
                <a:spcPct val="100000"/>
              </a:lnSpc>
              <a:spcBef>
                <a:spcPts val="0"/>
              </a:spcBef>
              <a:spcAft>
                <a:spcPts val="0"/>
              </a:spcAft>
              <a:buNone/>
            </a:pPr>
            <a:r>
              <a:rPr lang="en" sz="700" u="sng">
                <a:solidFill>
                  <a:schemeClr val="accent5"/>
                </a:solidFill>
                <a:latin typeface="Arial"/>
                <a:ea typeface="Arial"/>
                <a:cs typeface="Arial"/>
                <a:sym typeface="Arial"/>
                <a:hlinkClick r:id="rId3">
                  <a:extLst>
                    <a:ext uri="{A12FA001-AC4F-418D-AE19-62706E023703}">
                      <ahyp:hlinkClr val="tx"/>
                    </a:ext>
                  </a:extLst>
                </a:hlinkClick>
              </a:rPr>
              <a:t>https://www.researchgate.net/profile/Debjoy_Saha/publication/336218818_Warehouse_Management_Using_Real-Time_QR-Code_and_Text_Detection/links/5d9795ac299bf1c363f8d4d6/Warehouse-Management-Using-Real-Time-QR-Code-and-Text-Detection.pdf</a:t>
            </a:r>
            <a:endParaRPr sz="700">
              <a:solidFill>
                <a:srgbClr val="000000"/>
              </a:solidFill>
              <a:latin typeface="Arial"/>
              <a:ea typeface="Arial"/>
              <a:cs typeface="Arial"/>
              <a:sym typeface="Arial"/>
            </a:endParaRPr>
          </a:p>
          <a:p>
            <a:pPr indent="0" lvl="0" marL="457200" rtl="0" algn="ctr">
              <a:spcBef>
                <a:spcPts val="0"/>
              </a:spcBef>
              <a:spcAft>
                <a:spcPts val="0"/>
              </a:spcAft>
              <a:buNone/>
            </a:pPr>
            <a:r>
              <a:t/>
            </a:r>
            <a:endParaRPr sz="650">
              <a:solidFill>
                <a:srgbClr val="000000"/>
              </a:solidFill>
              <a:highlight>
                <a:schemeClr val="lt1"/>
              </a:highlight>
              <a:latin typeface="Arial"/>
              <a:ea typeface="Arial"/>
              <a:cs typeface="Arial"/>
              <a:sym typeface="Arial"/>
            </a:endParaRPr>
          </a:p>
          <a:p>
            <a:pPr indent="0" lvl="0" marL="457200" marR="740664" rtl="0" algn="l">
              <a:spcBef>
                <a:spcPts val="0"/>
              </a:spcBef>
              <a:spcAft>
                <a:spcPts val="0"/>
              </a:spcAft>
              <a:buNone/>
            </a:pPr>
            <a:r>
              <a:t/>
            </a:r>
            <a:endParaRPr sz="1721">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