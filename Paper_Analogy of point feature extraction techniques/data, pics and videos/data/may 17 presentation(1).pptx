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Raleway"/>
      <p:regular r:id="rId24"/>
      <p:bold r:id="rId25"/>
      <p:italic r:id="rId26"/>
      <p:boldItalic r:id="rId27"/>
    </p:embeddedFont>
    <p:embeddedFont>
      <p:font typeface="Lato"/>
      <p:regular r:id="rId28"/>
      <p:bold r:id="rId29"/>
      <p:italic r:id="rId30"/>
      <p:boldItalic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35E526-5509-4F24-A19E-E588A0B576BC}">
  <a:tblStyle styleId="{EC35E526-5509-4F24-A19E-E588A0B576BC}" styleName="Table_0">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aleway-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aleway-italic.fntdata"/><Relationship Id="rId25" Type="http://schemas.openxmlformats.org/officeDocument/2006/relationships/font" Target="fonts/Raleway-bold.fntdata"/><Relationship Id="rId28" Type="http://schemas.openxmlformats.org/officeDocument/2006/relationships/font" Target="fonts/Lato-regular.fntdata"/><Relationship Id="rId27" Type="http://schemas.openxmlformats.org/officeDocument/2006/relationships/font" Target="fonts/Raleway-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5.xml"/><Relationship Id="rId33" Type="http://schemas.openxmlformats.org/officeDocument/2006/relationships/font" Target="fonts/OpenSans-bold.fntdata"/><Relationship Id="rId10" Type="http://schemas.openxmlformats.org/officeDocument/2006/relationships/slide" Target="slides/slide4.xml"/><Relationship Id="rId32" Type="http://schemas.openxmlformats.org/officeDocument/2006/relationships/font" Target="fonts/OpenSans-regular.fntdata"/><Relationship Id="rId13" Type="http://schemas.openxmlformats.org/officeDocument/2006/relationships/slide" Target="slides/slide7.xml"/><Relationship Id="rId35" Type="http://schemas.openxmlformats.org/officeDocument/2006/relationships/font" Target="fonts/OpenSans-boldItalic.fntdata"/><Relationship Id="rId12" Type="http://schemas.openxmlformats.org/officeDocument/2006/relationships/slide" Target="slides/slide6.xml"/><Relationship Id="rId34" Type="http://schemas.openxmlformats.org/officeDocument/2006/relationships/font" Target="fonts/OpenSans-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2"/>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3"/>
          <p:cNvGrpSpPr/>
          <p:nvPr/>
        </p:nvGrpSpPr>
        <p:grpSpPr>
          <a:xfrm>
            <a:off x="830392" y="1191256"/>
            <a:ext cx="745763" cy="45826"/>
            <a:chOff x="4580561" y="2589004"/>
            <a:chExt cx="1064464" cy="25200"/>
          </a:xfrm>
        </p:grpSpPr>
        <p:sp>
          <p:nvSpPr>
            <p:cNvPr id="20" name="Google Shape;20;p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4"/>
          <p:cNvGrpSpPr/>
          <p:nvPr/>
        </p:nvGrpSpPr>
        <p:grpSpPr>
          <a:xfrm>
            <a:off x="830392" y="1191256"/>
            <a:ext cx="745763" cy="45826"/>
            <a:chOff x="4580561" y="2589004"/>
            <a:chExt cx="1064464" cy="25200"/>
          </a:xfrm>
        </p:grpSpPr>
        <p:sp>
          <p:nvSpPr>
            <p:cNvPr id="27" name="Google Shape;27;p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4"/>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5"/>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6"/>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7"/>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8"/>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9"/>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11"/>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3.jpg"/><Relationship Id="rId5"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jpg"/><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jpg"/><Relationship Id="rId4"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249200"/>
          </a:xfrm>
          <a:prstGeom prst="rect">
            <a:avLst/>
          </a:prstGeom>
          <a:noFill/>
          <a:ln>
            <a:noFill/>
          </a:ln>
        </p:spPr>
        <p:txBody>
          <a:bodyPr anchorCtr="0" anchor="t" bIns="91425" lIns="91425" spcFirstLastPara="1" rIns="91425" wrap="square" tIns="91425">
            <a:normAutofit/>
          </a:bodyPr>
          <a:lstStyle/>
          <a:p>
            <a:pPr indent="0" lvl="0" marL="228600" rtl="0" algn="ctr">
              <a:lnSpc>
                <a:spcPct val="115000"/>
              </a:lnSpc>
              <a:spcBef>
                <a:spcPts val="0"/>
              </a:spcBef>
              <a:spcAft>
                <a:spcPts val="0"/>
              </a:spcAft>
              <a:buSzPts val="4200"/>
              <a:buNone/>
            </a:pPr>
            <a:r>
              <a:rPr lang="en-GB" sz="2400">
                <a:solidFill>
                  <a:srgbClr val="000000"/>
                </a:solidFill>
                <a:latin typeface="Georgia"/>
                <a:ea typeface="Georgia"/>
                <a:cs typeface="Georgia"/>
                <a:sym typeface="Georgia"/>
              </a:rPr>
              <a:t>ANALOGY OF POINT FEATURE EXTRACTION TECHNIQUES</a:t>
            </a:r>
            <a:r>
              <a:rPr lang="en-GB" sz="2300">
                <a:solidFill>
                  <a:srgbClr val="000000"/>
                </a:solidFill>
                <a:latin typeface="Georgia"/>
                <a:ea typeface="Georgia"/>
                <a:cs typeface="Georgia"/>
                <a:sym typeface="Georgia"/>
              </a:rPr>
              <a:t>   </a:t>
            </a:r>
            <a:endParaRPr sz="5200"/>
          </a:p>
        </p:txBody>
      </p:sp>
      <p:sp>
        <p:nvSpPr>
          <p:cNvPr id="87" name="Google Shape;87;p13"/>
          <p:cNvSpPr txBox="1"/>
          <p:nvPr>
            <p:ph idx="1" type="subTitle"/>
          </p:nvPr>
        </p:nvSpPr>
        <p:spPr>
          <a:xfrm>
            <a:off x="249225" y="3317275"/>
            <a:ext cx="4186200" cy="1513500"/>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Clr>
                <a:srgbClr val="A1E8D9"/>
              </a:buClr>
              <a:buSzPts val="275"/>
              <a:buFont typeface="Arial"/>
              <a:buNone/>
            </a:pPr>
            <a:r>
              <a:rPr b="1" lang="en-GB" sz="1650">
                <a:solidFill>
                  <a:srgbClr val="000000"/>
                </a:solidFill>
                <a:latin typeface="Trebuchet MS"/>
                <a:ea typeface="Trebuchet MS"/>
                <a:cs typeface="Trebuchet MS"/>
                <a:sym typeface="Trebuchet MS"/>
              </a:rPr>
              <a:t>Mentor : Mr Vivek </a:t>
            </a:r>
            <a:endParaRPr b="1" sz="1650">
              <a:solidFill>
                <a:srgbClr val="000000"/>
              </a:solidFill>
              <a:latin typeface="Trebuchet MS"/>
              <a:ea typeface="Trebuchet MS"/>
              <a:cs typeface="Trebuchet MS"/>
              <a:sym typeface="Trebuchet MS"/>
            </a:endParaRPr>
          </a:p>
          <a:p>
            <a:pPr indent="0" lvl="0" marL="0" rtl="0" algn="l">
              <a:lnSpc>
                <a:spcPct val="80000"/>
              </a:lnSpc>
              <a:spcBef>
                <a:spcPts val="0"/>
              </a:spcBef>
              <a:spcAft>
                <a:spcPts val="0"/>
              </a:spcAft>
              <a:buClr>
                <a:srgbClr val="A1E8D9"/>
              </a:buClr>
              <a:buSzPts val="275"/>
              <a:buFont typeface="Arial"/>
              <a:buNone/>
            </a:pPr>
            <a:r>
              <a:rPr b="1" lang="en-GB" sz="1562">
                <a:solidFill>
                  <a:srgbClr val="000000"/>
                </a:solidFill>
                <a:highlight>
                  <a:schemeClr val="lt1"/>
                </a:highlight>
                <a:latin typeface="Trebuchet MS"/>
                <a:ea typeface="Trebuchet MS"/>
                <a:cs typeface="Trebuchet MS"/>
                <a:sym typeface="Trebuchet MS"/>
              </a:rPr>
              <a:t>Asst. Professor, Electrical and Electronics, </a:t>
            </a:r>
            <a:endParaRPr b="1" sz="1562">
              <a:solidFill>
                <a:srgbClr val="000000"/>
              </a:solidFill>
              <a:highlight>
                <a:schemeClr val="lt1"/>
              </a:highlight>
              <a:latin typeface="Trebuchet MS"/>
              <a:ea typeface="Trebuchet MS"/>
              <a:cs typeface="Trebuchet MS"/>
              <a:sym typeface="Trebuchet MS"/>
            </a:endParaRPr>
          </a:p>
          <a:p>
            <a:pPr indent="0" lvl="0" marL="0" rtl="0" algn="l">
              <a:lnSpc>
                <a:spcPct val="80000"/>
              </a:lnSpc>
              <a:spcBef>
                <a:spcPts val="0"/>
              </a:spcBef>
              <a:spcAft>
                <a:spcPts val="0"/>
              </a:spcAft>
              <a:buClr>
                <a:srgbClr val="A1E8D9"/>
              </a:buClr>
              <a:buSzPts val="275"/>
              <a:buFont typeface="Arial"/>
              <a:buNone/>
            </a:pPr>
            <a:r>
              <a:rPr b="1" lang="en-GB" sz="1562">
                <a:solidFill>
                  <a:srgbClr val="000000"/>
                </a:solidFill>
                <a:highlight>
                  <a:schemeClr val="lt1"/>
                </a:highlight>
                <a:latin typeface="Trebuchet MS"/>
                <a:ea typeface="Trebuchet MS"/>
                <a:cs typeface="Trebuchet MS"/>
                <a:sym typeface="Trebuchet MS"/>
              </a:rPr>
              <a:t>Amrita School of Engineering, Amritapuri</a:t>
            </a:r>
            <a:endParaRPr b="1" sz="1650">
              <a:solidFill>
                <a:srgbClr val="000000"/>
              </a:solidFill>
              <a:latin typeface="Trebuchet MS"/>
              <a:ea typeface="Trebuchet MS"/>
              <a:cs typeface="Trebuchet MS"/>
              <a:sym typeface="Trebuchet MS"/>
            </a:endParaRPr>
          </a:p>
          <a:p>
            <a:pPr indent="0" lvl="0" marL="0" rtl="0" algn="l">
              <a:lnSpc>
                <a:spcPct val="80000"/>
              </a:lnSpc>
              <a:spcBef>
                <a:spcPts val="0"/>
              </a:spcBef>
              <a:spcAft>
                <a:spcPts val="0"/>
              </a:spcAft>
              <a:buClr>
                <a:srgbClr val="A1E8D9"/>
              </a:buClr>
              <a:buSzPts val="275"/>
              <a:buFont typeface="Arial"/>
              <a:buNone/>
            </a:pPr>
            <a:r>
              <a:t/>
            </a:r>
            <a:endParaRPr b="1" sz="1550">
              <a:solidFill>
                <a:srgbClr val="000000"/>
              </a:solidFill>
              <a:latin typeface="Trebuchet MS"/>
              <a:ea typeface="Trebuchet MS"/>
              <a:cs typeface="Trebuchet MS"/>
              <a:sym typeface="Trebuchet MS"/>
            </a:endParaRPr>
          </a:p>
          <a:p>
            <a:pPr indent="457200" lvl="0" marL="4114800" rtl="0" algn="l">
              <a:lnSpc>
                <a:spcPct val="80000"/>
              </a:lnSpc>
              <a:spcBef>
                <a:spcPts val="0"/>
              </a:spcBef>
              <a:spcAft>
                <a:spcPts val="0"/>
              </a:spcAft>
              <a:buClr>
                <a:srgbClr val="A1E8D9"/>
              </a:buClr>
              <a:buSzPts val="275"/>
              <a:buFont typeface="Arial"/>
              <a:buNone/>
            </a:pPr>
            <a:r>
              <a:t/>
            </a:r>
            <a:endParaRPr b="1" sz="1550">
              <a:solidFill>
                <a:srgbClr val="000000"/>
              </a:solidFill>
              <a:latin typeface="Trebuchet MS"/>
              <a:ea typeface="Trebuchet MS"/>
              <a:cs typeface="Trebuchet MS"/>
              <a:sym typeface="Trebuchet MS"/>
            </a:endParaRPr>
          </a:p>
          <a:p>
            <a:pPr indent="457200" lvl="0" marL="3200400" rtl="0" algn="l">
              <a:lnSpc>
                <a:spcPct val="80000"/>
              </a:lnSpc>
              <a:spcBef>
                <a:spcPts val="0"/>
              </a:spcBef>
              <a:spcAft>
                <a:spcPts val="0"/>
              </a:spcAft>
              <a:buSzPts val="1600"/>
              <a:buNone/>
            </a:pPr>
            <a:r>
              <a:rPr b="1" lang="en-GB" sz="1550">
                <a:solidFill>
                  <a:srgbClr val="000000"/>
                </a:solidFill>
                <a:latin typeface="Trebuchet MS"/>
                <a:ea typeface="Trebuchet MS"/>
                <a:cs typeface="Trebuchet MS"/>
                <a:sym typeface="Trebuchet MS"/>
              </a:rPr>
              <a:t>       </a:t>
            </a:r>
            <a:endParaRPr/>
          </a:p>
        </p:txBody>
      </p:sp>
      <p:sp>
        <p:nvSpPr>
          <p:cNvPr id="88" name="Google Shape;88;p13"/>
          <p:cNvSpPr txBox="1"/>
          <p:nvPr/>
        </p:nvSpPr>
        <p:spPr>
          <a:xfrm>
            <a:off x="6724125" y="3317275"/>
            <a:ext cx="20937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Lato"/>
                <a:ea typeface="Lato"/>
                <a:cs typeface="Lato"/>
                <a:sym typeface="Lato"/>
              </a:rPr>
              <a:t>Team:</a:t>
            </a:r>
            <a:endParaRPr b="1" i="0" sz="16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Lato"/>
                <a:ea typeface="Lato"/>
                <a:cs typeface="Lato"/>
                <a:sym typeface="Lato"/>
              </a:rPr>
              <a:t>A Velayudhan</a:t>
            </a:r>
            <a:endParaRPr b="1" i="0" sz="16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Lato"/>
                <a:ea typeface="Lato"/>
                <a:cs typeface="Lato"/>
                <a:sym typeface="Lato"/>
              </a:rPr>
              <a:t>Nandakishore R Nair</a:t>
            </a:r>
            <a:endParaRPr b="1" i="0" sz="16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Lato"/>
                <a:ea typeface="Lato"/>
                <a:cs typeface="Lato"/>
                <a:sym typeface="Lato"/>
              </a:rPr>
              <a:t>Neeraj S</a:t>
            </a:r>
            <a:endParaRPr b="1" i="0" sz="16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Lato"/>
                <a:ea typeface="Lato"/>
                <a:cs typeface="Lato"/>
                <a:sym typeface="Lato"/>
              </a:rPr>
              <a:t>VIshnu S</a:t>
            </a:r>
            <a:endParaRPr b="1" i="0" sz="1600" u="none" cap="none" strike="noStrike">
              <a:solidFill>
                <a:srgbClr val="000000"/>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Abstract</a:t>
            </a:r>
            <a:endParaRPr/>
          </a:p>
          <a:p>
            <a:pPr indent="0" lvl="0" marL="0" rtl="0" algn="l">
              <a:lnSpc>
                <a:spcPct val="100000"/>
              </a:lnSpc>
              <a:spcBef>
                <a:spcPts val="0"/>
              </a:spcBef>
              <a:spcAft>
                <a:spcPts val="0"/>
              </a:spcAft>
              <a:buSzPct val="111111"/>
              <a:buNone/>
            </a:pPr>
            <a:r>
              <a:t/>
            </a:r>
            <a:endParaRPr/>
          </a:p>
        </p:txBody>
      </p:sp>
      <p:sp>
        <p:nvSpPr>
          <p:cNvPr id="94" name="Google Shape;94;p14"/>
          <p:cNvSpPr txBox="1"/>
          <p:nvPr>
            <p:ph idx="1" type="body"/>
          </p:nvPr>
        </p:nvSpPr>
        <p:spPr>
          <a:xfrm>
            <a:off x="672550" y="2177675"/>
            <a:ext cx="7688700" cy="2285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n-GB" sz="1200">
                <a:solidFill>
                  <a:srgbClr val="000000"/>
                </a:solidFill>
                <a:latin typeface="Georgia"/>
                <a:ea typeface="Georgia"/>
                <a:cs typeface="Georgia"/>
                <a:sym typeface="Georgia"/>
              </a:rPr>
              <a:t>Image processing is a significant section of robotic and machine learning. The field of image processing is significant in terms of usage in the advanced world ranging from security, facial recognition to remote autonomous terrain mapping. The salient problem in image processing is how to detect, identify and recognise the feature points in an image. However, there are numerous feature point extraction techniques. In this paper, we are comparing the different available point feature extraction techniques currently in existence based on the scale changes, noise, rotation etc. The evaluation is based on the number of feature points from the reference image as well as matched points in the wild frame and elapsed time</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7650" y="5029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Objective</a:t>
            </a:r>
            <a:endParaRPr/>
          </a:p>
        </p:txBody>
      </p:sp>
      <p:sp>
        <p:nvSpPr>
          <p:cNvPr id="100" name="Google Shape;100;p15"/>
          <p:cNvSpPr txBox="1"/>
          <p:nvPr>
            <p:ph idx="1" type="body"/>
          </p:nvPr>
        </p:nvSpPr>
        <p:spPr>
          <a:xfrm>
            <a:off x="647700" y="1461400"/>
            <a:ext cx="7688700" cy="2662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n-GB" sz="1700"/>
              <a:t>The focal point of the experiments was to estimate the best point feature extraction techniques based on the following parameters :</a:t>
            </a:r>
            <a:endParaRPr sz="1700"/>
          </a:p>
          <a:p>
            <a:pPr indent="-336550" lvl="0" marL="457200" rtl="0" algn="l">
              <a:lnSpc>
                <a:spcPct val="115000"/>
              </a:lnSpc>
              <a:spcBef>
                <a:spcPts val="1200"/>
              </a:spcBef>
              <a:spcAft>
                <a:spcPts val="0"/>
              </a:spcAft>
              <a:buSzPts val="1700"/>
              <a:buAutoNum type="arabicPeriod"/>
            </a:pPr>
            <a:r>
              <a:rPr lang="en-GB" sz="1700"/>
              <a:t>Time of feature extraction</a:t>
            </a:r>
            <a:endParaRPr sz="1700"/>
          </a:p>
          <a:p>
            <a:pPr indent="-336550" lvl="0" marL="457200" rtl="0" algn="l">
              <a:lnSpc>
                <a:spcPct val="115000"/>
              </a:lnSpc>
              <a:spcBef>
                <a:spcPts val="0"/>
              </a:spcBef>
              <a:spcAft>
                <a:spcPts val="0"/>
              </a:spcAft>
              <a:buSzPts val="1700"/>
              <a:buAutoNum type="arabicPeriod"/>
            </a:pPr>
            <a:r>
              <a:rPr lang="en-GB" sz="1700"/>
              <a:t>Number of feature points</a:t>
            </a:r>
            <a:endParaRPr sz="1700"/>
          </a:p>
          <a:p>
            <a:pPr indent="-336550" lvl="0" marL="457200" rtl="0" algn="l">
              <a:lnSpc>
                <a:spcPct val="115000"/>
              </a:lnSpc>
              <a:spcBef>
                <a:spcPts val="0"/>
              </a:spcBef>
              <a:spcAft>
                <a:spcPts val="0"/>
              </a:spcAft>
              <a:buSzPts val="1700"/>
              <a:buAutoNum type="arabicPeriod"/>
            </a:pPr>
            <a:r>
              <a:rPr lang="en-GB" sz="1700"/>
              <a:t>Time for cross matching</a:t>
            </a:r>
            <a:endParaRPr sz="1700"/>
          </a:p>
          <a:p>
            <a:pPr indent="0" lvl="0" marL="457200" rtl="0" algn="l">
              <a:lnSpc>
                <a:spcPct val="115000"/>
              </a:lnSpc>
              <a:spcBef>
                <a:spcPts val="1200"/>
              </a:spcBef>
              <a:spcAft>
                <a:spcPts val="1200"/>
              </a:spcAft>
              <a:buSzPts val="1300"/>
              <a:buNone/>
            </a:pPr>
            <a:r>
              <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idx="1" type="body"/>
          </p:nvPr>
        </p:nvSpPr>
        <p:spPr>
          <a:xfrm>
            <a:off x="311700" y="1408000"/>
            <a:ext cx="8520600" cy="35343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71972"/>
              <a:buNone/>
            </a:pPr>
            <a:r>
              <a:rPr lang="en-GB" sz="2125">
                <a:latin typeface="Georgia"/>
                <a:ea typeface="Georgia"/>
                <a:cs typeface="Georgia"/>
                <a:sym typeface="Georgia"/>
              </a:rPr>
              <a:t> </a:t>
            </a:r>
            <a:r>
              <a:rPr lang="en-GB" sz="2100">
                <a:solidFill>
                  <a:srgbClr val="000000"/>
                </a:solidFill>
                <a:latin typeface="Georgia"/>
                <a:ea typeface="Georgia"/>
                <a:cs typeface="Georgia"/>
                <a:sym typeface="Georgia"/>
              </a:rPr>
              <a:t>An</a:t>
            </a:r>
            <a:r>
              <a:rPr lang="en-GB" sz="2100">
                <a:latin typeface="Georgia"/>
                <a:ea typeface="Georgia"/>
                <a:cs typeface="Georgia"/>
                <a:sym typeface="Georgia"/>
              </a:rPr>
              <a:t> </a:t>
            </a:r>
            <a:r>
              <a:rPr lang="en-GB" sz="2100">
                <a:solidFill>
                  <a:srgbClr val="000000"/>
                </a:solidFill>
                <a:latin typeface="Georgia"/>
                <a:ea typeface="Georgia"/>
                <a:cs typeface="Georgia"/>
                <a:sym typeface="Georgia"/>
              </a:rPr>
              <a:t>experiment was conducted for the cross comparison of the various available feature extraction algorithm namely,</a:t>
            </a:r>
            <a:r>
              <a:rPr lang="en-GB" sz="2125">
                <a:solidFill>
                  <a:srgbClr val="000000"/>
                </a:solidFill>
                <a:latin typeface="Georgia"/>
                <a:ea typeface="Georgia"/>
                <a:cs typeface="Georgia"/>
                <a:sym typeface="Georgia"/>
              </a:rPr>
              <a:t> </a:t>
            </a:r>
            <a:endParaRPr sz="2125">
              <a:solidFill>
                <a:srgbClr val="000000"/>
              </a:solidFill>
              <a:latin typeface="Georgia"/>
              <a:ea typeface="Georgia"/>
              <a:cs typeface="Georgia"/>
              <a:sym typeface="Georgia"/>
            </a:endParaRPr>
          </a:p>
          <a:p>
            <a:pPr indent="-327585" lvl="0" marL="457200" rtl="0" algn="l">
              <a:lnSpc>
                <a:spcPct val="115000"/>
              </a:lnSpc>
              <a:spcBef>
                <a:spcPts val="120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BRISK</a:t>
            </a:r>
            <a:endParaRPr sz="1833">
              <a:solidFill>
                <a:srgbClr val="000000"/>
              </a:solidFill>
              <a:latin typeface="Georgia"/>
              <a:ea typeface="Georgia"/>
              <a:cs typeface="Georgia"/>
              <a:sym typeface="Georgia"/>
            </a:endParaRPr>
          </a:p>
          <a:p>
            <a:pPr indent="-327585" lvl="0" marL="457200" rtl="0" algn="l">
              <a:lnSpc>
                <a:spcPct val="115000"/>
              </a:lnSpc>
              <a:spcBef>
                <a:spcPts val="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 FAST</a:t>
            </a:r>
            <a:endParaRPr sz="1833">
              <a:solidFill>
                <a:srgbClr val="000000"/>
              </a:solidFill>
              <a:latin typeface="Georgia"/>
              <a:ea typeface="Georgia"/>
              <a:cs typeface="Georgia"/>
              <a:sym typeface="Georgia"/>
            </a:endParaRPr>
          </a:p>
          <a:p>
            <a:pPr indent="-327585" lvl="0" marL="457200" rtl="0" algn="l">
              <a:lnSpc>
                <a:spcPct val="115000"/>
              </a:lnSpc>
              <a:spcBef>
                <a:spcPts val="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HARRIS</a:t>
            </a:r>
            <a:endParaRPr sz="1833">
              <a:solidFill>
                <a:srgbClr val="000000"/>
              </a:solidFill>
              <a:latin typeface="Georgia"/>
              <a:ea typeface="Georgia"/>
              <a:cs typeface="Georgia"/>
              <a:sym typeface="Georgia"/>
            </a:endParaRPr>
          </a:p>
          <a:p>
            <a:pPr indent="-327585" lvl="0" marL="457200" rtl="0" algn="l">
              <a:lnSpc>
                <a:spcPct val="115000"/>
              </a:lnSpc>
              <a:spcBef>
                <a:spcPts val="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KAZE</a:t>
            </a:r>
            <a:endParaRPr sz="1833">
              <a:solidFill>
                <a:srgbClr val="000000"/>
              </a:solidFill>
              <a:latin typeface="Georgia"/>
              <a:ea typeface="Georgia"/>
              <a:cs typeface="Georgia"/>
              <a:sym typeface="Georgia"/>
            </a:endParaRPr>
          </a:p>
          <a:p>
            <a:pPr indent="-327585" lvl="0" marL="457200" rtl="0" algn="l">
              <a:lnSpc>
                <a:spcPct val="115000"/>
              </a:lnSpc>
              <a:spcBef>
                <a:spcPts val="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MINEIGEN</a:t>
            </a:r>
            <a:endParaRPr sz="1833">
              <a:solidFill>
                <a:srgbClr val="000000"/>
              </a:solidFill>
              <a:latin typeface="Georgia"/>
              <a:ea typeface="Georgia"/>
              <a:cs typeface="Georgia"/>
              <a:sym typeface="Georgia"/>
            </a:endParaRPr>
          </a:p>
          <a:p>
            <a:pPr indent="-327585" lvl="0" marL="457200" rtl="0" algn="l">
              <a:lnSpc>
                <a:spcPct val="115000"/>
              </a:lnSpc>
              <a:spcBef>
                <a:spcPts val="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 MSER</a:t>
            </a:r>
            <a:endParaRPr sz="1833">
              <a:solidFill>
                <a:srgbClr val="000000"/>
              </a:solidFill>
              <a:latin typeface="Georgia"/>
              <a:ea typeface="Georgia"/>
              <a:cs typeface="Georgia"/>
              <a:sym typeface="Georgia"/>
            </a:endParaRPr>
          </a:p>
          <a:p>
            <a:pPr indent="-327585" lvl="0" marL="457200" rtl="0" algn="l">
              <a:lnSpc>
                <a:spcPct val="115000"/>
              </a:lnSpc>
              <a:spcBef>
                <a:spcPts val="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 ORB</a:t>
            </a:r>
            <a:endParaRPr sz="1833">
              <a:solidFill>
                <a:srgbClr val="000000"/>
              </a:solidFill>
              <a:latin typeface="Georgia"/>
              <a:ea typeface="Georgia"/>
              <a:cs typeface="Georgia"/>
              <a:sym typeface="Georgia"/>
            </a:endParaRPr>
          </a:p>
          <a:p>
            <a:pPr indent="-327585" lvl="0" marL="457200" rtl="0" algn="l">
              <a:lnSpc>
                <a:spcPct val="115000"/>
              </a:lnSpc>
              <a:spcBef>
                <a:spcPts val="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SURF</a:t>
            </a:r>
            <a:endParaRPr sz="1833">
              <a:solidFill>
                <a:srgbClr val="000000"/>
              </a:solidFill>
              <a:latin typeface="Georgia"/>
              <a:ea typeface="Georgia"/>
              <a:cs typeface="Georgia"/>
              <a:sym typeface="Georgia"/>
            </a:endParaRPr>
          </a:p>
          <a:p>
            <a:pPr indent="0" lvl="0" marL="0" rtl="0" algn="l">
              <a:lnSpc>
                <a:spcPct val="115000"/>
              </a:lnSpc>
              <a:spcBef>
                <a:spcPts val="0"/>
              </a:spcBef>
              <a:spcAft>
                <a:spcPts val="0"/>
              </a:spcAft>
              <a:buSzPct val="82670"/>
              <a:buNone/>
            </a:pPr>
            <a:r>
              <a:rPr lang="en-GB" sz="1850">
                <a:solidFill>
                  <a:srgbClr val="000000"/>
                </a:solidFill>
                <a:latin typeface="Georgia"/>
                <a:ea typeface="Georgia"/>
                <a:cs typeface="Georgia"/>
                <a:sym typeface="Georgia"/>
              </a:rPr>
              <a:t>   The parameters considered for the cross comparison were Time taken for feature extraction and number of match points detected and the test was conducted by  introducing effects and distortions like rotation, scale change and noise.</a:t>
            </a:r>
            <a:endParaRPr sz="1850">
              <a:solidFill>
                <a:srgbClr val="000000"/>
              </a:solidFill>
              <a:latin typeface="Georgia"/>
              <a:ea typeface="Georgia"/>
              <a:cs typeface="Georgia"/>
              <a:sym typeface="Georgia"/>
            </a:endParaRPr>
          </a:p>
          <a:p>
            <a:pPr indent="0" lvl="0" marL="0" rtl="0" algn="l">
              <a:lnSpc>
                <a:spcPct val="115000"/>
              </a:lnSpc>
              <a:spcBef>
                <a:spcPts val="0"/>
              </a:spcBef>
              <a:spcAft>
                <a:spcPts val="0"/>
              </a:spcAft>
              <a:buSzPct val="109243"/>
              <a:buNone/>
            </a:pPr>
            <a:r>
              <a:t/>
            </a:r>
            <a:endParaRPr sz="1400">
              <a:solidFill>
                <a:srgbClr val="000000"/>
              </a:solidFill>
              <a:latin typeface="Georgia"/>
              <a:ea typeface="Georgia"/>
              <a:cs typeface="Georgia"/>
              <a:sym typeface="Georgia"/>
            </a:endParaRPr>
          </a:p>
        </p:txBody>
      </p:sp>
      <p:sp>
        <p:nvSpPr>
          <p:cNvPr id="106" name="Google Shape;106;p16"/>
          <p:cNvSpPr txBox="1"/>
          <p:nvPr/>
        </p:nvSpPr>
        <p:spPr>
          <a:xfrm>
            <a:off x="567925" y="342900"/>
            <a:ext cx="7640400" cy="21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idx="1" type="body"/>
          </p:nvPr>
        </p:nvSpPr>
        <p:spPr>
          <a:xfrm>
            <a:off x="311700" y="564475"/>
            <a:ext cx="8520600" cy="761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n-GB" sz="1400">
                <a:solidFill>
                  <a:srgbClr val="000000"/>
                </a:solidFill>
                <a:latin typeface="Georgia"/>
                <a:ea typeface="Georgia"/>
                <a:cs typeface="Georgia"/>
                <a:sym typeface="Georgia"/>
              </a:rPr>
              <a:t>This section tabulates the time required for feature extraction of each point feature extraction methods namely BRISK, FAST, HARRIS, KAZE, MINEIGEN, MSER, ORB, SURF. </a:t>
            </a:r>
            <a:endParaRPr sz="1400">
              <a:solidFill>
                <a:srgbClr val="000000"/>
              </a:solidFill>
              <a:latin typeface="Georgia"/>
              <a:ea typeface="Georgia"/>
              <a:cs typeface="Georgia"/>
              <a:sym typeface="Georgia"/>
            </a:endParaRPr>
          </a:p>
        </p:txBody>
      </p:sp>
      <p:graphicFrame>
        <p:nvGraphicFramePr>
          <p:cNvPr id="112" name="Google Shape;112;p17"/>
          <p:cNvGraphicFramePr/>
          <p:nvPr/>
        </p:nvGraphicFramePr>
        <p:xfrm>
          <a:off x="369175" y="1330525"/>
          <a:ext cx="3000000" cy="3000000"/>
        </p:xfrm>
        <a:graphic>
          <a:graphicData uri="http://schemas.openxmlformats.org/drawingml/2006/table">
            <a:tbl>
              <a:tblPr>
                <a:noFill/>
                <a:tableStyleId>{EC35E526-5509-4F24-A19E-E588A0B576BC}</a:tableStyleId>
              </a:tblPr>
              <a:tblGrid>
                <a:gridCol w="1707075"/>
                <a:gridCol w="2041050"/>
              </a:tblGrid>
              <a:tr h="798450">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ALGORITHM</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TIME OF FEATURE </a:t>
                      </a:r>
                      <a:endParaRPr b="1" sz="1200" u="none" cap="none" strike="noStrike">
                        <a:latin typeface="Georgia"/>
                        <a:ea typeface="Georgia"/>
                        <a:cs typeface="Georgia"/>
                        <a:sym typeface="Georgia"/>
                      </a:endParaRPr>
                    </a:p>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EXTRACTION</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BRISK</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0.313587</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FAST</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0.074147</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HARRIS</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0.0853465</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KAZE</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4.763558</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MINEIGEN</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0.91857</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MSER</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1.010411</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ORB</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0.148321</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SURF</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0.334866</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13" name="Google Shape;113;p17" title="Chart"/>
          <p:cNvPicPr preferRelativeResize="0"/>
          <p:nvPr/>
        </p:nvPicPr>
        <p:blipFill rotWithShape="1">
          <a:blip r:embed="rId3">
            <a:alphaModFix/>
          </a:blip>
          <a:srcRect b="0" l="0" r="0" t="0"/>
          <a:stretch/>
        </p:blipFill>
        <p:spPr>
          <a:xfrm>
            <a:off x="4269700" y="1416625"/>
            <a:ext cx="4553525" cy="3314950"/>
          </a:xfrm>
          <a:prstGeom prst="rect">
            <a:avLst/>
          </a:prstGeom>
          <a:noFill/>
          <a:ln>
            <a:noFill/>
          </a:ln>
        </p:spPr>
      </p:pic>
      <p:sp>
        <p:nvSpPr>
          <p:cNvPr id="114" name="Google Shape;114;p17"/>
          <p:cNvSpPr txBox="1"/>
          <p:nvPr/>
        </p:nvSpPr>
        <p:spPr>
          <a:xfrm>
            <a:off x="239875" y="118075"/>
            <a:ext cx="41235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GB" sz="1700" u="none" cap="none" strike="noStrike">
                <a:solidFill>
                  <a:srgbClr val="000000"/>
                </a:solidFill>
                <a:latin typeface="Georgia"/>
                <a:ea typeface="Georgia"/>
                <a:cs typeface="Georgia"/>
                <a:sym typeface="Georgia"/>
              </a:rPr>
              <a:t>Time of feature extraction </a:t>
            </a:r>
            <a:endParaRPr b="1" i="0" sz="1700" u="none" cap="none" strike="noStrike">
              <a:solidFill>
                <a:srgbClr val="000000"/>
              </a:solidFill>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18"/>
          <p:cNvPicPr preferRelativeResize="0"/>
          <p:nvPr/>
        </p:nvPicPr>
        <p:blipFill rotWithShape="1">
          <a:blip r:embed="rId3">
            <a:alphaModFix/>
          </a:blip>
          <a:srcRect b="0" l="0" r="0" t="0"/>
          <a:stretch/>
        </p:blipFill>
        <p:spPr>
          <a:xfrm>
            <a:off x="1" y="1185575"/>
            <a:ext cx="3122976" cy="2772356"/>
          </a:xfrm>
          <a:prstGeom prst="rect">
            <a:avLst/>
          </a:prstGeom>
          <a:noFill/>
          <a:ln>
            <a:noFill/>
          </a:ln>
        </p:spPr>
      </p:pic>
      <p:pic>
        <p:nvPicPr>
          <p:cNvPr id="120" name="Google Shape;120;p18"/>
          <p:cNvPicPr preferRelativeResize="0"/>
          <p:nvPr/>
        </p:nvPicPr>
        <p:blipFill rotWithShape="1">
          <a:blip r:embed="rId4">
            <a:alphaModFix/>
          </a:blip>
          <a:srcRect b="0" l="0" r="0" t="0"/>
          <a:stretch/>
        </p:blipFill>
        <p:spPr>
          <a:xfrm>
            <a:off x="6021021" y="1185575"/>
            <a:ext cx="3122976" cy="2772349"/>
          </a:xfrm>
          <a:prstGeom prst="rect">
            <a:avLst/>
          </a:prstGeom>
          <a:noFill/>
          <a:ln>
            <a:noFill/>
          </a:ln>
        </p:spPr>
      </p:pic>
      <p:pic>
        <p:nvPicPr>
          <p:cNvPr id="121" name="Google Shape;121;p18"/>
          <p:cNvPicPr preferRelativeResize="0"/>
          <p:nvPr/>
        </p:nvPicPr>
        <p:blipFill rotWithShape="1">
          <a:blip r:embed="rId5">
            <a:alphaModFix/>
          </a:blip>
          <a:srcRect b="0" l="0" r="0" t="0"/>
          <a:stretch/>
        </p:blipFill>
        <p:spPr>
          <a:xfrm>
            <a:off x="3010512" y="1185575"/>
            <a:ext cx="3122976" cy="2772354"/>
          </a:xfrm>
          <a:prstGeom prst="rect">
            <a:avLst/>
          </a:prstGeom>
          <a:noFill/>
          <a:ln>
            <a:noFill/>
          </a:ln>
        </p:spPr>
      </p:pic>
      <p:sp>
        <p:nvSpPr>
          <p:cNvPr id="122" name="Google Shape;122;p18"/>
          <p:cNvSpPr txBox="1"/>
          <p:nvPr/>
        </p:nvSpPr>
        <p:spPr>
          <a:xfrm>
            <a:off x="474125" y="3859600"/>
            <a:ext cx="2428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Open Sans"/>
                <a:ea typeface="Open Sans"/>
                <a:cs typeface="Open Sans"/>
                <a:sym typeface="Open Sans"/>
              </a:rPr>
              <a:t>Feature extraction using </a:t>
            </a:r>
            <a:r>
              <a:rPr b="1" i="0" lang="en-GB" sz="1400" u="none" cap="none" strike="noStrike">
                <a:solidFill>
                  <a:srgbClr val="000000"/>
                </a:solidFill>
                <a:latin typeface="Open Sans"/>
                <a:ea typeface="Open Sans"/>
                <a:cs typeface="Open Sans"/>
                <a:sym typeface="Open Sans"/>
              </a:rPr>
              <a:t>KAZE</a:t>
            </a:r>
            <a:r>
              <a:rPr b="0" i="0" lang="en-GB" sz="1400" u="none" cap="none" strike="noStrike">
                <a:solidFill>
                  <a:srgbClr val="000000"/>
                </a:solidFill>
                <a:latin typeface="Open Sans"/>
                <a:ea typeface="Open Sans"/>
                <a:cs typeface="Open Sans"/>
                <a:sym typeface="Open Sans"/>
              </a:rPr>
              <a:t> method</a:t>
            </a:r>
            <a:endParaRPr b="0" i="0" sz="1400" u="none" cap="none" strike="noStrike">
              <a:solidFill>
                <a:srgbClr val="000000"/>
              </a:solidFill>
              <a:latin typeface="Open Sans"/>
              <a:ea typeface="Open Sans"/>
              <a:cs typeface="Open Sans"/>
              <a:sym typeface="Open Sans"/>
            </a:endParaRPr>
          </a:p>
        </p:txBody>
      </p:sp>
      <p:sp>
        <p:nvSpPr>
          <p:cNvPr id="123" name="Google Shape;123;p18"/>
          <p:cNvSpPr txBox="1"/>
          <p:nvPr/>
        </p:nvSpPr>
        <p:spPr>
          <a:xfrm>
            <a:off x="3333225" y="3907900"/>
            <a:ext cx="2424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Open Sans"/>
                <a:ea typeface="Open Sans"/>
                <a:cs typeface="Open Sans"/>
                <a:sym typeface="Open Sans"/>
              </a:rPr>
              <a:t>Feature extraction using </a:t>
            </a:r>
            <a:r>
              <a:rPr b="1" i="0" lang="en-GB" sz="1400" u="none" cap="none" strike="noStrike">
                <a:solidFill>
                  <a:srgbClr val="000000"/>
                </a:solidFill>
                <a:latin typeface="Open Sans"/>
                <a:ea typeface="Open Sans"/>
                <a:cs typeface="Open Sans"/>
                <a:sym typeface="Open Sans"/>
              </a:rPr>
              <a:t>ORB</a:t>
            </a:r>
            <a:r>
              <a:rPr b="0" i="0" lang="en-GB" sz="1400" u="none" cap="none" strike="noStrike">
                <a:solidFill>
                  <a:srgbClr val="000000"/>
                </a:solidFill>
                <a:latin typeface="Open Sans"/>
                <a:ea typeface="Open Sans"/>
                <a:cs typeface="Open Sans"/>
                <a:sym typeface="Open Sans"/>
              </a:rPr>
              <a:t> method</a:t>
            </a:r>
            <a:endParaRPr b="0" i="0" sz="1400" u="none" cap="none" strike="noStrike">
              <a:solidFill>
                <a:srgbClr val="000000"/>
              </a:solidFill>
              <a:latin typeface="Open Sans"/>
              <a:ea typeface="Open Sans"/>
              <a:cs typeface="Open Sans"/>
              <a:sym typeface="Open Sans"/>
            </a:endParaRPr>
          </a:p>
        </p:txBody>
      </p:sp>
      <p:sp>
        <p:nvSpPr>
          <p:cNvPr id="124" name="Google Shape;124;p18"/>
          <p:cNvSpPr txBox="1"/>
          <p:nvPr/>
        </p:nvSpPr>
        <p:spPr>
          <a:xfrm>
            <a:off x="6350350" y="3907900"/>
            <a:ext cx="2255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Open Sans"/>
                <a:ea typeface="Open Sans"/>
                <a:cs typeface="Open Sans"/>
                <a:sym typeface="Open Sans"/>
              </a:rPr>
              <a:t>Feature extraction using </a:t>
            </a:r>
            <a:r>
              <a:rPr b="1" i="0" lang="en-GB" sz="1400" u="none" cap="none" strike="noStrike">
                <a:solidFill>
                  <a:srgbClr val="000000"/>
                </a:solidFill>
                <a:latin typeface="Open Sans"/>
                <a:ea typeface="Open Sans"/>
                <a:cs typeface="Open Sans"/>
                <a:sym typeface="Open Sans"/>
              </a:rPr>
              <a:t>SURF </a:t>
            </a:r>
            <a:r>
              <a:rPr b="0" i="0" lang="en-GB" sz="1400" u="none" cap="none" strike="noStrike">
                <a:solidFill>
                  <a:srgbClr val="000000"/>
                </a:solidFill>
                <a:latin typeface="Open Sans"/>
                <a:ea typeface="Open Sans"/>
                <a:cs typeface="Open Sans"/>
                <a:sym typeface="Open Sans"/>
              </a:rPr>
              <a:t>method</a:t>
            </a:r>
            <a:endParaRPr b="0" i="0" sz="1400" u="none" cap="none" strike="noStrike">
              <a:solidFill>
                <a:srgbClr val="000000"/>
              </a:solidFill>
              <a:latin typeface="Open Sans"/>
              <a:ea typeface="Open Sans"/>
              <a:cs typeface="Open Sans"/>
              <a:sym typeface="Open Sans"/>
            </a:endParaRPr>
          </a:p>
        </p:txBody>
      </p:sp>
      <p:sp>
        <p:nvSpPr>
          <p:cNvPr id="125" name="Google Shape;125;p18"/>
          <p:cNvSpPr txBox="1"/>
          <p:nvPr/>
        </p:nvSpPr>
        <p:spPr>
          <a:xfrm>
            <a:off x="474125" y="344825"/>
            <a:ext cx="57183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GB" sz="1700" u="none" cap="none" strike="noStrike">
                <a:solidFill>
                  <a:srgbClr val="000000"/>
                </a:solidFill>
                <a:latin typeface="Open Sans"/>
                <a:ea typeface="Open Sans"/>
                <a:cs typeface="Open Sans"/>
                <a:sym typeface="Open Sans"/>
              </a:rPr>
              <a:t>Extracted feature points using different methods</a:t>
            </a:r>
            <a:endParaRPr b="1" i="0" sz="1700" u="none" cap="none" strike="noStrike">
              <a:solidFill>
                <a:srgbClr val="000000"/>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idx="1" type="body"/>
          </p:nvPr>
        </p:nvSpPr>
        <p:spPr>
          <a:xfrm>
            <a:off x="457200" y="136300"/>
            <a:ext cx="7973700" cy="445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018"/>
              <a:buNone/>
            </a:pPr>
            <a:r>
              <a:rPr b="1" lang="en-GB" sz="1125">
                <a:solidFill>
                  <a:srgbClr val="000000"/>
                </a:solidFill>
                <a:latin typeface="Georgia"/>
                <a:ea typeface="Georgia"/>
                <a:cs typeface="Georgia"/>
                <a:sym typeface="Georgia"/>
              </a:rPr>
              <a:t>TILT - FEATURE EXTRACTION METHOD VS TIME</a:t>
            </a:r>
            <a:endParaRPr sz="1865">
              <a:solidFill>
                <a:srgbClr val="000000"/>
              </a:solidFill>
            </a:endParaRPr>
          </a:p>
        </p:txBody>
      </p:sp>
      <p:graphicFrame>
        <p:nvGraphicFramePr>
          <p:cNvPr id="131" name="Google Shape;131;p19"/>
          <p:cNvGraphicFramePr/>
          <p:nvPr/>
        </p:nvGraphicFramePr>
        <p:xfrm>
          <a:off x="275200" y="916425"/>
          <a:ext cx="3000000" cy="3000000"/>
        </p:xfrm>
        <a:graphic>
          <a:graphicData uri="http://schemas.openxmlformats.org/drawingml/2006/table">
            <a:tbl>
              <a:tblPr>
                <a:noFill/>
                <a:tableStyleId>{EC35E526-5509-4F24-A19E-E588A0B576BC}</a:tableStyleId>
              </a:tblPr>
              <a:tblGrid>
                <a:gridCol w="745400"/>
                <a:gridCol w="907700"/>
                <a:gridCol w="879800"/>
                <a:gridCol w="742500"/>
              </a:tblGrid>
              <a:tr h="341700">
                <a:tc gridSpan="4">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TILT - FEATURE EXTRACTION METHOD VS TIME</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r>
              <a:tr h="465725">
                <a:tc>
                  <a:txBody>
                    <a:bodyPr/>
                    <a:lstStyle/>
                    <a:p>
                      <a:pPr indent="0" lvl="0" marL="0" marR="0" rtl="0" algn="ctr">
                        <a:lnSpc>
                          <a:spcPct val="115000"/>
                        </a:lnSpc>
                        <a:spcBef>
                          <a:spcPts val="0"/>
                        </a:spcBef>
                        <a:spcAft>
                          <a:spcPts val="0"/>
                        </a:spcAft>
                        <a:buClr>
                          <a:srgbClr val="000000"/>
                        </a:buClr>
                        <a:buSzPts val="900"/>
                        <a:buFont typeface="Arial"/>
                        <a:buNone/>
                      </a:pPr>
                      <a:r>
                        <a:rPr b="1" lang="en-GB" sz="900" u="none" cap="none" strike="noStrike">
                          <a:latin typeface="Georgia"/>
                          <a:ea typeface="Georgia"/>
                          <a:cs typeface="Georgia"/>
                          <a:sym typeface="Georgia"/>
                        </a:rPr>
                        <a:t>ALGORITHM/TILT ANGLE</a:t>
                      </a:r>
                      <a:endParaRPr sz="9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45* TILT</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90* TILT</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 TILT</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marR="0" rtl="0" algn="ctr">
                        <a:lnSpc>
                          <a:spcPct val="115000"/>
                        </a:lnSpc>
                        <a:spcBef>
                          <a:spcPts val="0"/>
                        </a:spcBef>
                        <a:spcAft>
                          <a:spcPts val="0"/>
                        </a:spcAft>
                        <a:buClr>
                          <a:srgbClr val="000000"/>
                        </a:buClr>
                        <a:buSzPts val="900"/>
                        <a:buFont typeface="Arial"/>
                        <a:buNone/>
                      </a:pPr>
                      <a:r>
                        <a:rPr b="1" lang="en-GB" sz="900" u="none" cap="none" strike="noStrike">
                          <a:latin typeface="Georgia"/>
                          <a:ea typeface="Georgia"/>
                          <a:cs typeface="Georgia"/>
                          <a:sym typeface="Georgia"/>
                        </a:rPr>
                        <a:t>BRISK</a:t>
                      </a:r>
                      <a:endParaRPr sz="9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0.057429</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0.046397</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0.048213</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marR="0" rtl="0" algn="ctr">
                        <a:lnSpc>
                          <a:spcPct val="115000"/>
                        </a:lnSpc>
                        <a:spcBef>
                          <a:spcPts val="0"/>
                        </a:spcBef>
                        <a:spcAft>
                          <a:spcPts val="0"/>
                        </a:spcAft>
                        <a:buClr>
                          <a:srgbClr val="000000"/>
                        </a:buClr>
                        <a:buSzPts val="900"/>
                        <a:buFont typeface="Arial"/>
                        <a:buNone/>
                      </a:pPr>
                      <a:r>
                        <a:rPr b="1" lang="en-GB" sz="900" u="none" cap="none" strike="noStrike">
                          <a:latin typeface="Georgia"/>
                          <a:ea typeface="Georgia"/>
                          <a:cs typeface="Georgia"/>
                          <a:sym typeface="Georgia"/>
                        </a:rPr>
                        <a:t>FAST</a:t>
                      </a:r>
                      <a:endParaRPr sz="9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0.064922</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0.060837</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0.067189</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marR="0" rtl="0" algn="ctr">
                        <a:lnSpc>
                          <a:spcPct val="115000"/>
                        </a:lnSpc>
                        <a:spcBef>
                          <a:spcPts val="0"/>
                        </a:spcBef>
                        <a:spcAft>
                          <a:spcPts val="0"/>
                        </a:spcAft>
                        <a:buClr>
                          <a:srgbClr val="000000"/>
                        </a:buClr>
                        <a:buSzPts val="900"/>
                        <a:buFont typeface="Arial"/>
                        <a:buNone/>
                      </a:pPr>
                      <a:r>
                        <a:rPr b="1" lang="en-GB" sz="900" u="none" cap="none" strike="noStrike">
                          <a:latin typeface="Georgia"/>
                          <a:ea typeface="Georgia"/>
                          <a:cs typeface="Georgia"/>
                          <a:sym typeface="Georgia"/>
                        </a:rPr>
                        <a:t>HARRIS</a:t>
                      </a:r>
                      <a:endParaRPr sz="9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0.057784</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0.055006</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0.063457</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marR="0" rtl="0" algn="ctr">
                        <a:lnSpc>
                          <a:spcPct val="115000"/>
                        </a:lnSpc>
                        <a:spcBef>
                          <a:spcPts val="0"/>
                        </a:spcBef>
                        <a:spcAft>
                          <a:spcPts val="0"/>
                        </a:spcAft>
                        <a:buClr>
                          <a:srgbClr val="000000"/>
                        </a:buClr>
                        <a:buSzPts val="900"/>
                        <a:buFont typeface="Arial"/>
                        <a:buNone/>
                      </a:pPr>
                      <a:r>
                        <a:rPr b="1" lang="en-GB" sz="900" u="none" cap="none" strike="noStrike">
                          <a:latin typeface="Georgia"/>
                          <a:ea typeface="Georgia"/>
                          <a:cs typeface="Georgia"/>
                          <a:sym typeface="Georgia"/>
                        </a:rPr>
                        <a:t>KAZE</a:t>
                      </a:r>
                      <a:endParaRPr sz="9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0.02712</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0.027696</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0.026556</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marR="0" rtl="0" algn="ctr">
                        <a:lnSpc>
                          <a:spcPct val="115000"/>
                        </a:lnSpc>
                        <a:spcBef>
                          <a:spcPts val="0"/>
                        </a:spcBef>
                        <a:spcAft>
                          <a:spcPts val="0"/>
                        </a:spcAft>
                        <a:buClr>
                          <a:srgbClr val="000000"/>
                        </a:buClr>
                        <a:buSzPts val="900"/>
                        <a:buFont typeface="Arial"/>
                        <a:buNone/>
                      </a:pPr>
                      <a:r>
                        <a:rPr b="1" lang="en-GB" sz="900" u="none" cap="none" strike="noStrike">
                          <a:latin typeface="Georgia"/>
                          <a:ea typeface="Georgia"/>
                          <a:cs typeface="Georgia"/>
                          <a:sym typeface="Georgia"/>
                        </a:rPr>
                        <a:t>MINEIGEN</a:t>
                      </a:r>
                      <a:endParaRPr sz="9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0.053279</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0.050198</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0.05072</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marR="0" rtl="0" algn="ctr">
                        <a:lnSpc>
                          <a:spcPct val="115000"/>
                        </a:lnSpc>
                        <a:spcBef>
                          <a:spcPts val="0"/>
                        </a:spcBef>
                        <a:spcAft>
                          <a:spcPts val="0"/>
                        </a:spcAft>
                        <a:buClr>
                          <a:srgbClr val="000000"/>
                        </a:buClr>
                        <a:buSzPts val="900"/>
                        <a:buFont typeface="Arial"/>
                        <a:buNone/>
                      </a:pPr>
                      <a:r>
                        <a:rPr b="1" lang="en-GB" sz="900" u="none" cap="none" strike="noStrike">
                          <a:latin typeface="Georgia"/>
                          <a:ea typeface="Georgia"/>
                          <a:cs typeface="Georgia"/>
                          <a:sym typeface="Georgia"/>
                        </a:rPr>
                        <a:t>MSER</a:t>
                      </a:r>
                      <a:endParaRPr sz="9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0.029002</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0.031249</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0.029311</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marR="0" rtl="0" algn="ctr">
                        <a:lnSpc>
                          <a:spcPct val="115000"/>
                        </a:lnSpc>
                        <a:spcBef>
                          <a:spcPts val="0"/>
                        </a:spcBef>
                        <a:spcAft>
                          <a:spcPts val="0"/>
                        </a:spcAft>
                        <a:buClr>
                          <a:srgbClr val="000000"/>
                        </a:buClr>
                        <a:buSzPts val="900"/>
                        <a:buFont typeface="Arial"/>
                        <a:buNone/>
                      </a:pPr>
                      <a:r>
                        <a:rPr b="1" lang="en-GB" sz="900" u="none" cap="none" strike="noStrike">
                          <a:latin typeface="Georgia"/>
                          <a:ea typeface="Georgia"/>
                          <a:cs typeface="Georgia"/>
                          <a:sym typeface="Georgia"/>
                        </a:rPr>
                        <a:t>ORB</a:t>
                      </a:r>
                      <a:endParaRPr sz="9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0.06573</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0.064043</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0.05838</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marR="0" rtl="0" algn="ctr">
                        <a:lnSpc>
                          <a:spcPct val="115000"/>
                        </a:lnSpc>
                        <a:spcBef>
                          <a:spcPts val="0"/>
                        </a:spcBef>
                        <a:spcAft>
                          <a:spcPts val="0"/>
                        </a:spcAft>
                        <a:buClr>
                          <a:srgbClr val="000000"/>
                        </a:buClr>
                        <a:buSzPts val="900"/>
                        <a:buFont typeface="Arial"/>
                        <a:buNone/>
                      </a:pPr>
                      <a:r>
                        <a:rPr b="1" lang="en-GB" sz="900" u="none" cap="none" strike="noStrike">
                          <a:latin typeface="Georgia"/>
                          <a:ea typeface="Georgia"/>
                          <a:cs typeface="Georgia"/>
                          <a:sym typeface="Georgia"/>
                        </a:rPr>
                        <a:t>SURF</a:t>
                      </a:r>
                      <a:endParaRPr sz="9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0.039339</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0.03423</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0.044163</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32" name="Google Shape;132;p19" title="Chart"/>
          <p:cNvPicPr preferRelativeResize="0"/>
          <p:nvPr/>
        </p:nvPicPr>
        <p:blipFill rotWithShape="1">
          <a:blip r:embed="rId3">
            <a:alphaModFix/>
          </a:blip>
          <a:srcRect b="0" l="0" r="0" t="0"/>
          <a:stretch/>
        </p:blipFill>
        <p:spPr>
          <a:xfrm>
            <a:off x="3866700" y="916425"/>
            <a:ext cx="5170350" cy="3724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graphicFrame>
        <p:nvGraphicFramePr>
          <p:cNvPr id="137" name="Google Shape;137;p20"/>
          <p:cNvGraphicFramePr/>
          <p:nvPr/>
        </p:nvGraphicFramePr>
        <p:xfrm>
          <a:off x="109275" y="827675"/>
          <a:ext cx="3000000" cy="3000000"/>
        </p:xfrm>
        <a:graphic>
          <a:graphicData uri="http://schemas.openxmlformats.org/drawingml/2006/table">
            <a:tbl>
              <a:tblPr>
                <a:noFill/>
                <a:tableStyleId>{EC35E526-5509-4F24-A19E-E588A0B576BC}</a:tableStyleId>
              </a:tblPr>
              <a:tblGrid>
                <a:gridCol w="917375"/>
                <a:gridCol w="947475"/>
                <a:gridCol w="1022650"/>
                <a:gridCol w="992550"/>
              </a:tblGrid>
              <a:tr h="670150">
                <a:tc gridSpan="4">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TILT - FEATURE EXTRACTION METHOD VS MATCHED POINT</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r>
              <a:tr h="378300">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Algorithm</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45* Tilt</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90* Tilt</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0* Tilt</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BRISK</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35</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47</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496</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FAST</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25</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118</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483</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HARRIS</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3</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31</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498</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KAZE</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44</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41</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500</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MinEigen</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3</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46</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500</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MSER</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140</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193</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463</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ORB</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41</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41</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500</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SURF</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142</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327</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500</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38" name="Google Shape;138;p20" title="Chart"/>
          <p:cNvPicPr preferRelativeResize="0"/>
          <p:nvPr/>
        </p:nvPicPr>
        <p:blipFill rotWithShape="1">
          <a:blip r:embed="rId3">
            <a:alphaModFix/>
          </a:blip>
          <a:srcRect b="0" l="0" r="0" t="0"/>
          <a:stretch/>
        </p:blipFill>
        <p:spPr>
          <a:xfrm>
            <a:off x="4065950" y="1069925"/>
            <a:ext cx="5078050" cy="3720050"/>
          </a:xfrm>
          <a:prstGeom prst="rect">
            <a:avLst/>
          </a:prstGeom>
          <a:noFill/>
          <a:ln>
            <a:noFill/>
          </a:ln>
        </p:spPr>
      </p:pic>
      <p:sp>
        <p:nvSpPr>
          <p:cNvPr id="139" name="Google Shape;139;p20"/>
          <p:cNvSpPr txBox="1"/>
          <p:nvPr/>
        </p:nvSpPr>
        <p:spPr>
          <a:xfrm>
            <a:off x="582450" y="246825"/>
            <a:ext cx="78189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300"/>
              <a:buFont typeface="Arial"/>
              <a:buNone/>
            </a:pPr>
            <a:r>
              <a:rPr b="1" i="0" lang="en-GB" sz="1300" u="none" cap="none" strike="noStrike">
                <a:solidFill>
                  <a:srgbClr val="000000"/>
                </a:solidFill>
                <a:latin typeface="Georgia"/>
                <a:ea typeface="Georgia"/>
                <a:cs typeface="Georgia"/>
                <a:sym typeface="Georgia"/>
              </a:rPr>
              <a:t>TILT - FEATURE EXTRACTION METHOD VS MATCHED POINT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1"/>
          <p:cNvPicPr preferRelativeResize="0"/>
          <p:nvPr/>
        </p:nvPicPr>
        <p:blipFill rotWithShape="1">
          <a:blip r:embed="rId3">
            <a:alphaModFix/>
          </a:blip>
          <a:srcRect b="0" l="0" r="0" t="0"/>
          <a:stretch/>
        </p:blipFill>
        <p:spPr>
          <a:xfrm>
            <a:off x="69425" y="362500"/>
            <a:ext cx="5102827" cy="2503275"/>
          </a:xfrm>
          <a:prstGeom prst="rect">
            <a:avLst/>
          </a:prstGeom>
          <a:noFill/>
          <a:ln>
            <a:noFill/>
          </a:ln>
        </p:spPr>
      </p:pic>
      <p:sp>
        <p:nvSpPr>
          <p:cNvPr id="145" name="Google Shape;145;p21"/>
          <p:cNvSpPr txBox="1"/>
          <p:nvPr/>
        </p:nvSpPr>
        <p:spPr>
          <a:xfrm>
            <a:off x="5086050" y="1106300"/>
            <a:ext cx="3634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Open Sans"/>
                <a:ea typeface="Open Sans"/>
                <a:cs typeface="Open Sans"/>
                <a:sym typeface="Open Sans"/>
              </a:rPr>
              <a:t>Feature point cross matching using </a:t>
            </a:r>
            <a:r>
              <a:rPr b="1" i="0" lang="en-GB" sz="1400" u="none" cap="none" strike="noStrike">
                <a:solidFill>
                  <a:srgbClr val="000000"/>
                </a:solidFill>
                <a:latin typeface="Open Sans"/>
                <a:ea typeface="Open Sans"/>
                <a:cs typeface="Open Sans"/>
                <a:sym typeface="Open Sans"/>
              </a:rPr>
              <a:t>BRISK</a:t>
            </a:r>
            <a:r>
              <a:rPr b="0" i="0" lang="en-GB" sz="1400" u="none" cap="none" strike="noStrike">
                <a:solidFill>
                  <a:srgbClr val="000000"/>
                </a:solidFill>
                <a:latin typeface="Open Sans"/>
                <a:ea typeface="Open Sans"/>
                <a:cs typeface="Open Sans"/>
                <a:sym typeface="Open Sans"/>
              </a:rPr>
              <a:t> method at a tilt of 90 degree</a:t>
            </a:r>
            <a:endParaRPr b="0" i="0" sz="1400" u="none" cap="none" strike="noStrike">
              <a:solidFill>
                <a:srgbClr val="000000"/>
              </a:solidFill>
              <a:latin typeface="Open Sans"/>
              <a:ea typeface="Open Sans"/>
              <a:cs typeface="Open Sans"/>
              <a:sym typeface="Open Sans"/>
            </a:endParaRPr>
          </a:p>
        </p:txBody>
      </p:sp>
      <p:pic>
        <p:nvPicPr>
          <p:cNvPr id="146" name="Google Shape;146;p21"/>
          <p:cNvPicPr preferRelativeResize="0"/>
          <p:nvPr/>
        </p:nvPicPr>
        <p:blipFill rotWithShape="1">
          <a:blip r:embed="rId4">
            <a:alphaModFix/>
          </a:blip>
          <a:srcRect b="0" l="0" r="0" t="0"/>
          <a:stretch/>
        </p:blipFill>
        <p:spPr>
          <a:xfrm>
            <a:off x="69425" y="2571750"/>
            <a:ext cx="5102827" cy="2406175"/>
          </a:xfrm>
          <a:prstGeom prst="rect">
            <a:avLst/>
          </a:prstGeom>
          <a:noFill/>
          <a:ln>
            <a:noFill/>
          </a:ln>
        </p:spPr>
      </p:pic>
      <p:sp>
        <p:nvSpPr>
          <p:cNvPr id="147" name="Google Shape;147;p21"/>
          <p:cNvSpPr txBox="1"/>
          <p:nvPr/>
        </p:nvSpPr>
        <p:spPr>
          <a:xfrm>
            <a:off x="5258450" y="3390675"/>
            <a:ext cx="346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Open Sans"/>
                <a:ea typeface="Open Sans"/>
                <a:cs typeface="Open Sans"/>
                <a:sym typeface="Open Sans"/>
              </a:rPr>
              <a:t>Feature point cross matching using </a:t>
            </a:r>
            <a:r>
              <a:rPr b="1" i="0" lang="en-GB" sz="1400" u="none" cap="none" strike="noStrike">
                <a:solidFill>
                  <a:srgbClr val="000000"/>
                </a:solidFill>
                <a:latin typeface="Open Sans"/>
                <a:ea typeface="Open Sans"/>
                <a:cs typeface="Open Sans"/>
                <a:sym typeface="Open Sans"/>
              </a:rPr>
              <a:t>SURF </a:t>
            </a:r>
            <a:r>
              <a:rPr b="0" i="0" lang="en-GB" sz="1400" u="none" cap="none" strike="noStrike">
                <a:solidFill>
                  <a:srgbClr val="000000"/>
                </a:solidFill>
                <a:latin typeface="Open Sans"/>
                <a:ea typeface="Open Sans"/>
                <a:cs typeface="Open Sans"/>
                <a:sym typeface="Open Sans"/>
              </a:rPr>
              <a:t>method at a tilt of 45 degree</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graphicFrame>
        <p:nvGraphicFramePr>
          <p:cNvPr id="152" name="Google Shape;152;p22"/>
          <p:cNvGraphicFramePr/>
          <p:nvPr/>
        </p:nvGraphicFramePr>
        <p:xfrm>
          <a:off x="138025" y="1459175"/>
          <a:ext cx="3000000" cy="3000000"/>
        </p:xfrm>
        <a:graphic>
          <a:graphicData uri="http://schemas.openxmlformats.org/drawingml/2006/table">
            <a:tbl>
              <a:tblPr>
                <a:noFill/>
                <a:tableStyleId>{EC35E526-5509-4F24-A19E-E588A0B576BC}</a:tableStyleId>
              </a:tblPr>
              <a:tblGrid>
                <a:gridCol w="855950"/>
                <a:gridCol w="887275"/>
                <a:gridCol w="824650"/>
                <a:gridCol w="1043850"/>
              </a:tblGrid>
              <a:tr h="545975">
                <a:tc gridSpan="4">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NOISE - FEATURE EXTRACTION METHOD VS TIME</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r>
              <a:tr h="519550">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ALGORITHM</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MEDIAN NOISE</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Gauss Noise</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Dust and scratch</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BRISK</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0.048426</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0.044872</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0.041388</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FAST</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0.047351</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0.041478</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0.04614</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HARRIS</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0.054686</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0.05249</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0.05528</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KAZE</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0.025917</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0.026505</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0.027484</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MINEIGEN</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0.054124</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0.051961</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0.050279</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MSER</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0.030573</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0.035674</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0.037759</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ORB</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0.060046</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0.065243</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0.066454</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SURF</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0.037223</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0.033108</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0.038761</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53" name="Google Shape;153;p22" title="Chart"/>
          <p:cNvPicPr preferRelativeResize="0"/>
          <p:nvPr/>
        </p:nvPicPr>
        <p:blipFill rotWithShape="1">
          <a:blip r:embed="rId3">
            <a:alphaModFix/>
          </a:blip>
          <a:srcRect b="0" l="0" r="0" t="0"/>
          <a:stretch/>
        </p:blipFill>
        <p:spPr>
          <a:xfrm>
            <a:off x="3836075" y="1379275"/>
            <a:ext cx="5157875" cy="3611025"/>
          </a:xfrm>
          <a:prstGeom prst="rect">
            <a:avLst/>
          </a:prstGeom>
          <a:noFill/>
          <a:ln>
            <a:noFill/>
          </a:ln>
        </p:spPr>
      </p:pic>
      <p:sp>
        <p:nvSpPr>
          <p:cNvPr id="154" name="Google Shape;154;p22"/>
          <p:cNvSpPr txBox="1"/>
          <p:nvPr/>
        </p:nvSpPr>
        <p:spPr>
          <a:xfrm>
            <a:off x="612075" y="493625"/>
            <a:ext cx="7473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400"/>
              <a:buFont typeface="Arial"/>
              <a:buNone/>
            </a:pPr>
            <a:r>
              <a:rPr b="1" i="0" lang="en-GB" sz="1400" u="none" cap="none" strike="noStrike">
                <a:solidFill>
                  <a:srgbClr val="000000"/>
                </a:solidFill>
                <a:latin typeface="Georgia"/>
                <a:ea typeface="Georgia"/>
                <a:cs typeface="Georgia"/>
                <a:sym typeface="Georgia"/>
              </a:rPr>
              <a:t>NOISE - FEATURE EXTRACTION METHOD VS TIME</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graphicFrame>
        <p:nvGraphicFramePr>
          <p:cNvPr id="159" name="Google Shape;159;p23"/>
          <p:cNvGraphicFramePr/>
          <p:nvPr/>
        </p:nvGraphicFramePr>
        <p:xfrm>
          <a:off x="109300" y="1273050"/>
          <a:ext cx="3000000" cy="3000000"/>
        </p:xfrm>
        <a:graphic>
          <a:graphicData uri="http://schemas.openxmlformats.org/drawingml/2006/table">
            <a:tbl>
              <a:tblPr>
                <a:noFill/>
                <a:tableStyleId>{EC35E526-5509-4F24-A19E-E588A0B576BC}</a:tableStyleId>
              </a:tblPr>
              <a:tblGrid>
                <a:gridCol w="779750"/>
                <a:gridCol w="886775"/>
                <a:gridCol w="1070250"/>
                <a:gridCol w="1207875"/>
              </a:tblGrid>
              <a:tr h="577250">
                <a:tc gridSpan="4">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NOISE - FEATURE EXTRACTION METHOD VS MATCHED POINT</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r>
              <a:tr h="577250">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Algorithm</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Median Noise</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Gauss Noise</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Dust and scratch</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BRISK</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15</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103</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13</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FAST</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20</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HARRIS</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4</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9</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2</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KAZE</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28</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162</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49</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MinEigen</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2</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3</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3</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MSER</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18</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12</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14</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ORB</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34</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8</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34</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marR="0" rtl="0" algn="ctr">
                        <a:lnSpc>
                          <a:spcPct val="115000"/>
                        </a:lnSpc>
                        <a:spcBef>
                          <a:spcPts val="0"/>
                        </a:spcBef>
                        <a:spcAft>
                          <a:spcPts val="0"/>
                        </a:spcAft>
                        <a:buClr>
                          <a:srgbClr val="000000"/>
                        </a:buClr>
                        <a:buSzPts val="1000"/>
                        <a:buFont typeface="Arial"/>
                        <a:buNone/>
                      </a:pPr>
                      <a:r>
                        <a:rPr b="1" lang="en-GB" sz="1000" u="none" cap="none" strike="noStrike">
                          <a:latin typeface="Georgia"/>
                          <a:ea typeface="Georgia"/>
                          <a:cs typeface="Georgia"/>
                          <a:sym typeface="Georgia"/>
                        </a:rPr>
                        <a:t>SURF</a:t>
                      </a:r>
                      <a:endParaRPr sz="10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94</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259</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94</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60" name="Google Shape;160;p23" title="Chart"/>
          <p:cNvPicPr preferRelativeResize="0"/>
          <p:nvPr/>
        </p:nvPicPr>
        <p:blipFill rotWithShape="1">
          <a:blip r:embed="rId3">
            <a:alphaModFix/>
          </a:blip>
          <a:srcRect b="0" l="0" r="0" t="0"/>
          <a:stretch/>
        </p:blipFill>
        <p:spPr>
          <a:xfrm>
            <a:off x="4148900" y="1336150"/>
            <a:ext cx="4846875" cy="3476900"/>
          </a:xfrm>
          <a:prstGeom prst="rect">
            <a:avLst/>
          </a:prstGeom>
          <a:noFill/>
          <a:ln>
            <a:noFill/>
          </a:ln>
        </p:spPr>
      </p:pic>
      <p:sp>
        <p:nvSpPr>
          <p:cNvPr id="161" name="Google Shape;161;p23"/>
          <p:cNvSpPr txBox="1"/>
          <p:nvPr/>
        </p:nvSpPr>
        <p:spPr>
          <a:xfrm>
            <a:off x="424500" y="345550"/>
            <a:ext cx="83223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300"/>
              <a:buFont typeface="Arial"/>
              <a:buNone/>
            </a:pPr>
            <a:r>
              <a:rPr b="1" i="0" lang="en-GB" sz="1300" u="none" cap="none" strike="noStrike">
                <a:solidFill>
                  <a:srgbClr val="000000"/>
                </a:solidFill>
                <a:latin typeface="Georgia"/>
                <a:ea typeface="Georgia"/>
                <a:cs typeface="Georgia"/>
                <a:sym typeface="Georgia"/>
              </a:rPr>
              <a:t>NOISE - FEATURE EXTRACTION METHOD VS MATCHED POINT</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4"/>
          <p:cNvPicPr preferRelativeResize="0"/>
          <p:nvPr/>
        </p:nvPicPr>
        <p:blipFill rotWithShape="1">
          <a:blip r:embed="rId3">
            <a:alphaModFix/>
          </a:blip>
          <a:srcRect b="0" l="0" r="0" t="0"/>
          <a:stretch/>
        </p:blipFill>
        <p:spPr>
          <a:xfrm>
            <a:off x="152400" y="152400"/>
            <a:ext cx="5023752" cy="2464475"/>
          </a:xfrm>
          <a:prstGeom prst="rect">
            <a:avLst/>
          </a:prstGeom>
          <a:noFill/>
          <a:ln>
            <a:noFill/>
          </a:ln>
        </p:spPr>
      </p:pic>
      <p:sp>
        <p:nvSpPr>
          <p:cNvPr id="167" name="Google Shape;167;p24"/>
          <p:cNvSpPr txBox="1"/>
          <p:nvPr/>
        </p:nvSpPr>
        <p:spPr>
          <a:xfrm>
            <a:off x="4912900" y="872300"/>
            <a:ext cx="39543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Open Sans"/>
                <a:ea typeface="Open Sans"/>
                <a:cs typeface="Open Sans"/>
                <a:sym typeface="Open Sans"/>
              </a:rPr>
              <a:t>Feature point cross matching using </a:t>
            </a:r>
            <a:r>
              <a:rPr b="1" i="0" lang="en-GB" sz="1400" u="none" cap="none" strike="noStrike">
                <a:solidFill>
                  <a:srgbClr val="000000"/>
                </a:solidFill>
                <a:latin typeface="Open Sans"/>
                <a:ea typeface="Open Sans"/>
                <a:cs typeface="Open Sans"/>
                <a:sym typeface="Open Sans"/>
              </a:rPr>
              <a:t>ORB</a:t>
            </a:r>
            <a:r>
              <a:rPr b="0" i="0" lang="en-GB" sz="1400" u="none" cap="none" strike="noStrike">
                <a:solidFill>
                  <a:srgbClr val="000000"/>
                </a:solidFill>
                <a:latin typeface="Open Sans"/>
                <a:ea typeface="Open Sans"/>
                <a:cs typeface="Open Sans"/>
                <a:sym typeface="Open Sans"/>
              </a:rPr>
              <a:t> method for median noise</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pic>
        <p:nvPicPr>
          <p:cNvPr id="168" name="Google Shape;168;p24"/>
          <p:cNvPicPr preferRelativeResize="0"/>
          <p:nvPr/>
        </p:nvPicPr>
        <p:blipFill rotWithShape="1">
          <a:blip r:embed="rId4">
            <a:alphaModFix/>
          </a:blip>
          <a:srcRect b="0" l="0" r="0" t="0"/>
          <a:stretch/>
        </p:blipFill>
        <p:spPr>
          <a:xfrm>
            <a:off x="332875" y="2769275"/>
            <a:ext cx="4529105" cy="2221825"/>
          </a:xfrm>
          <a:prstGeom prst="rect">
            <a:avLst/>
          </a:prstGeom>
          <a:noFill/>
          <a:ln>
            <a:noFill/>
          </a:ln>
        </p:spPr>
      </p:pic>
      <p:sp>
        <p:nvSpPr>
          <p:cNvPr id="169" name="Google Shape;169;p24"/>
          <p:cNvSpPr txBox="1"/>
          <p:nvPr/>
        </p:nvSpPr>
        <p:spPr>
          <a:xfrm>
            <a:off x="5143500" y="2959675"/>
            <a:ext cx="3721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Open Sans"/>
                <a:ea typeface="Open Sans"/>
                <a:cs typeface="Open Sans"/>
                <a:sym typeface="Open Sans"/>
              </a:rPr>
              <a:t>Feature point cross matching using </a:t>
            </a:r>
            <a:r>
              <a:rPr b="1" i="0" lang="en-GB" sz="1400" u="none" cap="none" strike="noStrike">
                <a:solidFill>
                  <a:srgbClr val="000000"/>
                </a:solidFill>
                <a:latin typeface="Open Sans"/>
                <a:ea typeface="Open Sans"/>
                <a:cs typeface="Open Sans"/>
                <a:sym typeface="Open Sans"/>
              </a:rPr>
              <a:t>SURF</a:t>
            </a:r>
            <a:r>
              <a:rPr b="0" i="0" lang="en-GB" sz="1400" u="none" cap="none" strike="noStrike">
                <a:solidFill>
                  <a:srgbClr val="000000"/>
                </a:solidFill>
                <a:latin typeface="Open Sans"/>
                <a:ea typeface="Open Sans"/>
                <a:cs typeface="Open Sans"/>
                <a:sym typeface="Open Sans"/>
              </a:rPr>
              <a:t> method for gaussian noise</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graphicFrame>
        <p:nvGraphicFramePr>
          <p:cNvPr id="174" name="Google Shape;174;p25"/>
          <p:cNvGraphicFramePr/>
          <p:nvPr/>
        </p:nvGraphicFramePr>
        <p:xfrm>
          <a:off x="94925" y="1389600"/>
          <a:ext cx="3000000" cy="3000000"/>
        </p:xfrm>
        <a:graphic>
          <a:graphicData uri="http://schemas.openxmlformats.org/drawingml/2006/table">
            <a:tbl>
              <a:tblPr>
                <a:noFill/>
                <a:tableStyleId>{EC35E526-5509-4F24-A19E-E588A0B576BC}</a:tableStyleId>
              </a:tblPr>
              <a:tblGrid>
                <a:gridCol w="1016650"/>
                <a:gridCol w="779425"/>
                <a:gridCol w="756825"/>
                <a:gridCol w="768125"/>
                <a:gridCol w="756825"/>
              </a:tblGrid>
              <a:tr h="288800">
                <a:tc gridSpan="5">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SCALED - FEATURE EXTRACTION METHOD VS TIME</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c hMerge="1"/>
              </a:tr>
              <a:tr h="744775">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ALGORITHM/SCALED FACTOR</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120% SCALE</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150% scale</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170% scale</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190% scale</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BRISK</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0.0439</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0.04487</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0.049317</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0.042299</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FAST</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0.046347</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0.043665</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0.047194</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0.047015</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HARRIS</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0.059786</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0.052826</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0.053238</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0.053117</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KAZE</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0.026761</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0.028547</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0.026327</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0.025562</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MinEigen</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0.051124</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0.049958</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0.052885</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0.051355</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516775">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MSER</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0.042234</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0.041882</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0.030799</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0.030086</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ORB</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0.062399</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0.063155</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0.070053</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0.064498</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SURF</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0.037279</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0.034314</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0.038728</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GB" sz="1100" u="none" cap="none" strike="noStrike">
                          <a:latin typeface="Georgia"/>
                          <a:ea typeface="Georgia"/>
                          <a:cs typeface="Georgia"/>
                          <a:sym typeface="Georgia"/>
                        </a:rPr>
                        <a:t>0.035153</a:t>
                      </a:r>
                      <a:endParaRPr sz="11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75" name="Google Shape;175;p25" title="Chart"/>
          <p:cNvPicPr preferRelativeResize="0"/>
          <p:nvPr/>
        </p:nvPicPr>
        <p:blipFill rotWithShape="1">
          <a:blip r:embed="rId3">
            <a:alphaModFix/>
          </a:blip>
          <a:srcRect b="0" l="0" r="0" t="0"/>
          <a:stretch/>
        </p:blipFill>
        <p:spPr>
          <a:xfrm>
            <a:off x="4368275" y="1569750"/>
            <a:ext cx="4604875" cy="3211650"/>
          </a:xfrm>
          <a:prstGeom prst="rect">
            <a:avLst/>
          </a:prstGeom>
          <a:noFill/>
          <a:ln>
            <a:noFill/>
          </a:ln>
        </p:spPr>
      </p:pic>
      <p:sp>
        <p:nvSpPr>
          <p:cNvPr id="176" name="Google Shape;176;p25"/>
          <p:cNvSpPr txBox="1"/>
          <p:nvPr/>
        </p:nvSpPr>
        <p:spPr>
          <a:xfrm>
            <a:off x="612075" y="651575"/>
            <a:ext cx="8016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400"/>
              <a:buFont typeface="Arial"/>
              <a:buNone/>
            </a:pPr>
            <a:r>
              <a:rPr b="1" i="0" lang="en-GB" sz="1400" u="none" cap="none" strike="noStrike">
                <a:solidFill>
                  <a:srgbClr val="000000"/>
                </a:solidFill>
                <a:latin typeface="Georgia"/>
                <a:ea typeface="Georgia"/>
                <a:cs typeface="Georgia"/>
                <a:sym typeface="Georgia"/>
              </a:rPr>
              <a:t>SCALED - FEATURE EXTRACTION METHOD VS TIME</a:t>
            </a:r>
            <a:endParaRPr b="1" i="0" sz="1600" u="none" cap="none" strike="noStrike">
              <a:solidFill>
                <a:srgbClr val="000000"/>
              </a:solidFill>
              <a:latin typeface="Georgia"/>
              <a:ea typeface="Georgia"/>
              <a:cs typeface="Georgia"/>
              <a:sym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graphicFrame>
        <p:nvGraphicFramePr>
          <p:cNvPr id="181" name="Google Shape;181;p26"/>
          <p:cNvGraphicFramePr/>
          <p:nvPr/>
        </p:nvGraphicFramePr>
        <p:xfrm>
          <a:off x="152400" y="1488550"/>
          <a:ext cx="3000000" cy="3000000"/>
        </p:xfrm>
        <a:graphic>
          <a:graphicData uri="http://schemas.openxmlformats.org/drawingml/2006/table">
            <a:tbl>
              <a:tblPr>
                <a:noFill/>
                <a:tableStyleId>{EC35E526-5509-4F24-A19E-E588A0B576BC}</a:tableStyleId>
              </a:tblPr>
              <a:tblGrid>
                <a:gridCol w="883975"/>
                <a:gridCol w="781975"/>
                <a:gridCol w="785750"/>
                <a:gridCol w="725325"/>
                <a:gridCol w="740425"/>
              </a:tblGrid>
              <a:tr h="524200">
                <a:tc gridSpan="5">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SCALED - FEATURE EXTRACTION METHOD VS MATCHED POINT</a:t>
                      </a:r>
                      <a:endParaRPr sz="14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c hMerge="1"/>
              </a:tr>
              <a:tr h="524200">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Algorithm</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120% scale</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150% scale</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170% scale</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190% scale</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BRISK</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35</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23</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19</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7</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FAST</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45</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50</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14</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6</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HARRIS</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25</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8</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2</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0</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KAZE</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76</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23</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7</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13</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MinEigen</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28</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5</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4</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b="1" lang="en-GB" sz="1200" u="none" cap="none" strike="noStrike">
                          <a:latin typeface="Georgia"/>
                          <a:ea typeface="Georgia"/>
                          <a:cs typeface="Georgia"/>
                          <a:sym typeface="Georgia"/>
                        </a:rPr>
                        <a:t>4</a:t>
                      </a:r>
                      <a:endParaRPr sz="12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1275">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MSER</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67</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29</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41</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28</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1275">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ORB</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61</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42</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71</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25</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1275">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SURF</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200</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228</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177</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GB" sz="1300" u="none" cap="none" strike="noStrike">
                          <a:latin typeface="Georgia"/>
                          <a:ea typeface="Georgia"/>
                          <a:cs typeface="Georgia"/>
                          <a:sym typeface="Georgia"/>
                        </a:rPr>
                        <a:t>172</a:t>
                      </a:r>
                      <a:endParaRPr sz="1300" u="none" cap="none" strike="noStrike">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82" name="Google Shape;182;p26" title="Chart"/>
          <p:cNvPicPr preferRelativeResize="0"/>
          <p:nvPr/>
        </p:nvPicPr>
        <p:blipFill rotWithShape="1">
          <a:blip r:embed="rId3">
            <a:alphaModFix/>
          </a:blip>
          <a:srcRect b="0" l="0" r="0" t="0"/>
          <a:stretch/>
        </p:blipFill>
        <p:spPr>
          <a:xfrm>
            <a:off x="4250975" y="1488550"/>
            <a:ext cx="4802425" cy="3367600"/>
          </a:xfrm>
          <a:prstGeom prst="rect">
            <a:avLst/>
          </a:prstGeom>
          <a:noFill/>
          <a:ln>
            <a:noFill/>
          </a:ln>
        </p:spPr>
      </p:pic>
      <p:sp>
        <p:nvSpPr>
          <p:cNvPr id="183" name="Google Shape;183;p26"/>
          <p:cNvSpPr txBox="1"/>
          <p:nvPr/>
        </p:nvSpPr>
        <p:spPr>
          <a:xfrm>
            <a:off x="572600" y="542975"/>
            <a:ext cx="8055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400"/>
              <a:buFont typeface="Arial"/>
              <a:buNone/>
            </a:pPr>
            <a:r>
              <a:rPr b="1" i="0" lang="en-GB" sz="1400" u="none" cap="none" strike="noStrike">
                <a:solidFill>
                  <a:srgbClr val="000000"/>
                </a:solidFill>
                <a:latin typeface="Georgia"/>
                <a:ea typeface="Georgia"/>
                <a:cs typeface="Georgia"/>
                <a:sym typeface="Georgia"/>
              </a:rPr>
              <a:t>SCALED - FEATURE EXTRACTION METHOD VS MATCHED POINT</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7"/>
          <p:cNvPicPr preferRelativeResize="0"/>
          <p:nvPr/>
        </p:nvPicPr>
        <p:blipFill rotWithShape="1">
          <a:blip r:embed="rId3">
            <a:alphaModFix/>
          </a:blip>
          <a:srcRect b="0" l="0" r="0" t="0"/>
          <a:stretch/>
        </p:blipFill>
        <p:spPr>
          <a:xfrm>
            <a:off x="152400" y="152400"/>
            <a:ext cx="4931766" cy="2419350"/>
          </a:xfrm>
          <a:prstGeom prst="rect">
            <a:avLst/>
          </a:prstGeom>
          <a:noFill/>
          <a:ln>
            <a:noFill/>
          </a:ln>
        </p:spPr>
      </p:pic>
      <p:sp>
        <p:nvSpPr>
          <p:cNvPr id="189" name="Google Shape;189;p27"/>
          <p:cNvSpPr txBox="1"/>
          <p:nvPr/>
        </p:nvSpPr>
        <p:spPr>
          <a:xfrm>
            <a:off x="5573775" y="731175"/>
            <a:ext cx="27243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Open Sans"/>
                <a:ea typeface="Open Sans"/>
                <a:cs typeface="Open Sans"/>
                <a:sym typeface="Open Sans"/>
              </a:rPr>
              <a:t>Feature point cross matching using </a:t>
            </a:r>
            <a:r>
              <a:rPr b="1" i="0" lang="en-GB" sz="1400" u="none" cap="none" strike="noStrike">
                <a:solidFill>
                  <a:srgbClr val="000000"/>
                </a:solidFill>
                <a:latin typeface="Open Sans"/>
                <a:ea typeface="Open Sans"/>
                <a:cs typeface="Open Sans"/>
                <a:sym typeface="Open Sans"/>
              </a:rPr>
              <a:t>SURF </a:t>
            </a:r>
            <a:r>
              <a:rPr b="0" i="0" lang="en-GB" sz="1400" u="none" cap="none" strike="noStrike">
                <a:solidFill>
                  <a:srgbClr val="000000"/>
                </a:solidFill>
                <a:latin typeface="Open Sans"/>
                <a:ea typeface="Open Sans"/>
                <a:cs typeface="Open Sans"/>
                <a:sym typeface="Open Sans"/>
              </a:rPr>
              <a:t>method at a scale of 190%</a:t>
            </a:r>
            <a:endParaRPr b="0" i="0" sz="1400" u="none" cap="none" strike="noStrike">
              <a:solidFill>
                <a:srgbClr val="000000"/>
              </a:solidFill>
              <a:latin typeface="Open Sans"/>
              <a:ea typeface="Open Sans"/>
              <a:cs typeface="Open Sans"/>
              <a:sym typeface="Open Sans"/>
            </a:endParaRPr>
          </a:p>
        </p:txBody>
      </p:sp>
      <p:pic>
        <p:nvPicPr>
          <p:cNvPr id="190" name="Google Shape;190;p27"/>
          <p:cNvPicPr preferRelativeResize="0"/>
          <p:nvPr/>
        </p:nvPicPr>
        <p:blipFill rotWithShape="1">
          <a:blip r:embed="rId4">
            <a:alphaModFix/>
          </a:blip>
          <a:srcRect b="0" l="0" r="0" t="0"/>
          <a:stretch/>
        </p:blipFill>
        <p:spPr>
          <a:xfrm>
            <a:off x="152400" y="2724150"/>
            <a:ext cx="4621091" cy="2266950"/>
          </a:xfrm>
          <a:prstGeom prst="rect">
            <a:avLst/>
          </a:prstGeom>
          <a:noFill/>
          <a:ln>
            <a:noFill/>
          </a:ln>
        </p:spPr>
      </p:pic>
      <p:sp>
        <p:nvSpPr>
          <p:cNvPr id="191" name="Google Shape;191;p27"/>
          <p:cNvSpPr txBox="1"/>
          <p:nvPr/>
        </p:nvSpPr>
        <p:spPr>
          <a:xfrm>
            <a:off x="5573775" y="3266100"/>
            <a:ext cx="28926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Open Sans"/>
                <a:ea typeface="Open Sans"/>
                <a:cs typeface="Open Sans"/>
                <a:sym typeface="Open Sans"/>
              </a:rPr>
              <a:t>Feature point cross matching using </a:t>
            </a:r>
            <a:r>
              <a:rPr b="1" i="0" lang="en-GB" sz="1400" u="none" cap="none" strike="noStrike">
                <a:solidFill>
                  <a:srgbClr val="000000"/>
                </a:solidFill>
                <a:latin typeface="Open Sans"/>
                <a:ea typeface="Open Sans"/>
                <a:cs typeface="Open Sans"/>
                <a:sym typeface="Open Sans"/>
              </a:rPr>
              <a:t>KAZE </a:t>
            </a:r>
            <a:r>
              <a:rPr b="0" i="0" lang="en-GB" sz="1400" u="none" cap="none" strike="noStrike">
                <a:solidFill>
                  <a:srgbClr val="000000"/>
                </a:solidFill>
                <a:latin typeface="Open Sans"/>
                <a:ea typeface="Open Sans"/>
                <a:cs typeface="Open Sans"/>
                <a:sym typeface="Open Sans"/>
              </a:rPr>
              <a:t>method at a scale of 120%</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8"/>
          <p:cNvSpPr txBox="1"/>
          <p:nvPr>
            <p:ph type="title"/>
          </p:nvPr>
        </p:nvSpPr>
        <p:spPr>
          <a:xfrm>
            <a:off x="727650" y="61240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Inference from the data</a:t>
            </a:r>
            <a:endParaRPr/>
          </a:p>
        </p:txBody>
      </p:sp>
      <p:sp>
        <p:nvSpPr>
          <p:cNvPr id="197" name="Google Shape;197;p28"/>
          <p:cNvSpPr txBox="1"/>
          <p:nvPr>
            <p:ph idx="1" type="body"/>
          </p:nvPr>
        </p:nvSpPr>
        <p:spPr>
          <a:xfrm>
            <a:off x="727650" y="1441200"/>
            <a:ext cx="7688700" cy="29628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770"/>
              <a:buNone/>
            </a:pPr>
            <a:r>
              <a:rPr lang="en-GB" sz="1250">
                <a:solidFill>
                  <a:srgbClr val="000000"/>
                </a:solidFill>
                <a:latin typeface="Georgia"/>
                <a:ea typeface="Georgia"/>
                <a:cs typeface="Georgia"/>
                <a:sym typeface="Georgia"/>
              </a:rPr>
              <a:t>From the above data and graphs it can be concluded that ,the SURF algorithm performs the best in cases of noise, rotation and scaling with maximum feature points extracted in a relatively minimal time. Brisk is the method that performed moderately well in all of the test scenarios. FAST has the least time for feature extraction and KAZE has the most time among them. ORB performs well in scaled case but at the cost of time. </a:t>
            </a:r>
            <a:endParaRPr sz="1250">
              <a:solidFill>
                <a:srgbClr val="000000"/>
              </a:solidFill>
              <a:latin typeface="Georgia"/>
              <a:ea typeface="Georgia"/>
              <a:cs typeface="Georgia"/>
              <a:sym typeface="Georgia"/>
            </a:endParaRPr>
          </a:p>
          <a:p>
            <a:pPr indent="0" lvl="0" marL="0" rtl="0" algn="l">
              <a:lnSpc>
                <a:spcPct val="105000"/>
              </a:lnSpc>
              <a:spcBef>
                <a:spcPts val="0"/>
              </a:spcBef>
              <a:spcAft>
                <a:spcPts val="0"/>
              </a:spcAft>
              <a:buSzPts val="770"/>
              <a:buNone/>
            </a:pPr>
            <a:r>
              <a:rPr lang="en-GB" sz="1250">
                <a:solidFill>
                  <a:srgbClr val="000000"/>
                </a:solidFill>
                <a:latin typeface="Georgia"/>
                <a:ea typeface="Georgia"/>
                <a:cs typeface="Georgia"/>
                <a:sym typeface="Georgia"/>
              </a:rPr>
              <a:t>In the case of noise and scaled condition, SURF outperforms every other method with the highest number of feature points matched with the best time to points matched ratio. Even though KAZE has the least time taken, the number of points matched is way less.</a:t>
            </a:r>
            <a:endParaRPr sz="1250">
              <a:solidFill>
                <a:srgbClr val="000000"/>
              </a:solidFill>
              <a:latin typeface="Georgia"/>
              <a:ea typeface="Georgia"/>
              <a:cs typeface="Georgia"/>
              <a:sym typeface="Georgia"/>
            </a:endParaRPr>
          </a:p>
          <a:p>
            <a:pPr indent="0" lvl="0" marL="0" rtl="0" algn="l">
              <a:lnSpc>
                <a:spcPct val="105000"/>
              </a:lnSpc>
              <a:spcBef>
                <a:spcPts val="0"/>
              </a:spcBef>
              <a:spcAft>
                <a:spcPts val="0"/>
              </a:spcAft>
              <a:buSzPts val="770"/>
              <a:buNone/>
            </a:pPr>
            <a:r>
              <a:rPr lang="en-GB" sz="1250">
                <a:solidFill>
                  <a:srgbClr val="000000"/>
                </a:solidFill>
                <a:latin typeface="Georgia"/>
                <a:ea typeface="Georgia"/>
                <a:cs typeface="Georgia"/>
                <a:sym typeface="Georgia"/>
              </a:rPr>
              <a:t>In the case rotation, SURF and MSER performs the best among them with a maximum number of extracted points matched in a relatively less time frame. All the features matched all the points when presented with ZERO degrees tilt.</a:t>
            </a:r>
            <a:endParaRPr sz="1250">
              <a:solidFill>
                <a:srgbClr val="000000"/>
              </a:solidFill>
              <a:latin typeface="Georgia"/>
              <a:ea typeface="Georgia"/>
              <a:cs typeface="Georgia"/>
              <a:sym typeface="Georgia"/>
            </a:endParaRPr>
          </a:p>
          <a:p>
            <a:pPr indent="0" lvl="0" marL="0" rtl="0" algn="l">
              <a:lnSpc>
                <a:spcPct val="105000"/>
              </a:lnSpc>
              <a:spcBef>
                <a:spcPts val="0"/>
              </a:spcBef>
              <a:spcAft>
                <a:spcPts val="0"/>
              </a:spcAft>
              <a:buSzPts val="770"/>
              <a:buNone/>
            </a:pPr>
            <a:r>
              <a:rPr lang="en-GB" sz="1250">
                <a:solidFill>
                  <a:srgbClr val="000000"/>
                </a:solidFill>
                <a:latin typeface="Georgia"/>
                <a:ea typeface="Georgia"/>
                <a:cs typeface="Georgia"/>
                <a:sym typeface="Georgia"/>
              </a:rPr>
              <a:t>Therefore,it can be concluded from the above data that SURF feature extraction method is the optimum method for the application </a:t>
            </a:r>
            <a:endParaRPr sz="1250">
              <a:solidFill>
                <a:srgbClr val="000000"/>
              </a:solidFill>
              <a:latin typeface="Georgia"/>
              <a:ea typeface="Georgia"/>
              <a:cs typeface="Georgia"/>
              <a:sym typeface="Georgia"/>
            </a:endParaRPr>
          </a:p>
          <a:p>
            <a:pPr indent="0" lvl="0" marL="0" rtl="0" algn="l">
              <a:lnSpc>
                <a:spcPct val="105000"/>
              </a:lnSpc>
              <a:spcBef>
                <a:spcPts val="0"/>
              </a:spcBef>
              <a:spcAft>
                <a:spcPts val="1200"/>
              </a:spcAft>
              <a:buSzPts val="770"/>
              <a:buNone/>
            </a:pPr>
            <a:r>
              <a:t/>
            </a:r>
            <a:endParaRPr sz="111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Conclusion</a:t>
            </a:r>
            <a:endParaRPr/>
          </a:p>
        </p:txBody>
      </p:sp>
      <p:sp>
        <p:nvSpPr>
          <p:cNvPr id="203" name="Google Shape;203;p2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n-GB"/>
              <a:t>From the experiments conducted based on various factors of distortion in images for the feature extraction techniques available, we concluded that SURF has the highest efficacy with respect to other available feature extraction algorithms.</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1200"/>
              </a:spcAft>
              <a:buSzPts val="13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