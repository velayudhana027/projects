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Lst>
  <p:sldSz cy="5143500" cx="9144000"/>
  <p:notesSz cx="6858000" cy="9144000"/>
  <p:embeddedFontLst>
    <p:embeddedFont>
      <p:font typeface="Raleway"/>
      <p:regular r:id="rId28"/>
      <p:bold r:id="rId29"/>
      <p:italic r:id="rId30"/>
      <p:boldItalic r:id="rId31"/>
    </p:embeddedFont>
    <p:embeddedFont>
      <p:font typeface="Lato"/>
      <p:regular r:id="rId32"/>
      <p:bold r:id="rId33"/>
      <p:italic r:id="rId34"/>
      <p:boldItalic r:id="rId3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aleway-regular.fntdata"/><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bold.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Raleway-boldItalic.fntdata"/><Relationship Id="rId30" Type="http://schemas.openxmlformats.org/officeDocument/2006/relationships/font" Target="fonts/Raleway-italic.fntdata"/><Relationship Id="rId11" Type="http://schemas.openxmlformats.org/officeDocument/2006/relationships/slide" Target="slides/slide6.xml"/><Relationship Id="rId33" Type="http://schemas.openxmlformats.org/officeDocument/2006/relationships/font" Target="fonts/Lato-bold.fntdata"/><Relationship Id="rId10" Type="http://schemas.openxmlformats.org/officeDocument/2006/relationships/slide" Target="slides/slide5.xml"/><Relationship Id="rId32" Type="http://schemas.openxmlformats.org/officeDocument/2006/relationships/font" Target="fonts/Lato-regular.fntdata"/><Relationship Id="rId13" Type="http://schemas.openxmlformats.org/officeDocument/2006/relationships/slide" Target="slides/slide8.xml"/><Relationship Id="rId35" Type="http://schemas.openxmlformats.org/officeDocument/2006/relationships/font" Target="fonts/Lato-boldItalic.fntdata"/><Relationship Id="rId12" Type="http://schemas.openxmlformats.org/officeDocument/2006/relationships/slide" Target="slides/slide7.xml"/><Relationship Id="rId34" Type="http://schemas.openxmlformats.org/officeDocument/2006/relationships/font" Target="fonts/Lato-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77d46d4dd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77d46d4dd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77e94c4790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77e94c4790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77e284652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77e284652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77e2846520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77e2846520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77e2846520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77e2846520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77e94c4790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77e94c4790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77e94c479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77e94c479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86f518c808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86f518c808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86f518c808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86f518c808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86f518c808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86f518c808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77e94c4790_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77e94c4790_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805e32828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4" name="Google Shape;154;g805e32828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86f518c808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 name="Google Shape;160;g86f518c808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77e94c4790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77e94c4790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77e94c4790_3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77e94c4790_3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888c6eb46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888c6eb46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7a2e3ad5cb192305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7a2e3ad5cb192305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77e94c4790_1_6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77e94c4790_1_6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7a2e3ad5cb192305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7a2e3ad5cb192305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7" name="Shape 207"/>
        <p:cNvGrpSpPr/>
        <p:nvPr/>
      </p:nvGrpSpPr>
      <p:grpSpPr>
        <a:xfrm>
          <a:off x="0" y="0"/>
          <a:ext cx="0" cy="0"/>
          <a:chOff x="0" y="0"/>
          <a:chExt cx="0" cy="0"/>
        </a:xfrm>
      </p:grpSpPr>
      <p:sp>
        <p:nvSpPr>
          <p:cNvPr id="208" name="Google Shape;208;g77e94c4790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9" name="Google Shape;209;g77e94c4790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77af36fdc5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77af36fdc5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4200"/>
              <a:buNone/>
              <a:defRPr sz="4200">
                <a:solidFill>
                  <a:schemeClr val="dk2"/>
                </a:solidFill>
              </a:defRPr>
            </a:lvl1pPr>
            <a:lvl2pPr lvl="1">
              <a:spcBef>
                <a:spcPts val="0"/>
              </a:spcBef>
              <a:spcAft>
                <a:spcPts val="0"/>
              </a:spcAft>
              <a:buClr>
                <a:schemeClr val="dk2"/>
              </a:buClr>
              <a:buSzPts val="4200"/>
              <a:buNone/>
              <a:defRPr sz="4200">
                <a:solidFill>
                  <a:schemeClr val="dk2"/>
                </a:solidFill>
              </a:defRPr>
            </a:lvl2pPr>
            <a:lvl3pPr lvl="2">
              <a:spcBef>
                <a:spcPts val="0"/>
              </a:spcBef>
              <a:spcAft>
                <a:spcPts val="0"/>
              </a:spcAft>
              <a:buClr>
                <a:schemeClr val="dk2"/>
              </a:buClr>
              <a:buSzPts val="4200"/>
              <a:buNone/>
              <a:defRPr sz="4200">
                <a:solidFill>
                  <a:schemeClr val="dk2"/>
                </a:solidFill>
              </a:defRPr>
            </a:lvl3pPr>
            <a:lvl4pPr lvl="3">
              <a:spcBef>
                <a:spcPts val="0"/>
              </a:spcBef>
              <a:spcAft>
                <a:spcPts val="0"/>
              </a:spcAft>
              <a:buClr>
                <a:schemeClr val="dk2"/>
              </a:buClr>
              <a:buSzPts val="4200"/>
              <a:buNone/>
              <a:defRPr sz="4200">
                <a:solidFill>
                  <a:schemeClr val="dk2"/>
                </a:solidFill>
              </a:defRPr>
            </a:lvl4pPr>
            <a:lvl5pPr lvl="4">
              <a:spcBef>
                <a:spcPts val="0"/>
              </a:spcBef>
              <a:spcAft>
                <a:spcPts val="0"/>
              </a:spcAft>
              <a:buClr>
                <a:schemeClr val="dk2"/>
              </a:buClr>
              <a:buSzPts val="4200"/>
              <a:buNone/>
              <a:defRPr sz="4200">
                <a:solidFill>
                  <a:schemeClr val="dk2"/>
                </a:solidFill>
              </a:defRPr>
            </a:lvl5pPr>
            <a:lvl6pPr lvl="5">
              <a:spcBef>
                <a:spcPts val="0"/>
              </a:spcBef>
              <a:spcAft>
                <a:spcPts val="0"/>
              </a:spcAft>
              <a:buClr>
                <a:schemeClr val="dk2"/>
              </a:buClr>
              <a:buSzPts val="4200"/>
              <a:buNone/>
              <a:defRPr sz="4200">
                <a:solidFill>
                  <a:schemeClr val="dk2"/>
                </a:solidFill>
              </a:defRPr>
            </a:lvl6pPr>
            <a:lvl7pPr lvl="6">
              <a:spcBef>
                <a:spcPts val="0"/>
              </a:spcBef>
              <a:spcAft>
                <a:spcPts val="0"/>
              </a:spcAft>
              <a:buClr>
                <a:schemeClr val="dk2"/>
              </a:buClr>
              <a:buSzPts val="4200"/>
              <a:buNone/>
              <a:defRPr sz="4200">
                <a:solidFill>
                  <a:schemeClr val="dk2"/>
                </a:solidFill>
              </a:defRPr>
            </a:lvl7pPr>
            <a:lvl8pPr lvl="7">
              <a:spcBef>
                <a:spcPts val="0"/>
              </a:spcBef>
              <a:spcAft>
                <a:spcPts val="0"/>
              </a:spcAft>
              <a:buClr>
                <a:schemeClr val="dk2"/>
              </a:buClr>
              <a:buSzPts val="4200"/>
              <a:buNone/>
              <a:defRPr sz="4200">
                <a:solidFill>
                  <a:schemeClr val="dk2"/>
                </a:solidFill>
              </a:defRPr>
            </a:lvl8pPr>
            <a:lvl9pPr lvl="8">
              <a:spcBef>
                <a:spcPts val="0"/>
              </a:spcBef>
              <a:spcAft>
                <a:spcPts val="0"/>
              </a:spcAft>
              <a:buClr>
                <a:schemeClr val="dk2"/>
              </a:buClr>
              <a:buSzPts val="4200"/>
              <a:buNone/>
              <a:defRPr sz="4200">
                <a:solidFill>
                  <a:schemeClr val="dk2"/>
                </a:solidFill>
              </a:defRPr>
            </a:lvl9pPr>
          </a:lstStyle>
          <a:p/>
        </p:txBody>
      </p:sp>
      <p:sp>
        <p:nvSpPr>
          <p:cNvPr id="15" name="Google Shape;15;p2"/>
          <p:cNvSpPr txBox="1"/>
          <p:nvPr>
            <p:ph idx="1" type="subTitle"/>
          </p:nvPr>
        </p:nvSpPr>
        <p:spPr>
          <a:xfrm>
            <a:off x="311700" y="1126250"/>
            <a:ext cx="8520600" cy="38874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lvl1pPr lvl="0">
              <a:spcBef>
                <a:spcPts val="0"/>
              </a:spcBef>
              <a:spcAft>
                <a:spcPts val="0"/>
              </a:spcAft>
              <a:buClr>
                <a:schemeClr val="dk2"/>
              </a:buClr>
              <a:buSzPts val="2600"/>
              <a:buNone/>
              <a:defRPr sz="2600">
                <a:solidFill>
                  <a:schemeClr val="dk2"/>
                </a:solidFill>
              </a:defRPr>
            </a:lvl1pPr>
            <a:lvl2pPr lvl="1">
              <a:spcBef>
                <a:spcPts val="0"/>
              </a:spcBef>
              <a:spcAft>
                <a:spcPts val="0"/>
              </a:spcAft>
              <a:buClr>
                <a:schemeClr val="dk2"/>
              </a:buClr>
              <a:buSzPts val="2600"/>
              <a:buNone/>
              <a:defRPr sz="2600">
                <a:solidFill>
                  <a:schemeClr val="dk2"/>
                </a:solidFill>
              </a:defRPr>
            </a:lvl2pPr>
            <a:lvl3pPr lvl="2">
              <a:spcBef>
                <a:spcPts val="0"/>
              </a:spcBef>
              <a:spcAft>
                <a:spcPts val="0"/>
              </a:spcAft>
              <a:buClr>
                <a:schemeClr val="dk2"/>
              </a:buClr>
              <a:buSzPts val="2600"/>
              <a:buNone/>
              <a:defRPr sz="2600">
                <a:solidFill>
                  <a:schemeClr val="dk2"/>
                </a:solidFill>
              </a:defRPr>
            </a:lvl3pPr>
            <a:lvl4pPr lvl="3">
              <a:spcBef>
                <a:spcPts val="0"/>
              </a:spcBef>
              <a:spcAft>
                <a:spcPts val="0"/>
              </a:spcAft>
              <a:buClr>
                <a:schemeClr val="dk2"/>
              </a:buClr>
              <a:buSzPts val="2600"/>
              <a:buNone/>
              <a:defRPr sz="2600">
                <a:solidFill>
                  <a:schemeClr val="dk2"/>
                </a:solidFill>
              </a:defRPr>
            </a:lvl4pPr>
            <a:lvl5pPr lvl="4">
              <a:spcBef>
                <a:spcPts val="0"/>
              </a:spcBef>
              <a:spcAft>
                <a:spcPts val="0"/>
              </a:spcAft>
              <a:buClr>
                <a:schemeClr val="dk2"/>
              </a:buClr>
              <a:buSzPts val="2600"/>
              <a:buNone/>
              <a:defRPr sz="2600">
                <a:solidFill>
                  <a:schemeClr val="dk2"/>
                </a:solidFill>
              </a:defRPr>
            </a:lvl5pPr>
            <a:lvl6pPr lvl="5">
              <a:spcBef>
                <a:spcPts val="0"/>
              </a:spcBef>
              <a:spcAft>
                <a:spcPts val="0"/>
              </a:spcAft>
              <a:buClr>
                <a:schemeClr val="dk2"/>
              </a:buClr>
              <a:buSzPts val="2600"/>
              <a:buNone/>
              <a:defRPr sz="2600">
                <a:solidFill>
                  <a:schemeClr val="dk2"/>
                </a:solidFill>
              </a:defRPr>
            </a:lvl6pPr>
            <a:lvl7pPr lvl="6">
              <a:spcBef>
                <a:spcPts val="0"/>
              </a:spcBef>
              <a:spcAft>
                <a:spcPts val="0"/>
              </a:spcAft>
              <a:buClr>
                <a:schemeClr val="dk2"/>
              </a:buClr>
              <a:buSzPts val="2600"/>
              <a:buNone/>
              <a:defRPr sz="2600">
                <a:solidFill>
                  <a:schemeClr val="dk2"/>
                </a:solidFill>
              </a:defRPr>
            </a:lvl7pPr>
            <a:lvl8pPr lvl="7">
              <a:spcBef>
                <a:spcPts val="0"/>
              </a:spcBef>
              <a:spcAft>
                <a:spcPts val="0"/>
              </a:spcAft>
              <a:buClr>
                <a:schemeClr val="dk2"/>
              </a:buClr>
              <a:buSzPts val="2600"/>
              <a:buNone/>
              <a:defRPr sz="2600">
                <a:solidFill>
                  <a:schemeClr val="dk2"/>
                </a:solidFill>
              </a:defRPr>
            </a:lvl8pPr>
            <a:lvl9pPr lvl="8">
              <a:spcBef>
                <a:spcPts val="0"/>
              </a:spcBef>
              <a:spcAft>
                <a:spcPts val="0"/>
              </a:spcAft>
              <a:buClr>
                <a:schemeClr val="dk2"/>
              </a:buClr>
              <a:buSzPts val="2600"/>
              <a:buNone/>
              <a:defRPr sz="2600">
                <a:solidFill>
                  <a:schemeClr val="dk2"/>
                </a:solidFill>
              </a:defRPr>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1600"/>
              </a:spcBef>
              <a:spcAft>
                <a:spcPts val="0"/>
              </a:spcAft>
              <a:buClr>
                <a:schemeClr val="lt1"/>
              </a:buClr>
              <a:buSzPts val="1100"/>
              <a:buChar char="○"/>
              <a:defRPr>
                <a:solidFill>
                  <a:schemeClr val="lt1"/>
                </a:solidFill>
              </a:defRPr>
            </a:lvl2pPr>
            <a:lvl3pPr indent="-298450" lvl="2" marL="1371600">
              <a:spcBef>
                <a:spcPts val="1600"/>
              </a:spcBef>
              <a:spcAft>
                <a:spcPts val="0"/>
              </a:spcAft>
              <a:buClr>
                <a:schemeClr val="lt1"/>
              </a:buClr>
              <a:buSzPts val="1100"/>
              <a:buChar char="■"/>
              <a:defRPr>
                <a:solidFill>
                  <a:schemeClr val="lt1"/>
                </a:solidFill>
              </a:defRPr>
            </a:lvl3pPr>
            <a:lvl4pPr indent="-298450" lvl="3" marL="1828800">
              <a:spcBef>
                <a:spcPts val="1600"/>
              </a:spcBef>
              <a:spcAft>
                <a:spcPts val="0"/>
              </a:spcAft>
              <a:buClr>
                <a:schemeClr val="lt1"/>
              </a:buClr>
              <a:buSzPts val="1100"/>
              <a:buChar char="●"/>
              <a:defRPr>
                <a:solidFill>
                  <a:schemeClr val="lt1"/>
                </a:solidFill>
              </a:defRPr>
            </a:lvl4pPr>
            <a:lvl5pPr indent="-298450" lvl="4" marL="2286000">
              <a:spcBef>
                <a:spcPts val="1600"/>
              </a:spcBef>
              <a:spcAft>
                <a:spcPts val="0"/>
              </a:spcAft>
              <a:buClr>
                <a:schemeClr val="lt1"/>
              </a:buClr>
              <a:buSzPts val="1100"/>
              <a:buChar char="○"/>
              <a:defRPr>
                <a:solidFill>
                  <a:schemeClr val="lt1"/>
                </a:solidFill>
              </a:defRPr>
            </a:lvl5pPr>
            <a:lvl6pPr indent="-298450" lvl="5" marL="2743200">
              <a:spcBef>
                <a:spcPts val="1600"/>
              </a:spcBef>
              <a:spcAft>
                <a:spcPts val="0"/>
              </a:spcAft>
              <a:buClr>
                <a:schemeClr val="lt1"/>
              </a:buClr>
              <a:buSzPts val="1100"/>
              <a:buChar char="■"/>
              <a:defRPr>
                <a:solidFill>
                  <a:schemeClr val="lt1"/>
                </a:solidFill>
              </a:defRPr>
            </a:lvl6pPr>
            <a:lvl7pPr indent="-298450" lvl="6" marL="3200400">
              <a:spcBef>
                <a:spcPts val="1600"/>
              </a:spcBef>
              <a:spcAft>
                <a:spcPts val="0"/>
              </a:spcAft>
              <a:buClr>
                <a:schemeClr val="lt1"/>
              </a:buClr>
              <a:buSzPts val="1100"/>
              <a:buChar char="●"/>
              <a:defRPr>
                <a:solidFill>
                  <a:schemeClr val="lt1"/>
                </a:solidFill>
              </a:defRPr>
            </a:lvl7pPr>
            <a:lvl8pPr indent="-298450" lvl="7" marL="3657600">
              <a:spcBef>
                <a:spcPts val="1600"/>
              </a:spcBef>
              <a:spcAft>
                <a:spcPts val="0"/>
              </a:spcAft>
              <a:buClr>
                <a:schemeClr val="lt1"/>
              </a:buClr>
              <a:buSzPts val="1100"/>
              <a:buChar char="○"/>
              <a:defRPr>
                <a:solidFill>
                  <a:schemeClr val="lt1"/>
                </a:solidFill>
              </a:defRPr>
            </a:lvl8pPr>
            <a:lvl9pPr indent="-298450" lvl="8" marL="4114800">
              <a:spcBef>
                <a:spcPts val="1600"/>
              </a:spcBef>
              <a:spcAft>
                <a:spcPts val="160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SzPts val="2800"/>
              <a:buFont typeface="Raleway"/>
              <a:buNone/>
              <a:defRPr b="1" sz="2800">
                <a:latin typeface="Raleway"/>
                <a:ea typeface="Raleway"/>
                <a:cs typeface="Raleway"/>
                <a:sym typeface="Raleway"/>
              </a:defRPr>
            </a:lvl1pPr>
            <a:lvl2pPr lvl="1">
              <a:spcBef>
                <a:spcPts val="0"/>
              </a:spcBef>
              <a:spcAft>
                <a:spcPts val="0"/>
              </a:spcAft>
              <a:buSzPts val="2800"/>
              <a:buFont typeface="Raleway"/>
              <a:buNone/>
              <a:defRPr b="1" sz="2800">
                <a:latin typeface="Raleway"/>
                <a:ea typeface="Raleway"/>
                <a:cs typeface="Raleway"/>
                <a:sym typeface="Raleway"/>
              </a:defRPr>
            </a:lvl2pPr>
            <a:lvl3pPr lvl="2">
              <a:spcBef>
                <a:spcPts val="0"/>
              </a:spcBef>
              <a:spcAft>
                <a:spcPts val="0"/>
              </a:spcAft>
              <a:buSzPts val="2800"/>
              <a:buFont typeface="Raleway"/>
              <a:buNone/>
              <a:defRPr b="1" sz="2800">
                <a:latin typeface="Raleway"/>
                <a:ea typeface="Raleway"/>
                <a:cs typeface="Raleway"/>
                <a:sym typeface="Raleway"/>
              </a:defRPr>
            </a:lvl3pPr>
            <a:lvl4pPr lvl="3">
              <a:spcBef>
                <a:spcPts val="0"/>
              </a:spcBef>
              <a:spcAft>
                <a:spcPts val="0"/>
              </a:spcAft>
              <a:buSzPts val="2800"/>
              <a:buFont typeface="Raleway"/>
              <a:buNone/>
              <a:defRPr b="1" sz="2800">
                <a:latin typeface="Raleway"/>
                <a:ea typeface="Raleway"/>
                <a:cs typeface="Raleway"/>
                <a:sym typeface="Raleway"/>
              </a:defRPr>
            </a:lvl4pPr>
            <a:lvl5pPr lvl="4">
              <a:spcBef>
                <a:spcPts val="0"/>
              </a:spcBef>
              <a:spcAft>
                <a:spcPts val="0"/>
              </a:spcAft>
              <a:buSzPts val="2800"/>
              <a:buFont typeface="Raleway"/>
              <a:buNone/>
              <a:defRPr b="1" sz="2800">
                <a:latin typeface="Raleway"/>
                <a:ea typeface="Raleway"/>
                <a:cs typeface="Raleway"/>
                <a:sym typeface="Raleway"/>
              </a:defRPr>
            </a:lvl5pPr>
            <a:lvl6pPr lvl="5">
              <a:spcBef>
                <a:spcPts val="0"/>
              </a:spcBef>
              <a:spcAft>
                <a:spcPts val="0"/>
              </a:spcAft>
              <a:buSzPts val="2800"/>
              <a:buFont typeface="Raleway"/>
              <a:buNone/>
              <a:defRPr b="1" sz="2800">
                <a:latin typeface="Raleway"/>
                <a:ea typeface="Raleway"/>
                <a:cs typeface="Raleway"/>
                <a:sym typeface="Raleway"/>
              </a:defRPr>
            </a:lvl6pPr>
            <a:lvl7pPr lvl="6">
              <a:spcBef>
                <a:spcPts val="0"/>
              </a:spcBef>
              <a:spcAft>
                <a:spcPts val="0"/>
              </a:spcAft>
              <a:buSzPts val="2800"/>
              <a:buFont typeface="Raleway"/>
              <a:buNone/>
              <a:defRPr b="1" sz="2800">
                <a:latin typeface="Raleway"/>
                <a:ea typeface="Raleway"/>
                <a:cs typeface="Raleway"/>
                <a:sym typeface="Raleway"/>
              </a:defRPr>
            </a:lvl7pPr>
            <a:lvl8pPr lvl="7">
              <a:spcBef>
                <a:spcPts val="0"/>
              </a:spcBef>
              <a:spcAft>
                <a:spcPts val="0"/>
              </a:spcAft>
              <a:buSzPts val="2800"/>
              <a:buFont typeface="Raleway"/>
              <a:buNone/>
              <a:defRPr b="1" sz="2800">
                <a:latin typeface="Raleway"/>
                <a:ea typeface="Raleway"/>
                <a:cs typeface="Raleway"/>
                <a:sym typeface="Raleway"/>
              </a:defRPr>
            </a:lvl8pPr>
            <a:lvl9pPr lvl="8">
              <a:spcBef>
                <a:spcPts val="0"/>
              </a:spcBef>
              <a:spcAft>
                <a:spcPts val="0"/>
              </a:spcAft>
              <a:buSzPts val="2800"/>
              <a:buFont typeface="Raleway"/>
              <a:buNone/>
              <a:defRPr b="1" sz="2800">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160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1600"/>
              </a:spcBef>
              <a:spcAft>
                <a:spcPts val="160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5.jpg"/><Relationship Id="rId5" Type="http://schemas.openxmlformats.org/officeDocument/2006/relationships/image" Target="../media/image2.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9.jpg"/><Relationship Id="rId4" Type="http://schemas.openxmlformats.org/officeDocument/2006/relationships/image" Target="../media/image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hyperlink" Target="https://www.researchgate.net/profile/Debjoy_Saha/publication/336218818_Warehouse_Management_Using_Real-Time_QR-Code_and_Text_Detection/links/5d9795ac299bf1c363f8d4d6/Warehouse-Management-Using-Real-Time-QR-Code-and-Text-Detection.pdf"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nvSpPr>
        <p:spPr>
          <a:xfrm>
            <a:off x="572100" y="249450"/>
            <a:ext cx="7999800" cy="9690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ctr">
              <a:spcBef>
                <a:spcPts val="0"/>
              </a:spcBef>
              <a:spcAft>
                <a:spcPts val="0"/>
              </a:spcAft>
              <a:buNone/>
            </a:pPr>
            <a:r>
              <a:rPr b="1" lang="en" sz="2700"/>
              <a:t>QR CODE BASED RECOGNITION AND TRACKING IN A GUI DRONE</a:t>
            </a:r>
            <a:endParaRPr b="1" sz="2700"/>
          </a:p>
        </p:txBody>
      </p:sp>
      <p:sp>
        <p:nvSpPr>
          <p:cNvPr id="87" name="Google Shape;87;p13"/>
          <p:cNvSpPr txBox="1"/>
          <p:nvPr/>
        </p:nvSpPr>
        <p:spPr>
          <a:xfrm>
            <a:off x="740075" y="2636625"/>
            <a:ext cx="3505500" cy="128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t>Mentor : Mr Vivek </a:t>
            </a:r>
            <a:endParaRPr sz="1800"/>
          </a:p>
          <a:p>
            <a:pPr indent="0" lvl="0" marL="0" rtl="0" algn="l">
              <a:spcBef>
                <a:spcPts val="0"/>
              </a:spcBef>
              <a:spcAft>
                <a:spcPts val="0"/>
              </a:spcAft>
              <a:buNone/>
            </a:pPr>
            <a:r>
              <a:rPr b="1" lang="en" sz="1450">
                <a:solidFill>
                  <a:srgbClr val="333333"/>
                </a:solidFill>
                <a:highlight>
                  <a:srgbClr val="FFFFFF"/>
                </a:highlight>
                <a:latin typeface="Courier New"/>
                <a:ea typeface="Courier New"/>
                <a:cs typeface="Courier New"/>
                <a:sym typeface="Courier New"/>
              </a:rPr>
              <a:t>Asst. Professor, Electrical and Electronics, </a:t>
            </a:r>
            <a:endParaRPr b="1" sz="1450">
              <a:solidFill>
                <a:srgbClr val="333333"/>
              </a:solidFill>
              <a:highlight>
                <a:srgbClr val="FFFFFF"/>
              </a:highlight>
              <a:latin typeface="Courier New"/>
              <a:ea typeface="Courier New"/>
              <a:cs typeface="Courier New"/>
              <a:sym typeface="Courier New"/>
            </a:endParaRPr>
          </a:p>
          <a:p>
            <a:pPr indent="0" lvl="0" marL="0" rtl="0" algn="l">
              <a:spcBef>
                <a:spcPts val="0"/>
              </a:spcBef>
              <a:spcAft>
                <a:spcPts val="0"/>
              </a:spcAft>
              <a:buNone/>
            </a:pPr>
            <a:r>
              <a:rPr b="1" lang="en" sz="1450">
                <a:solidFill>
                  <a:srgbClr val="333333"/>
                </a:solidFill>
                <a:highlight>
                  <a:srgbClr val="FFFFFF"/>
                </a:highlight>
                <a:latin typeface="Courier New"/>
                <a:ea typeface="Courier New"/>
                <a:cs typeface="Courier New"/>
                <a:sym typeface="Courier New"/>
              </a:rPr>
              <a:t>School of Engineering, Amritapuri</a:t>
            </a:r>
            <a:endParaRPr b="1" sz="1800">
              <a:latin typeface="Courier New"/>
              <a:ea typeface="Courier New"/>
              <a:cs typeface="Courier New"/>
              <a:sym typeface="Courier New"/>
            </a:endParaRPr>
          </a:p>
        </p:txBody>
      </p:sp>
      <p:sp>
        <p:nvSpPr>
          <p:cNvPr id="88" name="Google Shape;88;p13"/>
          <p:cNvSpPr txBox="1"/>
          <p:nvPr/>
        </p:nvSpPr>
        <p:spPr>
          <a:xfrm>
            <a:off x="4983675" y="2476875"/>
            <a:ext cx="4035000" cy="160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t>Group:</a:t>
            </a:r>
            <a:endParaRPr/>
          </a:p>
          <a:p>
            <a:pPr indent="0" lvl="0" marL="0" rtl="0" algn="l">
              <a:spcBef>
                <a:spcPts val="0"/>
              </a:spcBef>
              <a:spcAft>
                <a:spcPts val="0"/>
              </a:spcAft>
              <a:buNone/>
            </a:pPr>
            <a:r>
              <a:rPr lang="en"/>
              <a:t>Velayudhan A : 	        AM.EN.U4EEE17101</a:t>
            </a:r>
            <a:endParaRPr/>
          </a:p>
          <a:p>
            <a:pPr indent="0" lvl="0" marL="0" rtl="0" algn="l">
              <a:spcBef>
                <a:spcPts val="0"/>
              </a:spcBef>
              <a:spcAft>
                <a:spcPts val="0"/>
              </a:spcAft>
              <a:buNone/>
            </a:pPr>
            <a:r>
              <a:rPr lang="en"/>
              <a:t>Nandakishore R Nair: </a:t>
            </a:r>
            <a:r>
              <a:rPr lang="en"/>
              <a:t>AM.EN.U4EEE17123</a:t>
            </a:r>
            <a:endParaRPr/>
          </a:p>
          <a:p>
            <a:pPr indent="0" lvl="0" marL="0" rtl="0" algn="l">
              <a:spcBef>
                <a:spcPts val="0"/>
              </a:spcBef>
              <a:spcAft>
                <a:spcPts val="0"/>
              </a:spcAft>
              <a:buNone/>
            </a:pPr>
            <a:r>
              <a:rPr lang="en"/>
              <a:t>Neeraj S	:	        AM.EN.U4EEE17124</a:t>
            </a:r>
            <a:endParaRPr/>
          </a:p>
          <a:p>
            <a:pPr indent="0" lvl="0" marL="0" rtl="0" algn="l">
              <a:spcBef>
                <a:spcPts val="0"/>
              </a:spcBef>
              <a:spcAft>
                <a:spcPts val="0"/>
              </a:spcAft>
              <a:buNone/>
            </a:pPr>
            <a:r>
              <a:rPr lang="en"/>
              <a:t>Vishnu S	:	        AM.EN.U4EEE17147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4"/>
          <p:cNvSpPr txBox="1"/>
          <p:nvPr>
            <p:ph type="ctrTitle"/>
          </p:nvPr>
        </p:nvSpPr>
        <p:spPr>
          <a:xfrm>
            <a:off x="311700" y="295125"/>
            <a:ext cx="8520600" cy="96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4400"/>
              <a:t>Introduction</a:t>
            </a:r>
            <a:endParaRPr sz="4400"/>
          </a:p>
        </p:txBody>
      </p:sp>
      <p:sp>
        <p:nvSpPr>
          <p:cNvPr id="94" name="Google Shape;94;p14"/>
          <p:cNvSpPr txBox="1"/>
          <p:nvPr>
            <p:ph idx="1" type="subTitle"/>
          </p:nvPr>
        </p:nvSpPr>
        <p:spPr>
          <a:xfrm>
            <a:off x="311700" y="1097075"/>
            <a:ext cx="8520600" cy="3887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t/>
            </a:r>
            <a:endParaRPr sz="2200">
              <a:solidFill>
                <a:srgbClr val="000000"/>
              </a:solidFill>
            </a:endParaRPr>
          </a:p>
          <a:p>
            <a:pPr indent="0" lvl="0" marL="0" rtl="0" algn="just">
              <a:lnSpc>
                <a:spcPct val="100000"/>
              </a:lnSpc>
              <a:spcBef>
                <a:spcPts val="2000"/>
              </a:spcBef>
              <a:spcAft>
                <a:spcPts val="0"/>
              </a:spcAft>
              <a:buNone/>
            </a:pPr>
            <a:r>
              <a:rPr lang="en">
                <a:solidFill>
                  <a:srgbClr val="000000"/>
                </a:solidFill>
              </a:rPr>
              <a:t>Dynamic remotely operated navigation equipment (DRONE)  is the state of art technology that is most often associated with the military ,where they were used initially for</a:t>
            </a:r>
            <a:r>
              <a:rPr lang="en" sz="2200">
                <a:solidFill>
                  <a:srgbClr val="000000"/>
                </a:solidFill>
              </a:rPr>
              <a:t> </a:t>
            </a:r>
            <a:r>
              <a:rPr lang="en">
                <a:solidFill>
                  <a:srgbClr val="000000"/>
                </a:solidFill>
              </a:rPr>
              <a:t> anti-aircraft target practice intelligence gathering and then,more controversially,as weapons platform.Drones are now also used in a wide range of civilian roles ranging from search and and rescue, surveillance , traffic monitoring, weather monitoring and fire fighting , to personal drones for photography , agriculture and even delivery services.</a:t>
            </a:r>
            <a:endParaRPr>
              <a:solidFill>
                <a:srgbClr val="000000"/>
              </a:solidFill>
            </a:endParaRPr>
          </a:p>
          <a:p>
            <a:pPr indent="0" lvl="0" marL="0" rtl="0" algn="just">
              <a:spcBef>
                <a:spcPts val="2000"/>
              </a:spcBef>
              <a:spcAft>
                <a:spcPts val="0"/>
              </a:spcAft>
              <a:buNone/>
            </a:pPr>
            <a:r>
              <a:rPr lang="en">
                <a:solidFill>
                  <a:srgbClr val="000000"/>
                </a:solidFill>
              </a:rPr>
              <a:t>T</a:t>
            </a:r>
            <a:r>
              <a:rPr lang="en">
                <a:solidFill>
                  <a:srgbClr val="000000"/>
                </a:solidFill>
              </a:rPr>
              <a:t>he proposed system is composed of a Quick Response (QR) Code analyser mounted on board an unmanned aerial vehicle (UAV) along with on board processor, which allows the drone to be versatile enough in order to specifically to be used in object recognition,Human tracking, navigation, moving body identification, godown inspection, etc. </a:t>
            </a:r>
            <a:endParaRPr>
              <a:solidFill>
                <a:srgbClr val="0000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ph type="ctrTitle"/>
          </p:nvPr>
        </p:nvSpPr>
        <p:spPr>
          <a:xfrm>
            <a:off x="311700" y="288950"/>
            <a:ext cx="8520600" cy="82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C</a:t>
            </a:r>
            <a:r>
              <a:rPr lang="en"/>
              <a:t>lassification of drones</a:t>
            </a:r>
            <a:endParaRPr/>
          </a:p>
        </p:txBody>
      </p:sp>
      <p:sp>
        <p:nvSpPr>
          <p:cNvPr id="100" name="Google Shape;100;p15"/>
          <p:cNvSpPr txBox="1"/>
          <p:nvPr>
            <p:ph idx="1" type="subTitle"/>
          </p:nvPr>
        </p:nvSpPr>
        <p:spPr>
          <a:xfrm>
            <a:off x="311700" y="1753025"/>
            <a:ext cx="8520600" cy="3197700"/>
          </a:xfrm>
          <a:prstGeom prst="rect">
            <a:avLst/>
          </a:prstGeom>
        </p:spPr>
        <p:txBody>
          <a:bodyPr anchorCtr="0" anchor="t" bIns="91425" lIns="91425" spcFirstLastPara="1" rIns="91425" wrap="square" tIns="91425">
            <a:noAutofit/>
          </a:bodyPr>
          <a:lstStyle/>
          <a:p>
            <a:pPr indent="-342900" lvl="0" marL="685800" rtl="0" algn="l">
              <a:lnSpc>
                <a:spcPct val="115000"/>
              </a:lnSpc>
              <a:spcBef>
                <a:spcPts val="1600"/>
              </a:spcBef>
              <a:spcAft>
                <a:spcPts val="0"/>
              </a:spcAft>
              <a:buClr>
                <a:schemeClr val="dk1"/>
              </a:buClr>
              <a:buSzPts val="1800"/>
              <a:buChar char="●"/>
            </a:pPr>
            <a:r>
              <a:rPr lang="en" sz="1800">
                <a:solidFill>
                  <a:schemeClr val="dk1"/>
                </a:solidFill>
                <a:highlight>
                  <a:srgbClr val="FFFFFF"/>
                </a:highlight>
              </a:rPr>
              <a:t>Multi-Rotor Drones.</a:t>
            </a:r>
            <a:endParaRPr sz="1800">
              <a:solidFill>
                <a:schemeClr val="dk1"/>
              </a:solidFill>
              <a:highlight>
                <a:srgbClr val="FFFFFF"/>
              </a:highlight>
            </a:endParaRPr>
          </a:p>
          <a:p>
            <a:pPr indent="-342900" lvl="0" marL="685800" rtl="0" algn="l">
              <a:lnSpc>
                <a:spcPct val="115000"/>
              </a:lnSpc>
              <a:spcBef>
                <a:spcPts val="0"/>
              </a:spcBef>
              <a:spcAft>
                <a:spcPts val="0"/>
              </a:spcAft>
              <a:buClr>
                <a:schemeClr val="dk1"/>
              </a:buClr>
              <a:buSzPts val="1800"/>
              <a:buChar char="●"/>
            </a:pPr>
            <a:r>
              <a:rPr lang="en" sz="1800">
                <a:solidFill>
                  <a:schemeClr val="dk1"/>
                </a:solidFill>
                <a:highlight>
                  <a:srgbClr val="FFFFFF"/>
                </a:highlight>
              </a:rPr>
              <a:t>Fixed-Wing Drones.</a:t>
            </a:r>
            <a:endParaRPr sz="1800">
              <a:solidFill>
                <a:schemeClr val="dk1"/>
              </a:solidFill>
              <a:highlight>
                <a:srgbClr val="FFFFFF"/>
              </a:highlight>
            </a:endParaRPr>
          </a:p>
          <a:p>
            <a:pPr indent="-342900" lvl="0" marL="685800" rtl="0" algn="l">
              <a:lnSpc>
                <a:spcPct val="115000"/>
              </a:lnSpc>
              <a:spcBef>
                <a:spcPts val="0"/>
              </a:spcBef>
              <a:spcAft>
                <a:spcPts val="0"/>
              </a:spcAft>
              <a:buClr>
                <a:schemeClr val="dk1"/>
              </a:buClr>
              <a:buSzPts val="1800"/>
              <a:buChar char="●"/>
            </a:pPr>
            <a:r>
              <a:rPr lang="en" sz="1800">
                <a:solidFill>
                  <a:schemeClr val="dk1"/>
                </a:solidFill>
                <a:highlight>
                  <a:srgbClr val="FFFFFF"/>
                </a:highlight>
              </a:rPr>
              <a:t>Single-Rotor Helicopter Drones.</a:t>
            </a:r>
            <a:endParaRPr sz="1800">
              <a:solidFill>
                <a:schemeClr val="dk1"/>
              </a:solidFill>
              <a:highlight>
                <a:srgbClr val="FFFFFF"/>
              </a:highlight>
            </a:endParaRPr>
          </a:p>
          <a:p>
            <a:pPr indent="-342900" lvl="0" marL="685800" rtl="0" algn="l">
              <a:lnSpc>
                <a:spcPct val="115000"/>
              </a:lnSpc>
              <a:spcBef>
                <a:spcPts val="0"/>
              </a:spcBef>
              <a:spcAft>
                <a:spcPts val="0"/>
              </a:spcAft>
              <a:buClr>
                <a:schemeClr val="dk1"/>
              </a:buClr>
              <a:buSzPts val="1800"/>
              <a:buChar char="●"/>
            </a:pPr>
            <a:r>
              <a:rPr lang="en" sz="1800">
                <a:solidFill>
                  <a:schemeClr val="dk1"/>
                </a:solidFill>
                <a:highlight>
                  <a:srgbClr val="FFFFFF"/>
                </a:highlight>
              </a:rPr>
              <a:t>Fixed-Wing Hybrid VTOL.</a:t>
            </a:r>
            <a:endParaRPr sz="1800">
              <a:solidFill>
                <a:schemeClr val="dk1"/>
              </a:solidFill>
              <a:highlight>
                <a:srgbClr val="FFFFFF"/>
              </a:highlight>
            </a:endParaRPr>
          </a:p>
          <a:p>
            <a:pPr indent="0" lvl="0" marL="0" rtl="0" algn="l">
              <a:spcBef>
                <a:spcPts val="800"/>
              </a:spcBef>
              <a:spcAft>
                <a:spcPts val="0"/>
              </a:spcAft>
              <a:buNone/>
            </a:pPr>
            <a:r>
              <a:t/>
            </a:r>
            <a:endParaRPr sz="34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6"/>
          <p:cNvSpPr txBox="1"/>
          <p:nvPr>
            <p:ph type="ctrTitle"/>
          </p:nvPr>
        </p:nvSpPr>
        <p:spPr>
          <a:xfrm>
            <a:off x="311700" y="366025"/>
            <a:ext cx="8520600" cy="886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Design parameters </a:t>
            </a:r>
            <a:endParaRPr/>
          </a:p>
        </p:txBody>
      </p:sp>
      <p:sp>
        <p:nvSpPr>
          <p:cNvPr id="106" name="Google Shape;106;p16"/>
          <p:cNvSpPr txBox="1"/>
          <p:nvPr>
            <p:ph idx="1" type="subTitle"/>
          </p:nvPr>
        </p:nvSpPr>
        <p:spPr>
          <a:xfrm>
            <a:off x="311700" y="1348475"/>
            <a:ext cx="8520600" cy="34098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b="1" lang="en" sz="1800"/>
              <a:t>Aerodynamics </a:t>
            </a:r>
            <a:endParaRPr b="1" sz="1800"/>
          </a:p>
          <a:p>
            <a:pPr indent="-342900" lvl="0" marL="457200" rtl="0" algn="l">
              <a:spcBef>
                <a:spcPts val="0"/>
              </a:spcBef>
              <a:spcAft>
                <a:spcPts val="0"/>
              </a:spcAft>
              <a:buSzPts val="1800"/>
              <a:buChar char="●"/>
            </a:pPr>
            <a:r>
              <a:rPr b="1" lang="en" sz="1800"/>
              <a:t>Payload</a:t>
            </a:r>
            <a:endParaRPr b="1" sz="1800"/>
          </a:p>
          <a:p>
            <a:pPr indent="-342900" lvl="0" marL="457200" rtl="0" algn="l">
              <a:spcBef>
                <a:spcPts val="0"/>
              </a:spcBef>
              <a:spcAft>
                <a:spcPts val="0"/>
              </a:spcAft>
              <a:buSzPts val="1800"/>
              <a:buChar char="●"/>
            </a:pPr>
            <a:r>
              <a:rPr b="1" lang="en" sz="1800"/>
              <a:t>Endurance </a:t>
            </a:r>
            <a:endParaRPr b="1" sz="1800"/>
          </a:p>
          <a:p>
            <a:pPr indent="-342900" lvl="0" marL="457200" rtl="0" algn="l">
              <a:spcBef>
                <a:spcPts val="0"/>
              </a:spcBef>
              <a:spcAft>
                <a:spcPts val="0"/>
              </a:spcAft>
              <a:buSzPts val="1800"/>
              <a:buChar char="●"/>
            </a:pPr>
            <a:r>
              <a:rPr b="1" lang="en" sz="1800"/>
              <a:t>Speed and range </a:t>
            </a:r>
            <a:endParaRPr b="1" sz="1800"/>
          </a:p>
          <a:p>
            <a:pPr indent="-342900" lvl="0" marL="457200" rtl="0" algn="l">
              <a:spcBef>
                <a:spcPts val="0"/>
              </a:spcBef>
              <a:spcAft>
                <a:spcPts val="0"/>
              </a:spcAft>
              <a:buSzPts val="1800"/>
              <a:buChar char="●"/>
            </a:pPr>
            <a:r>
              <a:rPr b="1" lang="en" sz="1800"/>
              <a:t>Communication </a:t>
            </a:r>
            <a:endParaRPr b="1" sz="1800"/>
          </a:p>
          <a:p>
            <a:pPr indent="-342900" lvl="0" marL="457200" rtl="0" algn="l">
              <a:spcBef>
                <a:spcPts val="0"/>
              </a:spcBef>
              <a:spcAft>
                <a:spcPts val="0"/>
              </a:spcAft>
              <a:buSzPts val="1800"/>
              <a:buChar char="●"/>
            </a:pPr>
            <a:r>
              <a:rPr b="1" lang="en" sz="1800"/>
              <a:t>Navigation system </a:t>
            </a:r>
            <a:endParaRPr b="1" sz="1800"/>
          </a:p>
          <a:p>
            <a:pPr indent="-342900" lvl="0" marL="457200" rtl="0" algn="l">
              <a:spcBef>
                <a:spcPts val="0"/>
              </a:spcBef>
              <a:spcAft>
                <a:spcPts val="0"/>
              </a:spcAft>
              <a:buSzPts val="1800"/>
              <a:buChar char="●"/>
            </a:pPr>
            <a:r>
              <a:rPr b="1" lang="en" sz="1800"/>
              <a:t>Launch and recovery </a:t>
            </a:r>
            <a:endParaRPr b="1" sz="1800"/>
          </a:p>
          <a:p>
            <a:pPr indent="-342900" lvl="0" marL="457200" rtl="0" algn="l">
              <a:spcBef>
                <a:spcPts val="0"/>
              </a:spcBef>
              <a:spcAft>
                <a:spcPts val="0"/>
              </a:spcAft>
              <a:buSzPts val="1800"/>
              <a:buChar char="●"/>
            </a:pPr>
            <a:r>
              <a:rPr b="1" lang="en" sz="1800"/>
              <a:t>Recognition distance</a:t>
            </a:r>
            <a:endParaRPr b="1" sz="1800"/>
          </a:p>
          <a:p>
            <a:pPr indent="-342900" lvl="0" marL="457200" rtl="0" algn="l">
              <a:spcBef>
                <a:spcPts val="0"/>
              </a:spcBef>
              <a:spcAft>
                <a:spcPts val="0"/>
              </a:spcAft>
              <a:buSzPts val="1800"/>
              <a:buChar char="●"/>
            </a:pPr>
            <a:r>
              <a:rPr b="1" lang="en" sz="1800"/>
              <a:t>Tracking efficiency</a:t>
            </a:r>
            <a:endParaRPr b="1" sz="1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17"/>
          <p:cNvSpPr txBox="1"/>
          <p:nvPr>
            <p:ph type="ctrTitle"/>
          </p:nvPr>
        </p:nvSpPr>
        <p:spPr>
          <a:xfrm>
            <a:off x="311700" y="250525"/>
            <a:ext cx="8520600" cy="1286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Applications of UAVs</a:t>
            </a:r>
            <a:endParaRPr/>
          </a:p>
        </p:txBody>
      </p:sp>
      <p:sp>
        <p:nvSpPr>
          <p:cNvPr id="112" name="Google Shape;112;p17"/>
          <p:cNvSpPr txBox="1"/>
          <p:nvPr>
            <p:ph idx="1" type="subTitle"/>
          </p:nvPr>
        </p:nvSpPr>
        <p:spPr>
          <a:xfrm>
            <a:off x="311700" y="1711900"/>
            <a:ext cx="8520600" cy="288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330200" lvl="0" marL="457200" rtl="0" algn="l">
              <a:spcBef>
                <a:spcPts val="0"/>
              </a:spcBef>
              <a:spcAft>
                <a:spcPts val="0"/>
              </a:spcAft>
              <a:buSzPts val="1600"/>
              <a:buChar char="●"/>
            </a:pPr>
            <a:r>
              <a:rPr lang="en"/>
              <a:t>Search and rescue</a:t>
            </a:r>
            <a:endParaRPr/>
          </a:p>
          <a:p>
            <a:pPr indent="-330200" lvl="0" marL="457200" rtl="0" algn="l">
              <a:spcBef>
                <a:spcPts val="0"/>
              </a:spcBef>
              <a:spcAft>
                <a:spcPts val="0"/>
              </a:spcAft>
              <a:buSzPts val="1600"/>
              <a:buChar char="●"/>
            </a:pPr>
            <a:r>
              <a:rPr lang="en"/>
              <a:t>Disaster relief</a:t>
            </a:r>
            <a:endParaRPr/>
          </a:p>
          <a:p>
            <a:pPr indent="-330200" lvl="0" marL="457200" rtl="0" algn="l">
              <a:spcBef>
                <a:spcPts val="0"/>
              </a:spcBef>
              <a:spcAft>
                <a:spcPts val="0"/>
              </a:spcAft>
              <a:buSzPts val="1600"/>
              <a:buChar char="●"/>
            </a:pPr>
            <a:r>
              <a:rPr lang="en"/>
              <a:t>Sports</a:t>
            </a:r>
            <a:endParaRPr/>
          </a:p>
          <a:p>
            <a:pPr indent="-330200" lvl="0" marL="457200" rtl="0" algn="l">
              <a:spcBef>
                <a:spcPts val="0"/>
              </a:spcBef>
              <a:spcAft>
                <a:spcPts val="0"/>
              </a:spcAft>
              <a:buSzPts val="1600"/>
              <a:buChar char="●"/>
            </a:pPr>
            <a:r>
              <a:rPr lang="en"/>
              <a:t>Commercial </a:t>
            </a:r>
            <a:r>
              <a:rPr lang="en"/>
              <a:t>aerial</a:t>
            </a:r>
            <a:r>
              <a:rPr lang="en"/>
              <a:t> </a:t>
            </a:r>
            <a:r>
              <a:rPr lang="en"/>
              <a:t>surveillance</a:t>
            </a:r>
            <a:endParaRPr/>
          </a:p>
          <a:p>
            <a:pPr indent="-330200" lvl="0" marL="457200" rtl="0" algn="l">
              <a:spcBef>
                <a:spcPts val="0"/>
              </a:spcBef>
              <a:spcAft>
                <a:spcPts val="0"/>
              </a:spcAft>
              <a:buSzPts val="1600"/>
              <a:buChar char="●"/>
            </a:pPr>
            <a:r>
              <a:rPr lang="en"/>
              <a:t>Armed attacks </a:t>
            </a:r>
            <a:r>
              <a:rPr lang="en"/>
              <a:t> </a:t>
            </a:r>
            <a:endParaRPr/>
          </a:p>
          <a:p>
            <a:pPr indent="-330200" lvl="0" marL="457200" rtl="0" algn="l">
              <a:spcBef>
                <a:spcPts val="0"/>
              </a:spcBef>
              <a:spcAft>
                <a:spcPts val="0"/>
              </a:spcAft>
              <a:buSzPts val="1600"/>
              <a:buChar char="●"/>
            </a:pPr>
            <a:r>
              <a:rPr lang="en"/>
              <a:t>Tracking</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8"/>
          <p:cNvSpPr txBox="1"/>
          <p:nvPr>
            <p:ph type="ctrTitle"/>
          </p:nvPr>
        </p:nvSpPr>
        <p:spPr>
          <a:xfrm>
            <a:off x="231800" y="125350"/>
            <a:ext cx="8520600" cy="853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Objectives of the project</a:t>
            </a:r>
            <a:endParaRPr/>
          </a:p>
        </p:txBody>
      </p:sp>
      <p:sp>
        <p:nvSpPr>
          <p:cNvPr id="118" name="Google Shape;118;p18"/>
          <p:cNvSpPr txBox="1"/>
          <p:nvPr/>
        </p:nvSpPr>
        <p:spPr>
          <a:xfrm>
            <a:off x="1208475" y="1597975"/>
            <a:ext cx="6571800" cy="21972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SzPts val="1900"/>
              <a:buAutoNum type="arabicPeriod"/>
            </a:pPr>
            <a:r>
              <a:rPr lang="en" sz="1900"/>
              <a:t>Creating Halftone QR codes</a:t>
            </a:r>
            <a:endParaRPr sz="1900"/>
          </a:p>
          <a:p>
            <a:pPr indent="-349250" lvl="0" marL="457200" rtl="0" algn="l">
              <a:spcBef>
                <a:spcPts val="0"/>
              </a:spcBef>
              <a:spcAft>
                <a:spcPts val="0"/>
              </a:spcAft>
              <a:buSzPts val="1900"/>
              <a:buAutoNum type="arabicPeriod"/>
            </a:pPr>
            <a:r>
              <a:rPr lang="en" sz="1900"/>
              <a:t>QR based recognition </a:t>
            </a:r>
            <a:endParaRPr sz="1900"/>
          </a:p>
          <a:p>
            <a:pPr indent="-349250" lvl="0" marL="457200" rtl="0" algn="l">
              <a:spcBef>
                <a:spcPts val="0"/>
              </a:spcBef>
              <a:spcAft>
                <a:spcPts val="0"/>
              </a:spcAft>
              <a:buSzPts val="1900"/>
              <a:buAutoNum type="arabicPeriod"/>
            </a:pPr>
            <a:r>
              <a:rPr lang="en" sz="1900"/>
              <a:t>Tracking of objects</a:t>
            </a:r>
            <a:endParaRPr sz="1900"/>
          </a:p>
          <a:p>
            <a:pPr indent="0" lvl="0" marL="457200" rtl="0" algn="l">
              <a:spcBef>
                <a:spcPts val="0"/>
              </a:spcBef>
              <a:spcAft>
                <a:spcPts val="0"/>
              </a:spcAft>
              <a:buNone/>
            </a:pPr>
            <a:r>
              <a:t/>
            </a:r>
            <a:endParaRPr sz="1900"/>
          </a:p>
          <a:p>
            <a:pPr indent="0" lvl="0" marL="457200" rtl="0" algn="l">
              <a:spcBef>
                <a:spcPts val="0"/>
              </a:spcBef>
              <a:spcAft>
                <a:spcPts val="0"/>
              </a:spcAft>
              <a:buNone/>
            </a:pPr>
            <a:r>
              <a:t/>
            </a:r>
            <a:endParaRPr sz="1900"/>
          </a:p>
          <a:p>
            <a:pPr indent="0" lvl="0" marL="457200" rtl="0" algn="l">
              <a:spcBef>
                <a:spcPts val="0"/>
              </a:spcBef>
              <a:spcAft>
                <a:spcPts val="0"/>
              </a:spcAft>
              <a:buNone/>
            </a:pPr>
            <a:r>
              <a:t/>
            </a:r>
            <a:endParaRPr sz="19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9"/>
          <p:cNvSpPr txBox="1"/>
          <p:nvPr/>
        </p:nvSpPr>
        <p:spPr>
          <a:xfrm>
            <a:off x="786750" y="173525"/>
            <a:ext cx="5484600" cy="75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t>LITERATURE REVIEW</a:t>
            </a:r>
            <a:endParaRPr b="1" sz="2100"/>
          </a:p>
        </p:txBody>
      </p:sp>
      <p:sp>
        <p:nvSpPr>
          <p:cNvPr id="124" name="Google Shape;124;p19"/>
          <p:cNvSpPr txBox="1"/>
          <p:nvPr/>
        </p:nvSpPr>
        <p:spPr>
          <a:xfrm>
            <a:off x="341825" y="732000"/>
            <a:ext cx="7883400" cy="402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latin typeface="Lato"/>
                <a:ea typeface="Lato"/>
                <a:cs typeface="Lato"/>
                <a:sym typeface="Lato"/>
              </a:rPr>
              <a:t>Recognition System for QR Code on Moving Car</a:t>
            </a:r>
            <a:endParaRPr b="1" sz="1700">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a:p>
            <a:pPr indent="0" lvl="0" marL="0" rtl="0" algn="l">
              <a:spcBef>
                <a:spcPts val="0"/>
              </a:spcBef>
              <a:spcAft>
                <a:spcPts val="0"/>
              </a:spcAft>
              <a:buNone/>
            </a:pPr>
            <a:r>
              <a:rPr lang="en" sz="1600">
                <a:latin typeface="Lato"/>
                <a:ea typeface="Lato"/>
                <a:cs typeface="Lato"/>
                <a:sym typeface="Lato"/>
              </a:rPr>
              <a:t>The Paper proposed a system which reads QR code from a moving object by recording a video file.</a:t>
            </a:r>
            <a:endParaRPr sz="1600">
              <a:latin typeface="Lato"/>
              <a:ea typeface="Lato"/>
              <a:cs typeface="Lato"/>
              <a:sym typeface="Lato"/>
            </a:endParaRPr>
          </a:p>
          <a:p>
            <a:pPr indent="0" lvl="0" marL="0" rtl="0" algn="l">
              <a:spcBef>
                <a:spcPts val="0"/>
              </a:spcBef>
              <a:spcAft>
                <a:spcPts val="0"/>
              </a:spcAft>
              <a:buNone/>
            </a:pPr>
            <a:r>
              <a:rPr lang="en" sz="1600">
                <a:latin typeface="Lato"/>
                <a:ea typeface="Lato"/>
                <a:cs typeface="Lato"/>
                <a:sym typeface="Lato"/>
              </a:rPr>
              <a:t>The moving object was subjected to different  speeds and analysing video files. </a:t>
            </a:r>
            <a:endParaRPr sz="1600">
              <a:latin typeface="Lato"/>
              <a:ea typeface="Lato"/>
              <a:cs typeface="Lato"/>
              <a:sym typeface="Lato"/>
            </a:endParaRPr>
          </a:p>
          <a:p>
            <a:pPr indent="0" lvl="0" marL="0" rtl="0" algn="l">
              <a:spcBef>
                <a:spcPts val="0"/>
              </a:spcBef>
              <a:spcAft>
                <a:spcPts val="0"/>
              </a:spcAft>
              <a:buNone/>
            </a:pPr>
            <a:r>
              <a:rPr lang="en" sz="1600">
                <a:latin typeface="Lato"/>
                <a:ea typeface="Lato"/>
                <a:cs typeface="Lato"/>
                <a:sym typeface="Lato"/>
              </a:rPr>
              <a:t>QR  Code abbreviation for Quick Response Code was first developed by Denso Wave corporation. It can hold a significant  amount of data in a 2D matrix format  using function pattern and encoding region, along with contrast limited adaptive histogram equalization. In simple words histogram equalisation is to stretch the histogram of a image to either sides, as the brighter image have all images confined to high values. </a:t>
            </a:r>
            <a:endParaRPr sz="1600">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0"/>
          <p:cNvPicPr preferRelativeResize="0"/>
          <p:nvPr/>
        </p:nvPicPr>
        <p:blipFill>
          <a:blip r:embed="rId3">
            <a:alphaModFix/>
          </a:blip>
          <a:stretch>
            <a:fillRect/>
          </a:stretch>
        </p:blipFill>
        <p:spPr>
          <a:xfrm>
            <a:off x="370675" y="224288"/>
            <a:ext cx="2857500" cy="1285875"/>
          </a:xfrm>
          <a:prstGeom prst="rect">
            <a:avLst/>
          </a:prstGeom>
          <a:noFill/>
          <a:ln>
            <a:noFill/>
          </a:ln>
        </p:spPr>
      </p:pic>
      <p:pic>
        <p:nvPicPr>
          <p:cNvPr id="130" name="Google Shape;130;p20"/>
          <p:cNvPicPr preferRelativeResize="0"/>
          <p:nvPr/>
        </p:nvPicPr>
        <p:blipFill>
          <a:blip r:embed="rId4">
            <a:alphaModFix/>
          </a:blip>
          <a:stretch>
            <a:fillRect/>
          </a:stretch>
        </p:blipFill>
        <p:spPr>
          <a:xfrm>
            <a:off x="4572000" y="224300"/>
            <a:ext cx="4286250" cy="2085975"/>
          </a:xfrm>
          <a:prstGeom prst="rect">
            <a:avLst/>
          </a:prstGeom>
          <a:noFill/>
          <a:ln>
            <a:noFill/>
          </a:ln>
        </p:spPr>
      </p:pic>
      <p:pic>
        <p:nvPicPr>
          <p:cNvPr id="131" name="Google Shape;131;p20"/>
          <p:cNvPicPr preferRelativeResize="0"/>
          <p:nvPr/>
        </p:nvPicPr>
        <p:blipFill>
          <a:blip r:embed="rId5">
            <a:alphaModFix/>
          </a:blip>
          <a:stretch>
            <a:fillRect/>
          </a:stretch>
        </p:blipFill>
        <p:spPr>
          <a:xfrm>
            <a:off x="4572000" y="2428175"/>
            <a:ext cx="4286250" cy="2238375"/>
          </a:xfrm>
          <a:prstGeom prst="rect">
            <a:avLst/>
          </a:prstGeom>
          <a:noFill/>
          <a:ln>
            <a:noFill/>
          </a:ln>
        </p:spPr>
      </p:pic>
      <p:sp>
        <p:nvSpPr>
          <p:cNvPr id="132" name="Google Shape;132;p20"/>
          <p:cNvSpPr txBox="1"/>
          <p:nvPr/>
        </p:nvSpPr>
        <p:spPr>
          <a:xfrm>
            <a:off x="448575" y="2209975"/>
            <a:ext cx="3140100" cy="208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From the figures in the slide you can get a rough sketch of what is histogram equalisation is. It can be </a:t>
            </a:r>
            <a:r>
              <a:rPr lang="en">
                <a:latin typeface="Lato"/>
                <a:ea typeface="Lato"/>
                <a:cs typeface="Lato"/>
                <a:sym typeface="Lato"/>
              </a:rPr>
              <a:t>achieved</a:t>
            </a:r>
            <a:r>
              <a:rPr lang="en">
                <a:latin typeface="Lato"/>
                <a:ea typeface="Lato"/>
                <a:cs typeface="Lato"/>
                <a:sym typeface="Lato"/>
              </a:rPr>
              <a:t> in the </a:t>
            </a:r>
            <a:r>
              <a:rPr lang="en">
                <a:latin typeface="Lato"/>
                <a:ea typeface="Lato"/>
                <a:cs typeface="Lato"/>
                <a:sym typeface="Lato"/>
              </a:rPr>
              <a:t>opencv</a:t>
            </a:r>
            <a:r>
              <a:rPr lang="en">
                <a:latin typeface="Lato"/>
                <a:ea typeface="Lato"/>
                <a:cs typeface="Lato"/>
                <a:sym typeface="Lato"/>
              </a:rPr>
              <a:t> by the </a:t>
            </a:r>
            <a:r>
              <a:rPr b="1" lang="en">
                <a:latin typeface="Lato"/>
                <a:ea typeface="Lato"/>
                <a:cs typeface="Lato"/>
                <a:sym typeface="Lato"/>
              </a:rPr>
              <a:t>cv.equalizeHist.</a:t>
            </a:r>
            <a:r>
              <a:rPr lang="en">
                <a:latin typeface="Lato"/>
                <a:ea typeface="Lato"/>
                <a:cs typeface="Lato"/>
                <a:sym typeface="Lato"/>
              </a:rPr>
              <a:t> But the drawback is that the said technique only applies to the global picture which </a:t>
            </a:r>
            <a:r>
              <a:rPr lang="en">
                <a:latin typeface="Lato"/>
                <a:ea typeface="Lato"/>
                <a:cs typeface="Lato"/>
                <a:sym typeface="Lato"/>
              </a:rPr>
              <a:t>means</a:t>
            </a:r>
            <a:r>
              <a:rPr lang="en">
                <a:latin typeface="Lato"/>
                <a:ea typeface="Lato"/>
                <a:cs typeface="Lato"/>
                <a:sym typeface="Lato"/>
              </a:rPr>
              <a:t> as the picture in the whole.</a:t>
            </a:r>
            <a:endParaRPr>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pic>
        <p:nvPicPr>
          <p:cNvPr id="137" name="Google Shape;137;p21"/>
          <p:cNvPicPr preferRelativeResize="0"/>
          <p:nvPr/>
        </p:nvPicPr>
        <p:blipFill>
          <a:blip r:embed="rId3">
            <a:alphaModFix/>
          </a:blip>
          <a:stretch>
            <a:fillRect/>
          </a:stretch>
        </p:blipFill>
        <p:spPr>
          <a:xfrm>
            <a:off x="6001125" y="152400"/>
            <a:ext cx="2982760" cy="4838699"/>
          </a:xfrm>
          <a:prstGeom prst="rect">
            <a:avLst/>
          </a:prstGeom>
          <a:noFill/>
          <a:ln>
            <a:noFill/>
          </a:ln>
        </p:spPr>
      </p:pic>
      <p:sp>
        <p:nvSpPr>
          <p:cNvPr id="138" name="Google Shape;138;p21"/>
          <p:cNvSpPr txBox="1"/>
          <p:nvPr/>
        </p:nvSpPr>
        <p:spPr>
          <a:xfrm>
            <a:off x="241550" y="172525"/>
            <a:ext cx="5417400" cy="569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CLAHE    (CONTRAST LIMITED ADAPTIVE HISTOGRAM EQUALISATION)</a:t>
            </a:r>
            <a:endParaRPr>
              <a:latin typeface="Lato"/>
              <a:ea typeface="Lato"/>
              <a:cs typeface="Lato"/>
              <a:sym typeface="Lato"/>
            </a:endParaRPr>
          </a:p>
        </p:txBody>
      </p:sp>
      <p:sp>
        <p:nvSpPr>
          <p:cNvPr id="139" name="Google Shape;139;p21"/>
          <p:cNvSpPr txBox="1"/>
          <p:nvPr/>
        </p:nvSpPr>
        <p:spPr>
          <a:xfrm>
            <a:off x="638350" y="931650"/>
            <a:ext cx="4320300" cy="3579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latin typeface="Lato"/>
                <a:ea typeface="Lato"/>
                <a:cs typeface="Lato"/>
                <a:sym typeface="Lato"/>
              </a:rPr>
              <a:t>For the example given the slide after histogram equalisation even though the background data has been improvised but the data of the facial images of the scupture is lost which is undesirable. In order to avoid that adaptive histogram equalisation where the image is divided into tiles and each block is histogram equalised. In order to avoid noise amplification contrast limiting is applied. After equalisation bilinear interpolation.</a:t>
            </a:r>
            <a:endParaRPr sz="1500">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2"/>
          <p:cNvPicPr preferRelativeResize="0"/>
          <p:nvPr/>
        </p:nvPicPr>
        <p:blipFill>
          <a:blip r:embed="rId3">
            <a:alphaModFix/>
          </a:blip>
          <a:stretch>
            <a:fillRect/>
          </a:stretch>
        </p:blipFill>
        <p:spPr>
          <a:xfrm>
            <a:off x="5966625" y="152400"/>
            <a:ext cx="2819610" cy="4838699"/>
          </a:xfrm>
          <a:prstGeom prst="rect">
            <a:avLst/>
          </a:prstGeom>
          <a:noFill/>
          <a:ln>
            <a:noFill/>
          </a:ln>
        </p:spPr>
      </p:pic>
      <p:sp>
        <p:nvSpPr>
          <p:cNvPr id="145" name="Google Shape;145;p22"/>
          <p:cNvSpPr txBox="1"/>
          <p:nvPr/>
        </p:nvSpPr>
        <p:spPr>
          <a:xfrm>
            <a:off x="287925" y="903300"/>
            <a:ext cx="4779000" cy="398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Preprocessing</a:t>
            </a:r>
            <a:endParaRPr>
              <a:latin typeface="Lato"/>
              <a:ea typeface="Lato"/>
              <a:cs typeface="Lato"/>
              <a:sym typeface="Lato"/>
            </a:endParaRPr>
          </a:p>
          <a:p>
            <a:pPr indent="-317500" lvl="0" marL="457200" rtl="0" algn="l">
              <a:spcBef>
                <a:spcPts val="0"/>
              </a:spcBef>
              <a:spcAft>
                <a:spcPts val="0"/>
              </a:spcAft>
              <a:buSzPts val="1400"/>
              <a:buFont typeface="Lato"/>
              <a:buAutoNum type="arabicPeriod"/>
            </a:pPr>
            <a:r>
              <a:rPr lang="en">
                <a:latin typeface="Lato"/>
                <a:ea typeface="Lato"/>
                <a:cs typeface="Lato"/>
                <a:sym typeface="Lato"/>
              </a:rPr>
              <a:t>Grayscale imaging and image intensity adjustments</a:t>
            </a:r>
            <a:endParaRPr>
              <a:latin typeface="Lato"/>
              <a:ea typeface="Lato"/>
              <a:cs typeface="Lato"/>
              <a:sym typeface="Lato"/>
            </a:endParaRPr>
          </a:p>
          <a:p>
            <a:pPr indent="-317500" lvl="0" marL="457200" rtl="0" algn="l">
              <a:spcBef>
                <a:spcPts val="0"/>
              </a:spcBef>
              <a:spcAft>
                <a:spcPts val="0"/>
              </a:spcAft>
              <a:buSzPts val="1400"/>
              <a:buFont typeface="Lato"/>
              <a:buAutoNum type="arabicPeriod"/>
            </a:pPr>
            <a:r>
              <a:rPr lang="en">
                <a:latin typeface="Lato"/>
                <a:ea typeface="Lato"/>
                <a:cs typeface="Lato"/>
                <a:sym typeface="Lato"/>
              </a:rPr>
              <a:t>CLAHE implementation</a:t>
            </a:r>
            <a:endParaRPr>
              <a:latin typeface="Lato"/>
              <a:ea typeface="Lato"/>
              <a:cs typeface="Lato"/>
              <a:sym typeface="Lato"/>
            </a:endParaRPr>
          </a:p>
          <a:p>
            <a:pPr indent="-317500" lvl="0" marL="457200" rtl="0" algn="l">
              <a:spcBef>
                <a:spcPts val="0"/>
              </a:spcBef>
              <a:spcAft>
                <a:spcPts val="0"/>
              </a:spcAft>
              <a:buSzPts val="1400"/>
              <a:buFont typeface="Lato"/>
              <a:buAutoNum type="arabicPeriod"/>
            </a:pPr>
            <a:r>
              <a:rPr lang="en">
                <a:latin typeface="Lato"/>
                <a:ea typeface="Lato"/>
                <a:cs typeface="Lato"/>
                <a:sym typeface="Lato"/>
              </a:rPr>
              <a:t>Image to binary image based on threshold or level and replacing value 1 in areas where image intensity is greater than the level or threshold and all other value as 0.</a:t>
            </a:r>
            <a:endParaRPr>
              <a:latin typeface="Lato"/>
              <a:ea typeface="Lato"/>
              <a:cs typeface="Lato"/>
              <a:sym typeface="Lato"/>
            </a:endParaRPr>
          </a:p>
          <a:p>
            <a:pPr indent="-317500" lvl="0" marL="457200" rtl="0" algn="l">
              <a:spcBef>
                <a:spcPts val="0"/>
              </a:spcBef>
              <a:spcAft>
                <a:spcPts val="0"/>
              </a:spcAft>
              <a:buSzPts val="1400"/>
              <a:buFont typeface="Lato"/>
              <a:buAutoNum type="arabicPeriod"/>
            </a:pPr>
            <a:r>
              <a:rPr lang="en">
                <a:latin typeface="Lato"/>
                <a:ea typeface="Lato"/>
                <a:cs typeface="Lato"/>
                <a:sym typeface="Lato"/>
              </a:rPr>
              <a:t>Level is normally set at the mid value.</a:t>
            </a:r>
            <a:endParaRPr>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3"/>
          <p:cNvSpPr txBox="1"/>
          <p:nvPr>
            <p:ph type="ctrTitle"/>
          </p:nvPr>
        </p:nvSpPr>
        <p:spPr>
          <a:xfrm>
            <a:off x="457050" y="269700"/>
            <a:ext cx="7960500" cy="982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0" lang="en" sz="1800">
                <a:solidFill>
                  <a:srgbClr val="231F20"/>
                </a:solidFill>
                <a:latin typeface="Arial"/>
                <a:ea typeface="Arial"/>
                <a:cs typeface="Arial"/>
                <a:sym typeface="Arial"/>
              </a:rPr>
              <a:t>Structure From Motion Technique for Scene</a:t>
            </a:r>
            <a:endParaRPr b="0" sz="1800">
              <a:solidFill>
                <a:srgbClr val="231F20"/>
              </a:solidFill>
              <a:latin typeface="Arial"/>
              <a:ea typeface="Arial"/>
              <a:cs typeface="Arial"/>
              <a:sym typeface="Arial"/>
            </a:endParaRPr>
          </a:p>
          <a:p>
            <a:pPr indent="0" lvl="0" marL="0" rtl="0" algn="l">
              <a:spcBef>
                <a:spcPts val="0"/>
              </a:spcBef>
              <a:spcAft>
                <a:spcPts val="0"/>
              </a:spcAft>
              <a:buNone/>
            </a:pPr>
            <a:r>
              <a:rPr b="0" lang="en" sz="1800">
                <a:solidFill>
                  <a:srgbClr val="231F20"/>
                </a:solidFill>
                <a:latin typeface="Arial"/>
                <a:ea typeface="Arial"/>
                <a:cs typeface="Arial"/>
                <a:sym typeface="Arial"/>
              </a:rPr>
              <a:t>Detection Using Autonomous Drone Navigation</a:t>
            </a:r>
            <a:endParaRPr b="0" sz="1800">
              <a:solidFill>
                <a:srgbClr val="231F20"/>
              </a:solidFill>
              <a:latin typeface="Arial"/>
              <a:ea typeface="Arial"/>
              <a:cs typeface="Arial"/>
              <a:sym typeface="Arial"/>
            </a:endParaRPr>
          </a:p>
          <a:p>
            <a:pPr indent="0" lvl="0" marL="0" rtl="0" algn="l">
              <a:spcBef>
                <a:spcPts val="0"/>
              </a:spcBef>
              <a:spcAft>
                <a:spcPts val="0"/>
              </a:spcAft>
              <a:buNone/>
            </a:pPr>
            <a:r>
              <a:rPr b="0" lang="en" sz="700">
                <a:solidFill>
                  <a:srgbClr val="231F20"/>
                </a:solidFill>
                <a:latin typeface="Arial"/>
                <a:ea typeface="Arial"/>
                <a:cs typeface="Arial"/>
                <a:sym typeface="Arial"/>
              </a:rPr>
              <a:t>yo-Ping Huang.http/IEEE.com, </a:t>
            </a:r>
            <a:r>
              <a:rPr b="0" i="1" lang="en" sz="700">
                <a:solidFill>
                  <a:srgbClr val="231F20"/>
                </a:solidFill>
                <a:latin typeface="Arial"/>
                <a:ea typeface="Arial"/>
                <a:cs typeface="Arial"/>
                <a:sym typeface="Arial"/>
              </a:rPr>
              <a:t>Senior Member, IEEE</a:t>
            </a:r>
            <a:r>
              <a:rPr b="0" lang="en" sz="700">
                <a:solidFill>
                  <a:srgbClr val="231F20"/>
                </a:solidFill>
                <a:latin typeface="Arial"/>
                <a:ea typeface="Arial"/>
                <a:cs typeface="Arial"/>
                <a:sym typeface="Arial"/>
              </a:rPr>
              <a:t>, Lucky Sithole, and Tsu-Tian Lee, </a:t>
            </a:r>
            <a:r>
              <a:rPr b="0" i="1" lang="en" sz="700">
                <a:solidFill>
                  <a:srgbClr val="231F20"/>
                </a:solidFill>
                <a:latin typeface="Arial"/>
                <a:ea typeface="Arial"/>
                <a:cs typeface="Arial"/>
                <a:sym typeface="Arial"/>
              </a:rPr>
              <a:t>Fellow, IEEE</a:t>
            </a:r>
            <a:endParaRPr b="0" i="1" sz="700">
              <a:solidFill>
                <a:srgbClr val="231F20"/>
              </a:solidFill>
              <a:latin typeface="Arial"/>
              <a:ea typeface="Arial"/>
              <a:cs typeface="Arial"/>
              <a:sym typeface="Arial"/>
            </a:endParaRPr>
          </a:p>
          <a:p>
            <a:pPr indent="0" lvl="0" marL="0" rtl="0" algn="l">
              <a:spcBef>
                <a:spcPts val="0"/>
              </a:spcBef>
              <a:spcAft>
                <a:spcPts val="0"/>
              </a:spcAft>
              <a:buNone/>
            </a:pPr>
            <a:r>
              <a:t/>
            </a:r>
            <a:endParaRPr b="0" sz="1500">
              <a:solidFill>
                <a:srgbClr val="231F20"/>
              </a:solidFill>
              <a:latin typeface="Arial"/>
              <a:ea typeface="Arial"/>
              <a:cs typeface="Arial"/>
              <a:sym typeface="Arial"/>
            </a:endParaRPr>
          </a:p>
          <a:p>
            <a:pPr indent="0" lvl="0" marL="0" rtl="0" algn="l">
              <a:spcBef>
                <a:spcPts val="0"/>
              </a:spcBef>
              <a:spcAft>
                <a:spcPts val="0"/>
              </a:spcAft>
              <a:buNone/>
            </a:pPr>
            <a:r>
              <a:t/>
            </a:r>
            <a:endParaRPr/>
          </a:p>
        </p:txBody>
      </p:sp>
      <p:sp>
        <p:nvSpPr>
          <p:cNvPr id="151" name="Google Shape;151;p23"/>
          <p:cNvSpPr txBox="1"/>
          <p:nvPr>
            <p:ph idx="1" type="subTitle"/>
          </p:nvPr>
        </p:nvSpPr>
        <p:spPr>
          <a:xfrm>
            <a:off x="457200" y="1305725"/>
            <a:ext cx="7960500" cy="3510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sz="1300">
                <a:solidFill>
                  <a:srgbClr val="000000"/>
                </a:solidFill>
              </a:rPr>
              <a:t>From this paper</a:t>
            </a:r>
            <a:r>
              <a:rPr lang="en" sz="1300">
                <a:solidFill>
                  <a:srgbClr val="000000"/>
                </a:solidFill>
              </a:rPr>
              <a:t> information about  </a:t>
            </a:r>
            <a:r>
              <a:rPr b="1" lang="en" sz="1300">
                <a:solidFill>
                  <a:srgbClr val="000000"/>
                </a:solidFill>
                <a:latin typeface="Arial"/>
                <a:ea typeface="Arial"/>
                <a:cs typeface="Arial"/>
                <a:sym typeface="Arial"/>
              </a:rPr>
              <a:t>scene detection and estimation using high-resolution imagery acquired through autonomous drone navigation aided with landmark detection and recognition. The drone can capture images and provide real-time video streaming of the ground cover using a camera.</a:t>
            </a:r>
            <a:endParaRPr b="1" sz="13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i="1" lang="en" sz="1400">
                <a:solidFill>
                  <a:srgbClr val="000000"/>
                </a:solidFill>
                <a:latin typeface="Arial"/>
                <a:ea typeface="Arial"/>
                <a:cs typeface="Arial"/>
                <a:sym typeface="Arial"/>
              </a:rPr>
              <a:t>Autonomous Navigation  </a:t>
            </a:r>
            <a:r>
              <a:rPr lang="en" sz="1400">
                <a:solidFill>
                  <a:srgbClr val="000000"/>
                </a:solidFill>
                <a:latin typeface="Arial"/>
                <a:ea typeface="Arial"/>
                <a:cs typeface="Arial"/>
                <a:sym typeface="Arial"/>
              </a:rPr>
              <a:t> - For safe and </a:t>
            </a:r>
            <a:r>
              <a:rPr lang="en" sz="1400">
                <a:solidFill>
                  <a:srgbClr val="000000"/>
                </a:solidFill>
                <a:latin typeface="Arial"/>
                <a:ea typeface="Arial"/>
                <a:cs typeface="Arial"/>
                <a:sym typeface="Arial"/>
              </a:rPr>
              <a:t>efficient</a:t>
            </a:r>
            <a:r>
              <a:rPr lang="en" sz="1400">
                <a:solidFill>
                  <a:srgbClr val="000000"/>
                </a:solidFill>
                <a:latin typeface="Arial"/>
                <a:ea typeface="Arial"/>
                <a:cs typeface="Arial"/>
                <a:sym typeface="Arial"/>
              </a:rPr>
              <a:t> navigation, we are be able to localize them autonomously using their onboard sensors and interpretation of the unknown environment features.Tit is a vision-based target detection and localization </a:t>
            </a:r>
            <a:r>
              <a:rPr lang="en" sz="1400">
                <a:solidFill>
                  <a:srgbClr val="000000"/>
                </a:solidFill>
                <a:latin typeface="Arial"/>
                <a:ea typeface="Arial"/>
                <a:cs typeface="Arial"/>
                <a:sym typeface="Arial"/>
              </a:rPr>
              <a:t>system.</a:t>
            </a:r>
            <a:endParaRPr sz="1400">
              <a:solidFill>
                <a:srgbClr val="000000"/>
              </a:solidFill>
              <a:latin typeface="Arial"/>
              <a:ea typeface="Arial"/>
              <a:cs typeface="Arial"/>
              <a:sym typeface="Arial"/>
            </a:endParaRPr>
          </a:p>
          <a:p>
            <a:pPr indent="-317500" lvl="0" marL="457200" rtl="0" algn="l">
              <a:spcBef>
                <a:spcPts val="0"/>
              </a:spcBef>
              <a:spcAft>
                <a:spcPts val="0"/>
              </a:spcAft>
              <a:buClr>
                <a:srgbClr val="000000"/>
              </a:buClr>
              <a:buSzPts val="1400"/>
              <a:buFont typeface="Arial"/>
              <a:buChar char="●"/>
            </a:pPr>
            <a:r>
              <a:rPr lang="en" sz="1400">
                <a:solidFill>
                  <a:srgbClr val="000000"/>
                </a:solidFill>
                <a:latin typeface="Arial"/>
                <a:ea typeface="Arial"/>
                <a:cs typeface="Arial"/>
                <a:sym typeface="Arial"/>
              </a:rPr>
              <a:t>The regions of interest (ROIs) in each video frame during the flight and triggers autonomous responses based on the detected landmark and the current drone status.</a:t>
            </a:r>
            <a:endParaRPr sz="1400">
              <a:solidFill>
                <a:srgbClr val="000000"/>
              </a:solidFill>
              <a:latin typeface="Arial"/>
              <a:ea typeface="Arial"/>
              <a:cs typeface="Arial"/>
              <a:sym typeface="Arial"/>
            </a:endParaRPr>
          </a:p>
          <a:p>
            <a:pPr indent="0" lvl="0" marL="457200" rtl="0" algn="l">
              <a:spcBef>
                <a:spcPts val="0"/>
              </a:spcBef>
              <a:spcAft>
                <a:spcPts val="0"/>
              </a:spcAft>
              <a:buNone/>
            </a:pPr>
            <a:r>
              <a:t/>
            </a:r>
            <a:endParaRPr sz="1000">
              <a:solidFill>
                <a:srgbClr val="231F20"/>
              </a:solidFill>
              <a:latin typeface="Arial"/>
              <a:ea typeface="Arial"/>
              <a:cs typeface="Arial"/>
              <a:sym typeface="Arial"/>
            </a:endParaRPr>
          </a:p>
          <a:p>
            <a:pPr indent="0" lvl="0" marL="0" rtl="0" algn="l">
              <a:spcBef>
                <a:spcPts val="0"/>
              </a:spcBef>
              <a:spcAft>
                <a:spcPts val="0"/>
              </a:spcAft>
              <a:buNone/>
            </a:pPr>
            <a:r>
              <a:t/>
            </a:r>
            <a:endParaRPr sz="1000">
              <a:solidFill>
                <a:srgbClr val="231F20"/>
              </a:solidFill>
              <a:latin typeface="Arial"/>
              <a:ea typeface="Arial"/>
              <a:cs typeface="Arial"/>
              <a:sym typeface="Arial"/>
            </a:endParaRPr>
          </a:p>
          <a:p>
            <a:pPr indent="0" lvl="0" marL="0" rtl="0" algn="l">
              <a:spcBef>
                <a:spcPts val="0"/>
              </a:spcBef>
              <a:spcAft>
                <a:spcPts val="0"/>
              </a:spcAft>
              <a:buNone/>
            </a:pPr>
            <a:r>
              <a:t/>
            </a:r>
            <a:endParaRPr b="1" sz="1000">
              <a:solidFill>
                <a:srgbClr val="231F20"/>
              </a:solidFill>
              <a:latin typeface="Arial"/>
              <a:ea typeface="Arial"/>
              <a:cs typeface="Arial"/>
              <a:sym typeface="Arial"/>
            </a:endParaRPr>
          </a:p>
          <a:p>
            <a:pPr indent="0" lvl="0" marL="0" rtl="0" algn="l">
              <a:spcBef>
                <a:spcPts val="0"/>
              </a:spcBef>
              <a:spcAft>
                <a:spcPts val="0"/>
              </a:spcAft>
              <a:buNone/>
            </a:pPr>
            <a:r>
              <a:t/>
            </a:r>
            <a:endParaRPr b="1" sz="1200">
              <a:solidFill>
                <a:srgbClr val="231F20"/>
              </a:solidFill>
              <a:latin typeface="Arial"/>
              <a:ea typeface="Arial"/>
              <a:cs typeface="Arial"/>
              <a:sym typeface="Arial"/>
            </a:endParaRPr>
          </a:p>
          <a:p>
            <a:pPr indent="0" lvl="0" marL="0" rtl="0" algn="l">
              <a:spcBef>
                <a:spcPts val="0"/>
              </a:spcBef>
              <a:spcAft>
                <a:spcPts val="0"/>
              </a:spcAft>
              <a:buNone/>
            </a:pPr>
            <a:r>
              <a:t/>
            </a:r>
            <a:endParaRPr b="1" sz="1200">
              <a:solidFill>
                <a:srgbClr val="231F20"/>
              </a:solidFill>
              <a:latin typeface="Arial"/>
              <a:ea typeface="Arial"/>
              <a:cs typeface="Arial"/>
              <a:sym typeface="Arial"/>
            </a:endParaRPr>
          </a:p>
          <a:p>
            <a:pPr indent="0" lvl="0" marL="0" rtl="0" algn="l">
              <a:spcBef>
                <a:spcPts val="0"/>
              </a:spcBef>
              <a:spcAft>
                <a:spcPts val="0"/>
              </a:spcAft>
              <a:buNone/>
            </a:pPr>
            <a:r>
              <a:t/>
            </a:r>
            <a:endParaRPr b="1" sz="1200">
              <a:solidFill>
                <a:srgbClr val="231F20"/>
              </a:solidFill>
              <a:latin typeface="Arial"/>
              <a:ea typeface="Arial"/>
              <a:cs typeface="Arial"/>
              <a:sym typeface="Arial"/>
            </a:endParaRPr>
          </a:p>
          <a:p>
            <a:pPr indent="0" lvl="0" marL="0" rtl="0" algn="l">
              <a:spcBef>
                <a:spcPts val="0"/>
              </a:spcBef>
              <a:spcAft>
                <a:spcPts val="0"/>
              </a:spcAft>
              <a:buNone/>
            </a:pPr>
            <a:r>
              <a:t/>
            </a:r>
            <a:endParaRPr sz="12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4"/>
          <p:cNvSpPr txBox="1"/>
          <p:nvPr>
            <p:ph type="ctrTitle"/>
          </p:nvPr>
        </p:nvSpPr>
        <p:spPr>
          <a:xfrm>
            <a:off x="729450" y="108975"/>
            <a:ext cx="7688100" cy="1536600"/>
          </a:xfrm>
          <a:prstGeom prst="rect">
            <a:avLst/>
          </a:prstGeom>
        </p:spPr>
        <p:txBody>
          <a:bodyPr anchorCtr="0" anchor="t" bIns="91425" lIns="91425" spcFirstLastPara="1" rIns="91425" wrap="square" tIns="91425">
            <a:noAutofit/>
          </a:bodyPr>
          <a:lstStyle/>
          <a:p>
            <a:pPr indent="0" lvl="0" marL="353568" marR="353568" rtl="0" algn="ctr">
              <a:lnSpc>
                <a:spcPct val="115000"/>
              </a:lnSpc>
              <a:spcBef>
                <a:spcPts val="648"/>
              </a:spcBef>
              <a:spcAft>
                <a:spcPts val="0"/>
              </a:spcAft>
              <a:buNone/>
            </a:pPr>
            <a:r>
              <a:rPr b="0" lang="en" sz="1821">
                <a:solidFill>
                  <a:srgbClr val="000000"/>
                </a:solidFill>
                <a:latin typeface="Arial"/>
                <a:ea typeface="Arial"/>
                <a:cs typeface="Arial"/>
                <a:sym typeface="Arial"/>
              </a:rPr>
              <a:t>Eye in the Sky: Drone-Based Object Tracking and 3D Localization </a:t>
            </a:r>
            <a:endParaRPr b="0" sz="1821">
              <a:solidFill>
                <a:srgbClr val="000000"/>
              </a:solidFill>
              <a:latin typeface="Arial"/>
              <a:ea typeface="Arial"/>
              <a:cs typeface="Arial"/>
              <a:sym typeface="Arial"/>
            </a:endParaRPr>
          </a:p>
          <a:p>
            <a:pPr indent="0" lvl="0" marL="746760" marR="636016" rtl="0" algn="ctr">
              <a:lnSpc>
                <a:spcPct val="100000"/>
              </a:lnSpc>
              <a:spcBef>
                <a:spcPts val="936"/>
              </a:spcBef>
              <a:spcAft>
                <a:spcPts val="0"/>
              </a:spcAft>
              <a:buNone/>
            </a:pPr>
            <a:r>
              <a:rPr b="0" lang="en" sz="1195">
                <a:solidFill>
                  <a:srgbClr val="000000"/>
                </a:solidFill>
                <a:latin typeface="Arial"/>
                <a:ea typeface="Arial"/>
                <a:cs typeface="Arial"/>
                <a:sym typeface="Arial"/>
              </a:rPr>
              <a:t>Haotian Zhang</a:t>
            </a:r>
            <a:r>
              <a:rPr b="0" baseline="30000" lang="en" sz="1461">
                <a:solidFill>
                  <a:srgbClr val="000000"/>
                </a:solidFill>
                <a:latin typeface="Arial"/>
                <a:ea typeface="Arial"/>
                <a:cs typeface="Arial"/>
                <a:sym typeface="Arial"/>
              </a:rPr>
              <a:t>∗ </a:t>
            </a:r>
            <a:r>
              <a:rPr b="0" lang="en" sz="996">
                <a:solidFill>
                  <a:srgbClr val="000000"/>
                </a:solidFill>
                <a:latin typeface="Arial"/>
                <a:ea typeface="Arial"/>
                <a:cs typeface="Arial"/>
                <a:sym typeface="Arial"/>
              </a:rPr>
              <a:t>haotiz@uw.edu University of Washington Seattle, Washington </a:t>
            </a:r>
            <a:endParaRPr b="0" sz="996">
              <a:solidFill>
                <a:srgbClr val="000000"/>
              </a:solidFill>
              <a:latin typeface="Arial"/>
              <a:ea typeface="Arial"/>
              <a:cs typeface="Arial"/>
              <a:sym typeface="Arial"/>
            </a:endParaRPr>
          </a:p>
          <a:p>
            <a:pPr indent="0" lvl="0" marL="648208" marR="734568" rtl="0" algn="ctr">
              <a:lnSpc>
                <a:spcPct val="100000"/>
              </a:lnSpc>
              <a:spcBef>
                <a:spcPts val="0"/>
              </a:spcBef>
              <a:spcAft>
                <a:spcPts val="0"/>
              </a:spcAft>
              <a:buNone/>
            </a:pPr>
            <a:r>
              <a:rPr b="0" lang="en" sz="1195">
                <a:solidFill>
                  <a:srgbClr val="000000"/>
                </a:solidFill>
                <a:latin typeface="Arial"/>
                <a:ea typeface="Arial"/>
                <a:cs typeface="Arial"/>
                <a:sym typeface="Arial"/>
              </a:rPr>
              <a:t>Gaoang Wang </a:t>
            </a:r>
            <a:r>
              <a:rPr b="0" lang="en" sz="996">
                <a:solidFill>
                  <a:srgbClr val="000000"/>
                </a:solidFill>
                <a:latin typeface="Arial"/>
                <a:ea typeface="Arial"/>
                <a:cs typeface="Arial"/>
                <a:sym typeface="Arial"/>
              </a:rPr>
              <a:t>gaoang@uw.edu University of Washington Seattle, Washington </a:t>
            </a:r>
            <a:endParaRPr b="0" sz="996">
              <a:solidFill>
                <a:srgbClr val="000000"/>
              </a:solidFill>
              <a:latin typeface="Arial"/>
              <a:ea typeface="Arial"/>
              <a:cs typeface="Arial"/>
              <a:sym typeface="Arial"/>
            </a:endParaRPr>
          </a:p>
          <a:p>
            <a:pPr indent="0" lvl="0" marL="740664" marR="642112" rtl="0" algn="ctr">
              <a:lnSpc>
                <a:spcPct val="100000"/>
              </a:lnSpc>
              <a:spcBef>
                <a:spcPts val="1032"/>
              </a:spcBef>
              <a:spcAft>
                <a:spcPts val="0"/>
              </a:spcAft>
              <a:buNone/>
            </a:pPr>
            <a:r>
              <a:rPr b="0" lang="en" sz="1195">
                <a:solidFill>
                  <a:srgbClr val="000000"/>
                </a:solidFill>
                <a:latin typeface="Arial"/>
                <a:ea typeface="Arial"/>
                <a:cs typeface="Arial"/>
                <a:sym typeface="Arial"/>
              </a:rPr>
              <a:t>Zhichao Lei </a:t>
            </a:r>
            <a:r>
              <a:rPr b="0" lang="en" sz="996">
                <a:solidFill>
                  <a:srgbClr val="000000"/>
                </a:solidFill>
                <a:latin typeface="Arial"/>
                <a:ea typeface="Arial"/>
                <a:cs typeface="Arial"/>
                <a:sym typeface="Arial"/>
              </a:rPr>
              <a:t>zl68@uw.edu University of Washington Seattle, Washington </a:t>
            </a:r>
            <a:endParaRPr b="0" sz="996">
              <a:solidFill>
                <a:srgbClr val="000000"/>
              </a:solidFill>
              <a:latin typeface="Arial"/>
              <a:ea typeface="Arial"/>
              <a:cs typeface="Arial"/>
              <a:sym typeface="Arial"/>
            </a:endParaRPr>
          </a:p>
          <a:p>
            <a:pPr indent="0" lvl="0" marL="642112" marR="740664" rtl="0" algn="ctr">
              <a:lnSpc>
                <a:spcPct val="100000"/>
              </a:lnSpc>
              <a:spcBef>
                <a:spcPts val="0"/>
              </a:spcBef>
              <a:spcAft>
                <a:spcPts val="0"/>
              </a:spcAft>
              <a:buNone/>
            </a:pPr>
            <a:r>
              <a:rPr b="0" lang="en" sz="1195">
                <a:solidFill>
                  <a:srgbClr val="000000"/>
                </a:solidFill>
                <a:latin typeface="Arial"/>
                <a:ea typeface="Arial"/>
                <a:cs typeface="Arial"/>
                <a:sym typeface="Arial"/>
              </a:rPr>
              <a:t>Jenq-Neng Hwang </a:t>
            </a:r>
            <a:r>
              <a:rPr b="0" lang="en" sz="996">
                <a:solidFill>
                  <a:srgbClr val="000000"/>
                </a:solidFill>
                <a:latin typeface="Arial"/>
                <a:ea typeface="Arial"/>
                <a:cs typeface="Arial"/>
                <a:sym typeface="Arial"/>
              </a:rPr>
              <a:t>hwang@uw.edu University of Washington Seattle, Washington </a:t>
            </a:r>
            <a:endParaRPr b="0" sz="996">
              <a:solidFill>
                <a:srgbClr val="000000"/>
              </a:solidFill>
              <a:latin typeface="Arial"/>
              <a:ea typeface="Arial"/>
              <a:cs typeface="Arial"/>
              <a:sym typeface="Arial"/>
            </a:endParaRPr>
          </a:p>
          <a:p>
            <a:pPr indent="0" lvl="0" marL="0" rtl="0" algn="l">
              <a:spcBef>
                <a:spcPts val="0"/>
              </a:spcBef>
              <a:spcAft>
                <a:spcPts val="0"/>
              </a:spcAft>
              <a:buNone/>
            </a:pPr>
            <a:r>
              <a:t/>
            </a:r>
            <a:endParaRPr/>
          </a:p>
        </p:txBody>
      </p:sp>
      <p:sp>
        <p:nvSpPr>
          <p:cNvPr id="157" name="Google Shape;157;p24"/>
          <p:cNvSpPr txBox="1"/>
          <p:nvPr>
            <p:ph idx="1" type="subTitle"/>
          </p:nvPr>
        </p:nvSpPr>
        <p:spPr>
          <a:xfrm>
            <a:off x="425000" y="1874325"/>
            <a:ext cx="7992600" cy="2865900"/>
          </a:xfrm>
          <a:prstGeom prst="rect">
            <a:avLst/>
          </a:prstGeom>
        </p:spPr>
        <p:txBody>
          <a:bodyPr anchorCtr="0" anchor="t" bIns="91425" lIns="114300" spcFirstLastPara="1" rIns="247325" wrap="square" tIns="91425">
            <a:noAutofit/>
          </a:bodyPr>
          <a:lstStyle/>
          <a:p>
            <a:pPr indent="123825" lvl="0" marL="0" marR="0" rtl="0" algn="l">
              <a:lnSpc>
                <a:spcPct val="115000"/>
              </a:lnSpc>
              <a:spcBef>
                <a:spcPts val="888"/>
              </a:spcBef>
              <a:spcAft>
                <a:spcPts val="0"/>
              </a:spcAft>
              <a:buNone/>
            </a:pPr>
            <a:r>
              <a:rPr lang="en" sz="1596">
                <a:solidFill>
                  <a:srgbClr val="000000"/>
                </a:solidFill>
                <a:latin typeface="Arial"/>
                <a:ea typeface="Arial"/>
                <a:cs typeface="Arial"/>
                <a:sym typeface="Arial"/>
              </a:rPr>
              <a:t>I</a:t>
            </a:r>
            <a:r>
              <a:rPr lang="en" sz="1496">
                <a:solidFill>
                  <a:srgbClr val="000000"/>
                </a:solidFill>
                <a:latin typeface="Arial"/>
                <a:ea typeface="Arial"/>
                <a:cs typeface="Arial"/>
                <a:sym typeface="Arial"/>
              </a:rPr>
              <a:t>n this </a:t>
            </a:r>
            <a:r>
              <a:rPr lang="en" sz="1496">
                <a:solidFill>
                  <a:srgbClr val="000000"/>
                </a:solidFill>
                <a:latin typeface="Arial"/>
                <a:ea typeface="Arial"/>
                <a:cs typeface="Arial"/>
                <a:sym typeface="Arial"/>
              </a:rPr>
              <a:t>paper</a:t>
            </a:r>
            <a:r>
              <a:rPr lang="en" sz="1496">
                <a:solidFill>
                  <a:srgbClr val="000000"/>
                </a:solidFill>
                <a:latin typeface="Arial"/>
                <a:ea typeface="Arial"/>
                <a:cs typeface="Arial"/>
                <a:sym typeface="Arial"/>
              </a:rPr>
              <a:t>, a  multi-object tracking and 3D localization scheme is implemented based on the deep learning based on object detection. A multi-object tracking method called TrackletNet Tracker (TNT) which utilizes temporal and appearance information to track detected objects located on the ground for UAV are applied can be used for the project  . The following novelties such as Accurate object detection , Multi-object tracking   , Visual odometry and ground plane estimation  , 3D object localization these can be </a:t>
            </a:r>
            <a:r>
              <a:rPr lang="en" sz="1496">
                <a:solidFill>
                  <a:srgbClr val="000000"/>
                </a:solidFill>
                <a:latin typeface="Arial"/>
                <a:ea typeface="Arial"/>
                <a:cs typeface="Arial"/>
                <a:sym typeface="Arial"/>
              </a:rPr>
              <a:t>implemented</a:t>
            </a:r>
            <a:r>
              <a:rPr lang="en" sz="1496">
                <a:solidFill>
                  <a:srgbClr val="000000"/>
                </a:solidFill>
                <a:latin typeface="Arial"/>
                <a:ea typeface="Arial"/>
                <a:cs typeface="Arial"/>
                <a:sym typeface="Arial"/>
              </a:rPr>
              <a:t> in our project .</a:t>
            </a:r>
            <a:endParaRPr sz="2900">
              <a:solidFill>
                <a:srgbClr val="000000"/>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p25"/>
          <p:cNvSpPr txBox="1"/>
          <p:nvPr>
            <p:ph type="ctrTitle"/>
          </p:nvPr>
        </p:nvSpPr>
        <p:spPr>
          <a:xfrm>
            <a:off x="602975" y="156025"/>
            <a:ext cx="7688100" cy="60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1700"/>
              <a:t>Development of a Human-Tracking Robot Using QR Code Recognition</a:t>
            </a:r>
            <a:r>
              <a:rPr lang="en" sz="900"/>
              <a:t> Takashi Anezaki* ,Koki Eimon* ,Suriyon Tansuriyavong* ,Yasushi Yagi**</a:t>
            </a:r>
            <a:endParaRPr/>
          </a:p>
        </p:txBody>
      </p:sp>
      <p:sp>
        <p:nvSpPr>
          <p:cNvPr id="163" name="Google Shape;163;p25"/>
          <p:cNvSpPr txBox="1"/>
          <p:nvPr>
            <p:ph idx="1" type="subTitle"/>
          </p:nvPr>
        </p:nvSpPr>
        <p:spPr>
          <a:xfrm>
            <a:off x="563950" y="1321000"/>
            <a:ext cx="7853700" cy="3681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0000"/>
                </a:solidFill>
              </a:rPr>
              <a:t>In this paper they </a:t>
            </a:r>
            <a:r>
              <a:rPr lang="en">
                <a:solidFill>
                  <a:srgbClr val="000000"/>
                </a:solidFill>
              </a:rPr>
              <a:t>conducted research on human-tracking robots. They implemented a tracking system which differentiates individuals using QR codes and tracks subjects using shape-based pattern matching. They  also proposed a rediscovery process using an IR camera to handle cases when the QR code strays completely out of the camera field of vision.</a:t>
            </a:r>
            <a:endParaRPr>
              <a:solidFill>
                <a:srgbClr val="000000"/>
              </a:solidFill>
            </a:endParaRPr>
          </a:p>
          <a:p>
            <a:pPr indent="0" lvl="0" marL="0" rtl="0" algn="l">
              <a:spcBef>
                <a:spcPts val="0"/>
              </a:spcBef>
              <a:spcAft>
                <a:spcPts val="0"/>
              </a:spcAft>
              <a:buNone/>
            </a:pPr>
            <a:r>
              <a:rPr lang="en">
                <a:solidFill>
                  <a:srgbClr val="000000"/>
                </a:solidFill>
              </a:rPr>
              <a:t>There are three main requirements for realizing </a:t>
            </a:r>
            <a:endParaRPr>
              <a:solidFill>
                <a:srgbClr val="000000"/>
              </a:solidFill>
            </a:endParaRPr>
          </a:p>
          <a:p>
            <a:pPr indent="0" lvl="0" marL="0" rtl="0" algn="l">
              <a:spcBef>
                <a:spcPts val="0"/>
              </a:spcBef>
              <a:spcAft>
                <a:spcPts val="0"/>
              </a:spcAft>
              <a:buNone/>
            </a:pPr>
            <a:r>
              <a:rPr lang="en">
                <a:solidFill>
                  <a:srgbClr val="000000"/>
                </a:solidFill>
              </a:rPr>
              <a:t>a human-following robot:</a:t>
            </a:r>
            <a:endParaRPr>
              <a:solidFill>
                <a:srgbClr val="000000"/>
              </a:solidFill>
            </a:endParaRPr>
          </a:p>
          <a:p>
            <a:pPr indent="0" lvl="0" marL="0" rtl="0" algn="l">
              <a:spcBef>
                <a:spcPts val="0"/>
              </a:spcBef>
              <a:spcAft>
                <a:spcPts val="0"/>
              </a:spcAft>
              <a:buNone/>
            </a:pPr>
            <a:r>
              <a:rPr lang="en">
                <a:solidFill>
                  <a:srgbClr val="000000"/>
                </a:solidFill>
              </a:rPr>
              <a:t> (a) Continuous identification of the individual person being</a:t>
            </a:r>
            <a:endParaRPr>
              <a:solidFill>
                <a:srgbClr val="000000"/>
              </a:solidFill>
            </a:endParaRPr>
          </a:p>
          <a:p>
            <a:pPr indent="0" lvl="0" marL="0" rtl="0" algn="l">
              <a:spcBef>
                <a:spcPts val="0"/>
              </a:spcBef>
              <a:spcAft>
                <a:spcPts val="0"/>
              </a:spcAft>
              <a:buNone/>
            </a:pPr>
            <a:r>
              <a:rPr lang="en">
                <a:solidFill>
                  <a:srgbClr val="000000"/>
                </a:solidFill>
              </a:rPr>
              <a:t> followed. </a:t>
            </a:r>
            <a:endParaRPr>
              <a:solidFill>
                <a:srgbClr val="000000"/>
              </a:solidFill>
            </a:endParaRPr>
          </a:p>
          <a:p>
            <a:pPr indent="0" lvl="0" marL="0" rtl="0" algn="l">
              <a:spcBef>
                <a:spcPts val="0"/>
              </a:spcBef>
              <a:spcAft>
                <a:spcPts val="0"/>
              </a:spcAft>
              <a:buNone/>
            </a:pPr>
            <a:r>
              <a:rPr lang="en">
                <a:solidFill>
                  <a:srgbClr val="000000"/>
                </a:solidFill>
              </a:rPr>
              <a:t>(b) Detection of the location of the person being followed. </a:t>
            </a:r>
            <a:endParaRPr>
              <a:solidFill>
                <a:srgbClr val="000000"/>
              </a:solidFill>
            </a:endParaRPr>
          </a:p>
          <a:p>
            <a:pPr indent="0" lvl="0" marL="0" rtl="0" algn="l">
              <a:spcBef>
                <a:spcPts val="0"/>
              </a:spcBef>
              <a:spcAft>
                <a:spcPts val="0"/>
              </a:spcAft>
              <a:buNone/>
            </a:pPr>
            <a:r>
              <a:rPr lang="en">
                <a:solidFill>
                  <a:srgbClr val="000000"/>
                </a:solidFill>
              </a:rPr>
              <a:t>(c) Control of the robot based on the detected location data. </a:t>
            </a:r>
            <a:endParaRPr>
              <a:solidFill>
                <a:srgbClr val="000000"/>
              </a:solidFill>
            </a:endParaRPr>
          </a:p>
          <a:p>
            <a:pPr indent="0" lvl="0" marL="0" rtl="0" algn="l">
              <a:spcBef>
                <a:spcPts val="0"/>
              </a:spcBef>
              <a:spcAft>
                <a:spcPts val="0"/>
              </a:spcAft>
              <a:buNone/>
            </a:pPr>
            <a:r>
              <a:rPr lang="en">
                <a:solidFill>
                  <a:srgbClr val="000000"/>
                </a:solidFill>
              </a:rPr>
              <a:t>Since case (a) is difficult with image processing alone, QR-tag</a:t>
            </a:r>
            <a:endParaRPr>
              <a:solidFill>
                <a:srgbClr val="000000"/>
              </a:solidFill>
            </a:endParaRPr>
          </a:p>
          <a:p>
            <a:pPr indent="0" lvl="0" marL="0" rtl="0" algn="l">
              <a:spcBef>
                <a:spcPts val="0"/>
              </a:spcBef>
              <a:spcAft>
                <a:spcPts val="0"/>
              </a:spcAft>
              <a:buNone/>
            </a:pPr>
            <a:r>
              <a:rPr lang="en">
                <a:solidFill>
                  <a:srgbClr val="000000"/>
                </a:solidFill>
              </a:rPr>
              <a:t> is used for tracking.</a:t>
            </a:r>
            <a:endParaRPr>
              <a:solidFill>
                <a:srgbClr val="000000"/>
              </a:solidFill>
            </a:endParaRPr>
          </a:p>
          <a:p>
            <a:pPr indent="0" lvl="0" marL="0" rtl="0" algn="l">
              <a:spcBef>
                <a:spcPts val="0"/>
              </a:spcBef>
              <a:spcAft>
                <a:spcPts val="0"/>
              </a:spcAft>
              <a:buNone/>
            </a:pPr>
            <a:r>
              <a:t/>
            </a:r>
            <a:endParaRPr>
              <a:solidFill>
                <a:srgbClr val="000000"/>
              </a:solidFill>
            </a:endParaRPr>
          </a:p>
          <a:p>
            <a:pPr indent="0" lvl="0" marL="0" rtl="0" algn="l">
              <a:spcBef>
                <a:spcPts val="0"/>
              </a:spcBef>
              <a:spcAft>
                <a:spcPts val="0"/>
              </a:spcAft>
              <a:buNone/>
            </a:pPr>
            <a:r>
              <a:t/>
            </a:r>
            <a:endParaRPr/>
          </a:p>
        </p:txBody>
      </p:sp>
      <p:pic>
        <p:nvPicPr>
          <p:cNvPr id="164" name="Google Shape;164;p25"/>
          <p:cNvPicPr preferRelativeResize="0"/>
          <p:nvPr/>
        </p:nvPicPr>
        <p:blipFill rotWithShape="1">
          <a:blip r:embed="rId3">
            <a:alphaModFix/>
          </a:blip>
          <a:srcRect b="31159" l="26433" r="38237" t="27975"/>
          <a:stretch/>
        </p:blipFill>
        <p:spPr>
          <a:xfrm>
            <a:off x="6060650" y="2497375"/>
            <a:ext cx="3083349" cy="252188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26"/>
          <p:cNvSpPr txBox="1"/>
          <p:nvPr/>
        </p:nvSpPr>
        <p:spPr>
          <a:xfrm>
            <a:off x="331975" y="161125"/>
            <a:ext cx="7461300" cy="154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800">
                <a:latin typeface="Lato"/>
                <a:ea typeface="Lato"/>
                <a:cs typeface="Lato"/>
                <a:sym typeface="Lato"/>
              </a:rPr>
              <a:t>Literature Review </a:t>
            </a:r>
            <a:endParaRPr b="1" sz="1800">
              <a:latin typeface="Lato"/>
              <a:ea typeface="Lato"/>
              <a:cs typeface="Lato"/>
              <a:sym typeface="Lato"/>
            </a:endParaRPr>
          </a:p>
          <a:p>
            <a:pPr indent="0" lvl="0" marL="0" rtl="0" algn="l">
              <a:spcBef>
                <a:spcPts val="0"/>
              </a:spcBef>
              <a:spcAft>
                <a:spcPts val="0"/>
              </a:spcAft>
              <a:buNone/>
            </a:pPr>
            <a:r>
              <a:rPr lang="en" sz="1800">
                <a:latin typeface="Lato"/>
                <a:ea typeface="Lato"/>
                <a:cs typeface="Lato"/>
                <a:sym typeface="Lato"/>
              </a:rPr>
              <a:t>Warehouse Management Using Real-Time QR-Code and Text Detection</a:t>
            </a:r>
            <a:endParaRPr sz="1800">
              <a:latin typeface="Lato"/>
              <a:ea typeface="Lato"/>
              <a:cs typeface="Lato"/>
              <a:sym typeface="Lato"/>
            </a:endParaRPr>
          </a:p>
          <a:p>
            <a:pPr indent="0" lvl="0" marL="0" rtl="0" algn="l">
              <a:spcBef>
                <a:spcPts val="0"/>
              </a:spcBef>
              <a:spcAft>
                <a:spcPts val="0"/>
              </a:spcAft>
              <a:buNone/>
            </a:pPr>
            <a:r>
              <a:rPr lang="en" sz="900">
                <a:latin typeface="Lato"/>
                <a:ea typeface="Lato"/>
                <a:cs typeface="Lato"/>
                <a:sym typeface="Lato"/>
              </a:rPr>
              <a:t>D</a:t>
            </a:r>
            <a:r>
              <a:rPr lang="en" sz="900">
                <a:latin typeface="Lato"/>
                <a:ea typeface="Lato"/>
                <a:cs typeface="Lato"/>
                <a:sym typeface="Lato"/>
              </a:rPr>
              <a:t>ebjoy Saha Indian Institute of Technology Kharagpur</a:t>
            </a:r>
            <a:endParaRPr sz="900">
              <a:latin typeface="Lato"/>
              <a:ea typeface="Lato"/>
              <a:cs typeface="Lato"/>
              <a:sym typeface="Lato"/>
            </a:endParaRPr>
          </a:p>
          <a:p>
            <a:pPr indent="0" lvl="0" marL="0" rtl="0" algn="l">
              <a:spcBef>
                <a:spcPts val="0"/>
              </a:spcBef>
              <a:spcAft>
                <a:spcPts val="0"/>
              </a:spcAft>
              <a:buNone/>
            </a:pPr>
            <a:r>
              <a:rPr lang="en" sz="900">
                <a:latin typeface="Lato"/>
                <a:ea typeface="Lato"/>
                <a:cs typeface="Lato"/>
                <a:sym typeface="Lato"/>
              </a:rPr>
              <a:t>11th INTERNATIONAL MICRO AIR VEHICLE COMPETITION AND CONFERENCE</a:t>
            </a:r>
            <a:endParaRPr sz="900">
              <a:latin typeface="Lato"/>
              <a:ea typeface="Lato"/>
              <a:cs typeface="Lato"/>
              <a:sym typeface="Lato"/>
            </a:endParaRPr>
          </a:p>
          <a:p>
            <a:pPr indent="0" lvl="0" marL="0" rtl="0" algn="l">
              <a:spcBef>
                <a:spcPts val="0"/>
              </a:spcBef>
              <a:spcAft>
                <a:spcPts val="0"/>
              </a:spcAft>
              <a:buNone/>
            </a:pPr>
            <a:r>
              <a:t/>
            </a:r>
            <a:endParaRPr sz="1800">
              <a:latin typeface="Lato"/>
              <a:ea typeface="Lato"/>
              <a:cs typeface="Lato"/>
              <a:sym typeface="Lato"/>
            </a:endParaRPr>
          </a:p>
        </p:txBody>
      </p:sp>
      <p:sp>
        <p:nvSpPr>
          <p:cNvPr id="170" name="Google Shape;170;p26"/>
          <p:cNvSpPr txBox="1"/>
          <p:nvPr/>
        </p:nvSpPr>
        <p:spPr>
          <a:xfrm>
            <a:off x="270000" y="1338575"/>
            <a:ext cx="8874000" cy="347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This paper is about developing the computer vision tools for efficient inventory management of packages of a warehouse using QR code.A industrial camera with 120 fps is used to detect the QR code .The zbar </a:t>
            </a:r>
            <a:r>
              <a:rPr lang="en">
                <a:latin typeface="Lato"/>
                <a:ea typeface="Lato"/>
                <a:cs typeface="Lato"/>
                <a:sym typeface="Lato"/>
              </a:rPr>
              <a:t>library</a:t>
            </a:r>
            <a:r>
              <a:rPr lang="en">
                <a:latin typeface="Lato"/>
                <a:ea typeface="Lato"/>
                <a:cs typeface="Lato"/>
                <a:sym typeface="Lato"/>
              </a:rPr>
              <a:t> and google text recognition tesseract are used for QR code </a:t>
            </a:r>
            <a:r>
              <a:rPr lang="en">
                <a:latin typeface="Lato"/>
                <a:ea typeface="Lato"/>
                <a:cs typeface="Lato"/>
                <a:sym typeface="Lato"/>
              </a:rPr>
              <a:t>recognition</a:t>
            </a:r>
            <a:r>
              <a:rPr lang="en">
                <a:latin typeface="Lato"/>
                <a:ea typeface="Lato"/>
                <a:cs typeface="Lato"/>
                <a:sym typeface="Lato"/>
              </a:rPr>
              <a:t> and text detection respectively.</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       In this paper the process of QR code recognition is split into 3 stages .In the first stage the </a:t>
            </a:r>
            <a:r>
              <a:rPr lang="en">
                <a:latin typeface="Lato"/>
                <a:ea typeface="Lato"/>
                <a:cs typeface="Lato"/>
                <a:sym typeface="Lato"/>
              </a:rPr>
              <a:t>acquired</a:t>
            </a:r>
            <a:r>
              <a:rPr lang="en">
                <a:latin typeface="Lato"/>
                <a:ea typeface="Lato"/>
                <a:cs typeface="Lato"/>
                <a:sym typeface="Lato"/>
              </a:rPr>
              <a:t> image is rescaled cropped and the distortions are removed by </a:t>
            </a:r>
            <a:r>
              <a:rPr lang="en">
                <a:latin typeface="Lato"/>
                <a:ea typeface="Lato"/>
                <a:cs typeface="Lato"/>
                <a:sym typeface="Lato"/>
              </a:rPr>
              <a:t>blurring</a:t>
            </a:r>
            <a:r>
              <a:rPr lang="en">
                <a:latin typeface="Lato"/>
                <a:ea typeface="Lato"/>
                <a:cs typeface="Lato"/>
                <a:sym typeface="Lato"/>
              </a:rPr>
              <a:t> .The image is </a:t>
            </a:r>
            <a:r>
              <a:rPr lang="en">
                <a:latin typeface="Lato"/>
                <a:ea typeface="Lato"/>
                <a:cs typeface="Lato"/>
                <a:sym typeface="Lato"/>
              </a:rPr>
              <a:t>cropped</a:t>
            </a:r>
            <a:r>
              <a:rPr lang="en">
                <a:latin typeface="Lato"/>
                <a:ea typeface="Lato"/>
                <a:cs typeface="Lato"/>
                <a:sym typeface="Lato"/>
              </a:rPr>
              <a:t> to convert the QR code part of the video feed into a jpg file ..In the next stage the image obtained is passed to the z bar library and the qr code is detected </a:t>
            </a:r>
            <a:r>
              <a:rPr lang="en">
                <a:latin typeface="Lato"/>
                <a:ea typeface="Lato"/>
                <a:cs typeface="Lato"/>
                <a:sym typeface="Lato"/>
              </a:rPr>
              <a:t>and</a:t>
            </a:r>
            <a:r>
              <a:rPr lang="en">
                <a:latin typeface="Lato"/>
                <a:ea typeface="Lato"/>
                <a:cs typeface="Lato"/>
                <a:sym typeface="Lato"/>
              </a:rPr>
              <a:t> decoded. In the next stage the image is preprocessed and passed to tesseract for tex</a:t>
            </a:r>
            <a:r>
              <a:rPr lang="en">
                <a:latin typeface="Lato"/>
                <a:ea typeface="Lato"/>
                <a:cs typeface="Lato"/>
                <a:sym typeface="Lato"/>
              </a:rPr>
              <a:t>t  </a:t>
            </a:r>
            <a:r>
              <a:rPr lang="en">
                <a:latin typeface="Lato"/>
                <a:ea typeface="Lato"/>
                <a:cs typeface="Lato"/>
                <a:sym typeface="Lato"/>
              </a:rPr>
              <a:t>recognition.In this project this decoded information is used to arrange the warehouse goods in their respective </a:t>
            </a:r>
            <a:r>
              <a:rPr lang="en">
                <a:latin typeface="Lato"/>
                <a:ea typeface="Lato"/>
                <a:cs typeface="Lato"/>
                <a:sym typeface="Lato"/>
              </a:rPr>
              <a:t>places .This</a:t>
            </a:r>
            <a:r>
              <a:rPr lang="en">
                <a:latin typeface="Lato"/>
                <a:ea typeface="Lato"/>
                <a:cs typeface="Lato"/>
                <a:sym typeface="Lato"/>
              </a:rPr>
              <a:t> paper provides the overview of the two main  methods used for specific object </a:t>
            </a:r>
            <a:r>
              <a:rPr lang="en">
                <a:latin typeface="Lato"/>
                <a:ea typeface="Lato"/>
                <a:cs typeface="Lato"/>
                <a:sym typeface="Lato"/>
              </a:rPr>
              <a:t>detection</a:t>
            </a:r>
            <a:r>
              <a:rPr lang="en">
                <a:latin typeface="Lato"/>
                <a:ea typeface="Lato"/>
                <a:cs typeface="Lato"/>
                <a:sym typeface="Lato"/>
              </a:rPr>
              <a:t> that is QR code detection and text detection and </a:t>
            </a:r>
            <a:r>
              <a:rPr lang="en">
                <a:latin typeface="Lato"/>
                <a:ea typeface="Lato"/>
                <a:cs typeface="Lato"/>
                <a:sym typeface="Lato"/>
              </a:rPr>
              <a:t>explains</a:t>
            </a:r>
            <a:r>
              <a:rPr lang="en">
                <a:latin typeface="Lato"/>
                <a:ea typeface="Lato"/>
                <a:cs typeface="Lato"/>
                <a:sym typeface="Lato"/>
              </a:rPr>
              <a:t> the necessary algorithms required for carrying out this process.</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      The paper  provides an overview of the necessary  tools for image recognition, QR code decoding and text recognition .The paper also briefs about the algorithm of preprocessing the </a:t>
            </a:r>
            <a:r>
              <a:rPr lang="en">
                <a:latin typeface="Lato"/>
                <a:ea typeface="Lato"/>
                <a:cs typeface="Lato"/>
                <a:sym typeface="Lato"/>
              </a:rPr>
              <a:t>acquired</a:t>
            </a:r>
            <a:r>
              <a:rPr lang="en">
                <a:latin typeface="Lato"/>
                <a:ea typeface="Lato"/>
                <a:cs typeface="Lato"/>
                <a:sym typeface="Lato"/>
              </a:rPr>
              <a:t> image  which include re</a:t>
            </a:r>
            <a:r>
              <a:rPr lang="en">
                <a:latin typeface="Lato"/>
                <a:ea typeface="Lato"/>
                <a:cs typeface="Lato"/>
                <a:sym typeface="Lato"/>
              </a:rPr>
              <a:t>scaling,</a:t>
            </a:r>
            <a:r>
              <a:rPr lang="en">
                <a:latin typeface="Lato"/>
                <a:ea typeface="Lato"/>
                <a:cs typeface="Lato"/>
                <a:sym typeface="Lato"/>
              </a:rPr>
              <a:t> distortion removal,cropping .The tools and information required for image recognition and decoding like zbar and tesseract which is necessary for our project was obtained from the paper. </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7"/>
          <p:cNvSpPr txBox="1"/>
          <p:nvPr/>
        </p:nvSpPr>
        <p:spPr>
          <a:xfrm>
            <a:off x="347025" y="157925"/>
            <a:ext cx="8334600" cy="1032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700">
                <a:latin typeface="Lato"/>
                <a:ea typeface="Lato"/>
                <a:cs typeface="Lato"/>
                <a:sym typeface="Lato"/>
              </a:rPr>
              <a:t>Localization and navigation using QR code for mobile robot in indoor environment</a:t>
            </a:r>
            <a:endParaRPr b="1" sz="1700">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Huijuan Zhang, Chengning Zhang, Wei Yang, Chin-Yin Chen, Member, IEEE</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IEEE Conference on Robotics and Biomimetics</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Zhuhai, China, December 6-9, 2015</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sp>
        <p:nvSpPr>
          <p:cNvPr id="176" name="Google Shape;176;p27"/>
          <p:cNvSpPr txBox="1"/>
          <p:nvPr/>
        </p:nvSpPr>
        <p:spPr>
          <a:xfrm>
            <a:off x="347025" y="1288975"/>
            <a:ext cx="8589000" cy="3767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Lato"/>
                <a:ea typeface="Lato"/>
                <a:cs typeface="Lato"/>
                <a:sym typeface="Lato"/>
              </a:rPr>
              <a:t>The </a:t>
            </a:r>
            <a:r>
              <a:rPr lang="en">
                <a:latin typeface="Lato"/>
                <a:ea typeface="Lato"/>
                <a:cs typeface="Lato"/>
                <a:sym typeface="Lato"/>
              </a:rPr>
              <a:t> navigation of autonomous robots in environments  without gps support is an area least explored. </a:t>
            </a:r>
            <a:r>
              <a:rPr lang="en">
                <a:latin typeface="Lato"/>
                <a:ea typeface="Lato"/>
                <a:cs typeface="Lato"/>
                <a:sym typeface="Lato"/>
              </a:rPr>
              <a:t> An approach for localization and navigation for a mobile robot in indoor environment using QR code recognition is  proposed in this paper.In this paper the possibility of  QR codes as a landmark for autonomous robots is explore and explained.</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     In this paper QR codes are used as a landmark which provides relative location and </a:t>
            </a:r>
            <a:r>
              <a:rPr lang="en">
                <a:latin typeface="Lato"/>
                <a:ea typeface="Lato"/>
                <a:cs typeface="Lato"/>
                <a:sym typeface="Lato"/>
              </a:rPr>
              <a:t>directions</a:t>
            </a:r>
            <a:r>
              <a:rPr lang="en">
                <a:latin typeface="Lato"/>
                <a:ea typeface="Lato"/>
                <a:cs typeface="Lato"/>
                <a:sym typeface="Lato"/>
              </a:rPr>
              <a:t> to the autonomous robots or UAVs.Exposure adjustable cameras are used to provide the input feed to the robot.</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Unlike the usual QR code detection </a:t>
            </a:r>
            <a:r>
              <a:rPr lang="en">
                <a:latin typeface="Lato"/>
                <a:ea typeface="Lato"/>
                <a:cs typeface="Lato"/>
                <a:sym typeface="Lato"/>
              </a:rPr>
              <a:t>scenario a different configuration of the zbar library is used</a:t>
            </a:r>
            <a:r>
              <a:rPr lang="en">
                <a:latin typeface="Lato"/>
                <a:ea typeface="Lato"/>
                <a:cs typeface="Lato"/>
                <a:sym typeface="Lato"/>
              </a:rPr>
              <a:t> in this process.The video feed from the camera is </a:t>
            </a:r>
            <a:r>
              <a:rPr lang="en">
                <a:latin typeface="Lato"/>
                <a:ea typeface="Lato"/>
                <a:cs typeface="Lato"/>
                <a:sym typeface="Lato"/>
              </a:rPr>
              <a:t>acquired</a:t>
            </a:r>
            <a:r>
              <a:rPr lang="en">
                <a:latin typeface="Lato"/>
                <a:ea typeface="Lato"/>
                <a:cs typeface="Lato"/>
                <a:sym typeface="Lato"/>
              </a:rPr>
              <a:t> by the opencv for image processing and qr code detection when a QR code is detected an image is </a:t>
            </a:r>
            <a:r>
              <a:rPr lang="en">
                <a:latin typeface="Lato"/>
                <a:ea typeface="Lato"/>
                <a:cs typeface="Lato"/>
                <a:sym typeface="Lato"/>
              </a:rPr>
              <a:t>captured</a:t>
            </a:r>
            <a:r>
              <a:rPr lang="en">
                <a:latin typeface="Lato"/>
                <a:ea typeface="Lato"/>
                <a:cs typeface="Lato"/>
                <a:sym typeface="Lato"/>
              </a:rPr>
              <a:t> by the camera and this image is sent to the zbar library after preprocessing . This </a:t>
            </a:r>
            <a:r>
              <a:rPr lang="en">
                <a:latin typeface="Lato"/>
                <a:ea typeface="Lato"/>
                <a:cs typeface="Lato"/>
                <a:sym typeface="Lato"/>
              </a:rPr>
              <a:t>method</a:t>
            </a:r>
            <a:r>
              <a:rPr lang="en">
                <a:latin typeface="Lato"/>
                <a:ea typeface="Lato"/>
                <a:cs typeface="Lato"/>
                <a:sym typeface="Lato"/>
              </a:rPr>
              <a:t>  improves the </a:t>
            </a:r>
            <a:r>
              <a:rPr lang="en">
                <a:latin typeface="Lato"/>
                <a:ea typeface="Lato"/>
                <a:cs typeface="Lato"/>
                <a:sym typeface="Lato"/>
              </a:rPr>
              <a:t>accuracy</a:t>
            </a:r>
            <a:r>
              <a:rPr lang="en">
                <a:latin typeface="Lato"/>
                <a:ea typeface="Lato"/>
                <a:cs typeface="Lato"/>
                <a:sym typeface="Lato"/>
              </a:rPr>
              <a:t> by 20% because zbar is more precise while processing jpg images. The papers also states a possibility of  using both the </a:t>
            </a:r>
            <a:r>
              <a:rPr lang="en">
                <a:latin typeface="Lato"/>
                <a:ea typeface="Lato"/>
                <a:cs typeface="Lato"/>
                <a:sym typeface="Lato"/>
              </a:rPr>
              <a:t>techniques</a:t>
            </a:r>
            <a:r>
              <a:rPr lang="en">
                <a:latin typeface="Lato"/>
                <a:ea typeface="Lato"/>
                <a:cs typeface="Lato"/>
                <a:sym typeface="Lato"/>
              </a:rPr>
              <a:t> simultaneously for higher accuracy and processing speed.</a:t>
            </a:r>
            <a:endParaRPr>
              <a:latin typeface="Lato"/>
              <a:ea typeface="Lato"/>
              <a:cs typeface="Lato"/>
              <a:sym typeface="Lato"/>
            </a:endParaRPr>
          </a:p>
          <a:p>
            <a:pPr indent="0" lvl="0" marL="0" rtl="0" algn="l">
              <a:spcBef>
                <a:spcPts val="0"/>
              </a:spcBef>
              <a:spcAft>
                <a:spcPts val="0"/>
              </a:spcAft>
              <a:buNone/>
            </a:pPr>
            <a:r>
              <a:rPr lang="en">
                <a:latin typeface="Lato"/>
                <a:ea typeface="Lato"/>
                <a:cs typeface="Lato"/>
                <a:sym typeface="Lato"/>
              </a:rPr>
              <a:t>This paper explains a new and accurate  method of QR code recognition and decoding .This paper provides a new dimension and application to QR code detection using UAV in terms of  localization and navigation in routine paths as an alternative for gps module</a:t>
            </a:r>
            <a:endParaRPr>
              <a:latin typeface="Lato"/>
              <a:ea typeface="Lato"/>
              <a:cs typeface="Lato"/>
              <a:sym typeface="Lato"/>
            </a:endParaRPr>
          </a:p>
          <a:p>
            <a:pPr indent="0" lvl="0" marL="0" rtl="0" algn="l">
              <a:spcBef>
                <a:spcPts val="0"/>
              </a:spcBef>
              <a:spcAft>
                <a:spcPts val="0"/>
              </a:spcAft>
              <a:buNone/>
            </a:pPr>
            <a:r>
              <a:t/>
            </a:r>
            <a:endParaRPr>
              <a:latin typeface="Lato"/>
              <a:ea typeface="Lato"/>
              <a:cs typeface="Lato"/>
              <a:sym typeface="Lato"/>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28"/>
          <p:cNvSpPr txBox="1"/>
          <p:nvPr/>
        </p:nvSpPr>
        <p:spPr>
          <a:xfrm>
            <a:off x="534025" y="70275"/>
            <a:ext cx="3218100" cy="505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100">
                <a:latin typeface="Times New Roman"/>
                <a:ea typeface="Times New Roman"/>
                <a:cs typeface="Times New Roman"/>
                <a:sym typeface="Times New Roman"/>
              </a:rPr>
              <a:t>QR Code Recognition</a:t>
            </a:r>
            <a:endParaRPr b="1" sz="2100">
              <a:latin typeface="Times New Roman"/>
              <a:ea typeface="Times New Roman"/>
              <a:cs typeface="Times New Roman"/>
              <a:sym typeface="Times New Roman"/>
            </a:endParaRPr>
          </a:p>
        </p:txBody>
      </p:sp>
      <p:pic>
        <p:nvPicPr>
          <p:cNvPr id="182" name="Google Shape;182;p28"/>
          <p:cNvPicPr preferRelativeResize="0"/>
          <p:nvPr/>
        </p:nvPicPr>
        <p:blipFill>
          <a:blip r:embed="rId3">
            <a:alphaModFix/>
          </a:blip>
          <a:stretch>
            <a:fillRect/>
          </a:stretch>
        </p:blipFill>
        <p:spPr>
          <a:xfrm>
            <a:off x="5295800" y="152400"/>
            <a:ext cx="3167563" cy="4838700"/>
          </a:xfrm>
          <a:prstGeom prst="rect">
            <a:avLst/>
          </a:prstGeom>
          <a:noFill/>
          <a:ln>
            <a:noFill/>
          </a:ln>
        </p:spPr>
      </p:pic>
      <p:sp>
        <p:nvSpPr>
          <p:cNvPr id="183" name="Google Shape;183;p28"/>
          <p:cNvSpPr txBox="1"/>
          <p:nvPr/>
        </p:nvSpPr>
        <p:spPr>
          <a:xfrm>
            <a:off x="407525" y="818000"/>
            <a:ext cx="4764000" cy="4060800"/>
          </a:xfrm>
          <a:prstGeom prst="rect">
            <a:avLst/>
          </a:prstGeom>
          <a:noFill/>
          <a:ln>
            <a:noFill/>
          </a:ln>
          <a:effectLst>
            <a:outerShdw blurRad="57150" rotWithShape="0" algn="bl" dir="5400000" dist="19050">
              <a:srgbClr val="000000">
                <a:alpha val="50000"/>
              </a:srgbClr>
            </a:outerShdw>
          </a:effectLst>
        </p:spPr>
        <p:txBody>
          <a:bodyPr anchorCtr="0" anchor="t" bIns="91425" lIns="91425" spcFirstLastPara="1" rIns="91425" wrap="square" tIns="91425">
            <a:noAutofit/>
          </a:bodyPr>
          <a:lstStyle/>
          <a:p>
            <a:pPr indent="0" lvl="0" marL="0" rtl="0" algn="l">
              <a:spcBef>
                <a:spcPts val="0"/>
              </a:spcBef>
              <a:spcAft>
                <a:spcPts val="0"/>
              </a:spcAft>
              <a:buNone/>
            </a:pPr>
            <a:r>
              <a:rPr b="1" lang="en"/>
              <a:t>2 ways of QR recognition</a:t>
            </a:r>
            <a:endParaRPr b="1"/>
          </a:p>
          <a:p>
            <a:pPr indent="0" lvl="0" marL="0" rtl="0" algn="l">
              <a:spcBef>
                <a:spcPts val="0"/>
              </a:spcBef>
              <a:spcAft>
                <a:spcPts val="0"/>
              </a:spcAft>
              <a:buNone/>
            </a:pPr>
            <a:r>
              <a:t/>
            </a:r>
            <a:endParaRPr b="1"/>
          </a:p>
          <a:p>
            <a:pPr indent="-317500" lvl="0" marL="457200" rtl="0" algn="l">
              <a:spcBef>
                <a:spcPts val="0"/>
              </a:spcBef>
              <a:spcAft>
                <a:spcPts val="0"/>
              </a:spcAft>
              <a:buSzPts val="1400"/>
              <a:buChar char="➔"/>
            </a:pPr>
            <a:r>
              <a:rPr lang="en"/>
              <a:t> Using live feed as input to Zbar library</a:t>
            </a:r>
            <a:endParaRPr/>
          </a:p>
          <a:p>
            <a:pPr indent="-317500" lvl="0" marL="457200" rtl="0" algn="l">
              <a:spcBef>
                <a:spcPts val="0"/>
              </a:spcBef>
              <a:spcAft>
                <a:spcPts val="0"/>
              </a:spcAft>
              <a:buSzPts val="1400"/>
              <a:buChar char="●"/>
            </a:pPr>
            <a:r>
              <a:rPr lang="en"/>
              <a:t>Accuracy  around  60%    </a:t>
            </a:r>
            <a:endParaRPr/>
          </a:p>
          <a:p>
            <a:pPr indent="-317500" lvl="0" marL="457200" rtl="0" algn="l">
              <a:spcBef>
                <a:spcPts val="0"/>
              </a:spcBef>
              <a:spcAft>
                <a:spcPts val="0"/>
              </a:spcAft>
              <a:buSzPts val="1400"/>
              <a:buChar char="●"/>
            </a:pPr>
            <a:r>
              <a:rPr lang="en"/>
              <a:t>Simpler algorithm      </a:t>
            </a:r>
            <a:endParaRPr/>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Using jpg image capture by camera when </a:t>
            </a:r>
            <a:r>
              <a:rPr lang="en">
                <a:solidFill>
                  <a:schemeClr val="dk1"/>
                </a:solidFill>
              </a:rPr>
              <a:t>opencv </a:t>
            </a:r>
            <a:r>
              <a:rPr lang="en"/>
              <a:t>image processing</a:t>
            </a:r>
            <a:r>
              <a:rPr lang="en"/>
              <a:t> detects a QR Code</a:t>
            </a:r>
            <a:endParaRPr/>
          </a:p>
          <a:p>
            <a:pPr indent="-317500" lvl="0" marL="457200" rtl="0" algn="l">
              <a:spcBef>
                <a:spcPts val="0"/>
              </a:spcBef>
              <a:spcAft>
                <a:spcPts val="0"/>
              </a:spcAft>
              <a:buSzPts val="1400"/>
              <a:buChar char="●"/>
            </a:pPr>
            <a:r>
              <a:rPr lang="en"/>
              <a:t>More accurate than live feed</a:t>
            </a:r>
            <a:endParaRPr/>
          </a:p>
          <a:p>
            <a:pPr indent="-317500" lvl="0" marL="457200" rtl="0" algn="l">
              <a:spcBef>
                <a:spcPts val="0"/>
              </a:spcBef>
              <a:spcAft>
                <a:spcPts val="0"/>
              </a:spcAft>
              <a:buSzPts val="1400"/>
              <a:buChar char="●"/>
            </a:pPr>
            <a:r>
              <a:rPr lang="en"/>
              <a:t>Faster </a:t>
            </a:r>
            <a:r>
              <a:rPr lang="en"/>
              <a:t>preprocessing</a:t>
            </a:r>
            <a:r>
              <a:rPr lang="en"/>
              <a:t> like </a:t>
            </a:r>
            <a:r>
              <a:rPr lang="en"/>
              <a:t>resizing</a:t>
            </a:r>
            <a:r>
              <a:rPr lang="en"/>
              <a:t> and </a:t>
            </a:r>
            <a:r>
              <a:rPr lang="en"/>
              <a:t>cropping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Half tone QR codes can be usedfor camoflaging the QR codes.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9"/>
          <p:cNvSpPr txBox="1"/>
          <p:nvPr>
            <p:ph type="ctrTitle"/>
          </p:nvPr>
        </p:nvSpPr>
        <p:spPr>
          <a:xfrm>
            <a:off x="382425" y="161100"/>
            <a:ext cx="7688100" cy="90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700"/>
              <a:t>System </a:t>
            </a:r>
            <a:r>
              <a:rPr lang="en" sz="2700"/>
              <a:t>Description</a:t>
            </a:r>
            <a:endParaRPr sz="2700"/>
          </a:p>
          <a:p>
            <a:pPr indent="0" lvl="0" marL="0" rtl="0" algn="l">
              <a:spcBef>
                <a:spcPts val="0"/>
              </a:spcBef>
              <a:spcAft>
                <a:spcPts val="0"/>
              </a:spcAft>
              <a:buNone/>
            </a:pPr>
            <a:r>
              <a:t/>
            </a:r>
            <a:endParaRPr/>
          </a:p>
        </p:txBody>
      </p:sp>
      <p:pic>
        <p:nvPicPr>
          <p:cNvPr id="189" name="Google Shape;189;p29"/>
          <p:cNvPicPr preferRelativeResize="0"/>
          <p:nvPr/>
        </p:nvPicPr>
        <p:blipFill>
          <a:blip r:embed="rId3">
            <a:alphaModFix/>
          </a:blip>
          <a:stretch>
            <a:fillRect/>
          </a:stretch>
        </p:blipFill>
        <p:spPr>
          <a:xfrm>
            <a:off x="4276725" y="1994250"/>
            <a:ext cx="4867275" cy="1971212"/>
          </a:xfrm>
          <a:prstGeom prst="rect">
            <a:avLst/>
          </a:prstGeom>
          <a:noFill/>
          <a:ln>
            <a:noFill/>
          </a:ln>
        </p:spPr>
      </p:pic>
      <p:pic>
        <p:nvPicPr>
          <p:cNvPr id="190" name="Google Shape;190;p29"/>
          <p:cNvPicPr preferRelativeResize="0"/>
          <p:nvPr/>
        </p:nvPicPr>
        <p:blipFill>
          <a:blip r:embed="rId4">
            <a:alphaModFix/>
          </a:blip>
          <a:stretch>
            <a:fillRect/>
          </a:stretch>
        </p:blipFill>
        <p:spPr>
          <a:xfrm>
            <a:off x="152400" y="1218300"/>
            <a:ext cx="3819525" cy="34194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0"/>
          <p:cNvSpPr txBox="1"/>
          <p:nvPr/>
        </p:nvSpPr>
        <p:spPr>
          <a:xfrm>
            <a:off x="322750" y="220350"/>
            <a:ext cx="8499900" cy="4923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200"/>
              <a:t>Project Phases</a:t>
            </a:r>
            <a:endParaRPr sz="2200"/>
          </a:p>
          <a:p>
            <a:pPr indent="-368300" lvl="0" marL="457200" rtl="0" algn="l">
              <a:spcBef>
                <a:spcPts val="0"/>
              </a:spcBef>
              <a:spcAft>
                <a:spcPts val="0"/>
              </a:spcAft>
              <a:buSzPts val="2200"/>
              <a:buChar char="●"/>
            </a:pPr>
            <a:r>
              <a:rPr lang="en" sz="2200"/>
              <a:t>Phase 1 : object detection using </a:t>
            </a:r>
            <a:r>
              <a:rPr lang="en" sz="2200"/>
              <a:t>MATLAB and opencv </a:t>
            </a:r>
            <a:endParaRPr sz="2200"/>
          </a:p>
          <a:p>
            <a:pPr indent="0" lvl="0" marL="0" rtl="0" algn="just">
              <a:spcBef>
                <a:spcPts val="0"/>
              </a:spcBef>
              <a:spcAft>
                <a:spcPts val="0"/>
              </a:spcAft>
              <a:buNone/>
            </a:pPr>
            <a:r>
              <a:rPr lang="en" sz="2200"/>
              <a:t>    This phase includes the detection of QR code using opencv and                 MATLAB </a:t>
            </a:r>
            <a:endParaRPr sz="2200"/>
          </a:p>
          <a:p>
            <a:pPr indent="-368300" lvl="0" marL="457200" rtl="0" algn="l">
              <a:spcBef>
                <a:spcPts val="0"/>
              </a:spcBef>
              <a:spcAft>
                <a:spcPts val="0"/>
              </a:spcAft>
              <a:buSzPts val="2200"/>
              <a:buChar char="●"/>
            </a:pPr>
            <a:r>
              <a:rPr lang="en" sz="2200"/>
              <a:t>Phase 2: object recognition using Zbar library </a:t>
            </a:r>
            <a:endParaRPr sz="2200"/>
          </a:p>
          <a:p>
            <a:pPr indent="0" lvl="0" marL="0" rtl="0" algn="l">
              <a:spcBef>
                <a:spcPts val="0"/>
              </a:spcBef>
              <a:spcAft>
                <a:spcPts val="0"/>
              </a:spcAft>
              <a:buNone/>
            </a:pPr>
            <a:r>
              <a:rPr lang="en" sz="2200"/>
              <a:t>  In this phase the detected QR code is recognised scaled and undergoes image preprocessing .Then the  information from the QR code is decoded</a:t>
            </a:r>
            <a:endParaRPr sz="2200"/>
          </a:p>
          <a:p>
            <a:pPr indent="-368300" lvl="0" marL="457200" rtl="0" algn="l">
              <a:spcBef>
                <a:spcPts val="0"/>
              </a:spcBef>
              <a:spcAft>
                <a:spcPts val="0"/>
              </a:spcAft>
              <a:buSzPts val="2200"/>
              <a:buChar char="●"/>
            </a:pPr>
            <a:r>
              <a:rPr lang="en" sz="2200"/>
              <a:t>Phase 3: object tracking </a:t>
            </a:r>
            <a:endParaRPr sz="2200"/>
          </a:p>
          <a:p>
            <a:pPr indent="0" lvl="0" marL="0" rtl="0" algn="l">
              <a:spcBef>
                <a:spcPts val="0"/>
              </a:spcBef>
              <a:spcAft>
                <a:spcPts val="0"/>
              </a:spcAft>
              <a:buNone/>
            </a:pPr>
            <a:r>
              <a:rPr lang="en" sz="2200"/>
              <a:t> This phase includes tracking of the object based on the video     feed given to the opencv and Zbar libraries</a:t>
            </a:r>
            <a:endParaRPr sz="22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1"/>
          <p:cNvSpPr txBox="1"/>
          <p:nvPr>
            <p:ph type="ctrTitle"/>
          </p:nvPr>
        </p:nvSpPr>
        <p:spPr>
          <a:xfrm>
            <a:off x="784625" y="64175"/>
            <a:ext cx="7688100" cy="708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Hardware Layout</a:t>
            </a:r>
            <a:endParaRPr/>
          </a:p>
        </p:txBody>
      </p:sp>
      <p:pic>
        <p:nvPicPr>
          <p:cNvPr id="201" name="Google Shape;201;p31"/>
          <p:cNvPicPr preferRelativeResize="0"/>
          <p:nvPr/>
        </p:nvPicPr>
        <p:blipFill>
          <a:blip r:embed="rId3">
            <a:alphaModFix/>
          </a:blip>
          <a:stretch>
            <a:fillRect/>
          </a:stretch>
        </p:blipFill>
        <p:spPr>
          <a:xfrm>
            <a:off x="1126050" y="913850"/>
            <a:ext cx="6891906" cy="4066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2"/>
          <p:cNvSpPr txBox="1"/>
          <p:nvPr/>
        </p:nvSpPr>
        <p:spPr>
          <a:xfrm>
            <a:off x="345200" y="174450"/>
            <a:ext cx="8374500" cy="427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100"/>
              <a:t>The Object detection phase </a:t>
            </a:r>
            <a:endParaRPr sz="3100"/>
          </a:p>
          <a:p>
            <a:pPr indent="0" lvl="0" marL="0" rtl="0" algn="l">
              <a:spcBef>
                <a:spcPts val="0"/>
              </a:spcBef>
              <a:spcAft>
                <a:spcPts val="0"/>
              </a:spcAft>
              <a:buNone/>
            </a:pPr>
            <a:r>
              <a:rPr lang="en" sz="2200"/>
              <a:t>The first phase which includes Object detection was simulated using the teachable machine by Google and the outcome is as shown.</a:t>
            </a:r>
            <a:endParaRPr sz="22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p33"/>
          <p:cNvSpPr txBox="1"/>
          <p:nvPr>
            <p:ph type="ctrTitle"/>
          </p:nvPr>
        </p:nvSpPr>
        <p:spPr>
          <a:xfrm>
            <a:off x="568325" y="405300"/>
            <a:ext cx="7688100" cy="1664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Project outcome</a:t>
            </a:r>
            <a:endParaRPr/>
          </a:p>
        </p:txBody>
      </p:sp>
      <p:sp>
        <p:nvSpPr>
          <p:cNvPr id="212" name="Google Shape;212;p33"/>
          <p:cNvSpPr txBox="1"/>
          <p:nvPr>
            <p:ph idx="1" type="subTitle"/>
          </p:nvPr>
        </p:nvSpPr>
        <p:spPr>
          <a:xfrm>
            <a:off x="666500" y="1943200"/>
            <a:ext cx="7688100" cy="174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Expected in obtaining  a cost effective and </a:t>
            </a:r>
            <a:r>
              <a:rPr lang="en"/>
              <a:t>autonomous system for facilitating </a:t>
            </a:r>
            <a:endParaRPr/>
          </a:p>
          <a:p>
            <a:pPr indent="-330200" lvl="0" marL="457200" rtl="0" algn="l">
              <a:spcBef>
                <a:spcPts val="0"/>
              </a:spcBef>
              <a:spcAft>
                <a:spcPts val="0"/>
              </a:spcAft>
              <a:buSzPts val="1600"/>
              <a:buAutoNum type="arabicPeriod"/>
            </a:pPr>
            <a:r>
              <a:rPr lang="en"/>
              <a:t> A QR Detection and analyzing  module for object detecting . </a:t>
            </a:r>
            <a:endParaRPr/>
          </a:p>
          <a:p>
            <a:pPr indent="-330200" lvl="0" marL="457200" rtl="0" algn="l">
              <a:spcBef>
                <a:spcPts val="0"/>
              </a:spcBef>
              <a:spcAft>
                <a:spcPts val="0"/>
              </a:spcAft>
              <a:buSzPts val="1600"/>
              <a:buAutoNum type="arabicPeriod"/>
            </a:pPr>
            <a:r>
              <a:rPr lang="en"/>
              <a:t>Human tracking using QR code tag .</a:t>
            </a:r>
            <a:endParaRPr/>
          </a:p>
          <a:p>
            <a:pPr indent="-330200" lvl="0" marL="457200" rtl="0" algn="l">
              <a:spcBef>
                <a:spcPts val="0"/>
              </a:spcBef>
              <a:spcAft>
                <a:spcPts val="0"/>
              </a:spcAft>
              <a:buSzPts val="1600"/>
              <a:buAutoNum type="arabicPeriod"/>
            </a:pPr>
            <a:r>
              <a:rPr lang="en"/>
              <a:t>Qr code based Navigation system for routine path .  </a:t>
            </a:r>
            <a:endParaRPr/>
          </a:p>
          <a:p>
            <a:pPr indent="0" lvl="0" marL="457200" rtl="0" algn="l">
              <a:spcBef>
                <a:spcPts val="0"/>
              </a:spcBef>
              <a:spcAft>
                <a:spcPts val="0"/>
              </a:spcAft>
              <a:buNone/>
            </a:pPr>
            <a:r>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nvSpPr>
        <p:spPr>
          <a:xfrm>
            <a:off x="112425" y="295125"/>
            <a:ext cx="8769300" cy="4848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600"/>
              <a:t>References</a:t>
            </a:r>
            <a:endParaRPr b="1" sz="1600"/>
          </a:p>
          <a:p>
            <a:pPr indent="0" lvl="0" marL="0" rtl="0" algn="l">
              <a:spcBef>
                <a:spcPts val="0"/>
              </a:spcBef>
              <a:spcAft>
                <a:spcPts val="0"/>
              </a:spcAft>
              <a:buNone/>
            </a:pPr>
            <a:r>
              <a:rPr lang="en"/>
              <a:t> </a:t>
            </a:r>
            <a:endParaRPr/>
          </a:p>
          <a:p>
            <a:pPr indent="0" lvl="0" marL="457200" rtl="0" algn="l">
              <a:spcBef>
                <a:spcPts val="0"/>
              </a:spcBef>
              <a:spcAft>
                <a:spcPts val="0"/>
              </a:spcAft>
              <a:buNone/>
            </a:pPr>
            <a:r>
              <a:t/>
            </a:r>
            <a:endParaRPr sz="800"/>
          </a:p>
          <a:p>
            <a:pPr indent="0" lvl="0" marL="0" rtl="0" algn="l">
              <a:spcBef>
                <a:spcPts val="0"/>
              </a:spcBef>
              <a:spcAft>
                <a:spcPts val="0"/>
              </a:spcAft>
              <a:buNone/>
            </a:pPr>
            <a:r>
              <a:rPr b="1" lang="en" sz="1100"/>
              <a:t> [1]</a:t>
            </a:r>
            <a:r>
              <a:rPr b="1" lang="en" sz="1300"/>
              <a:t>Recognition system for QR Code on Moving Car</a:t>
            </a:r>
            <a:r>
              <a:rPr lang="en" sz="800"/>
              <a:t> , </a:t>
            </a:r>
            <a:endParaRPr sz="800"/>
          </a:p>
          <a:p>
            <a:pPr indent="0" lvl="0" marL="0" rtl="0" algn="l">
              <a:spcBef>
                <a:spcPts val="0"/>
              </a:spcBef>
              <a:spcAft>
                <a:spcPts val="0"/>
              </a:spcAft>
              <a:buNone/>
            </a:pPr>
            <a:r>
              <a:rPr lang="en" sz="800"/>
              <a:t>        The 10th international conference on computer science and education, (ICCSE 2015) cambridge  university, UK</a:t>
            </a:r>
            <a:endParaRPr sz="800"/>
          </a:p>
          <a:p>
            <a:pPr indent="0" lvl="0" marL="457200" rtl="0" algn="l">
              <a:spcBef>
                <a:spcPts val="0"/>
              </a:spcBef>
              <a:spcAft>
                <a:spcPts val="0"/>
              </a:spcAft>
              <a:buNone/>
            </a:pPr>
            <a:r>
              <a:t/>
            </a:r>
            <a:endParaRPr sz="800"/>
          </a:p>
          <a:p>
            <a:pPr indent="0" lvl="0" marL="0" rtl="0" algn="l">
              <a:spcBef>
                <a:spcPts val="0"/>
              </a:spcBef>
              <a:spcAft>
                <a:spcPts val="0"/>
              </a:spcAft>
              <a:buNone/>
            </a:pPr>
            <a:r>
              <a:rPr b="1" lang="en" sz="1300">
                <a:solidFill>
                  <a:schemeClr val="dk2"/>
                </a:solidFill>
                <a:latin typeface="Raleway"/>
                <a:ea typeface="Raleway"/>
                <a:cs typeface="Raleway"/>
                <a:sym typeface="Raleway"/>
              </a:rPr>
              <a:t>[2]</a:t>
            </a:r>
            <a:r>
              <a:rPr b="1" lang="en" sz="1300">
                <a:solidFill>
                  <a:schemeClr val="dk2"/>
                </a:solidFill>
                <a:latin typeface="Raleway"/>
                <a:ea typeface="Raleway"/>
                <a:cs typeface="Raleway"/>
                <a:sym typeface="Raleway"/>
              </a:rPr>
              <a:t>Development of a Human-Tracking Robot Using QR Code Recognition</a:t>
            </a:r>
            <a:endParaRPr b="1" sz="1300">
              <a:solidFill>
                <a:schemeClr val="dk2"/>
              </a:solidFill>
              <a:latin typeface="Raleway"/>
              <a:ea typeface="Raleway"/>
              <a:cs typeface="Raleway"/>
              <a:sym typeface="Raleway"/>
            </a:endParaRPr>
          </a:p>
          <a:p>
            <a:pPr indent="0" lvl="0" marL="457200" rtl="0" algn="l">
              <a:spcBef>
                <a:spcPts val="0"/>
              </a:spcBef>
              <a:spcAft>
                <a:spcPts val="0"/>
              </a:spcAft>
              <a:buNone/>
            </a:pPr>
            <a:r>
              <a:rPr b="1" lang="en" sz="900">
                <a:solidFill>
                  <a:schemeClr val="dk2"/>
                </a:solidFill>
                <a:latin typeface="Raleway"/>
                <a:ea typeface="Raleway"/>
                <a:cs typeface="Raleway"/>
                <a:sym typeface="Raleway"/>
              </a:rPr>
              <a:t> </a:t>
            </a:r>
            <a:r>
              <a:rPr b="1" lang="en" sz="800">
                <a:solidFill>
                  <a:schemeClr val="dk2"/>
                </a:solidFill>
                <a:latin typeface="Raleway"/>
                <a:ea typeface="Raleway"/>
                <a:cs typeface="Raleway"/>
                <a:sym typeface="Raleway"/>
              </a:rPr>
              <a:t>Takashi Anezaki* ,Koki Eimon* ,Suriyon Tansuriyavong* ,Yasushi Yagi**</a:t>
            </a:r>
            <a:endParaRPr b="1" sz="800">
              <a:solidFill>
                <a:schemeClr val="dk2"/>
              </a:solidFill>
              <a:latin typeface="Raleway"/>
              <a:ea typeface="Raleway"/>
              <a:cs typeface="Raleway"/>
              <a:sym typeface="Raleway"/>
            </a:endParaRPr>
          </a:p>
          <a:p>
            <a:pPr indent="0" lvl="0" marL="457200" rtl="0" algn="l">
              <a:spcBef>
                <a:spcPts val="0"/>
              </a:spcBef>
              <a:spcAft>
                <a:spcPts val="0"/>
              </a:spcAft>
              <a:buNone/>
            </a:pPr>
            <a:r>
              <a:t/>
            </a:r>
            <a:endParaRPr b="1" sz="800">
              <a:solidFill>
                <a:schemeClr val="dk2"/>
              </a:solidFill>
              <a:latin typeface="Raleway"/>
              <a:ea typeface="Raleway"/>
              <a:cs typeface="Raleway"/>
              <a:sym typeface="Raleway"/>
            </a:endParaRPr>
          </a:p>
          <a:p>
            <a:pPr indent="0" lvl="0" marL="0" marR="740664" rtl="0" algn="l">
              <a:lnSpc>
                <a:spcPct val="115000"/>
              </a:lnSpc>
              <a:spcBef>
                <a:spcPts val="0"/>
              </a:spcBef>
              <a:spcAft>
                <a:spcPts val="0"/>
              </a:spcAft>
              <a:buNone/>
            </a:pPr>
            <a:r>
              <a:rPr b="1" lang="en" sz="1321"/>
              <a:t> [3]</a:t>
            </a:r>
            <a:r>
              <a:rPr b="1" lang="en" sz="1300">
                <a:highlight>
                  <a:srgbClr val="FFFFFF"/>
                </a:highlight>
              </a:rPr>
              <a:t>Eye in the Sky: Drone-Based Object Tracking and 3D Localization</a:t>
            </a:r>
            <a:r>
              <a:rPr lang="en" sz="1700">
                <a:highlight>
                  <a:srgbClr val="FFFFFF"/>
                </a:highlight>
              </a:rPr>
              <a:t>  </a:t>
            </a:r>
            <a:endParaRPr sz="1700">
              <a:highlight>
                <a:srgbClr val="FFFFFF"/>
              </a:highlight>
            </a:endParaRPr>
          </a:p>
          <a:p>
            <a:pPr indent="0" lvl="0" marL="457200" rtl="0" algn="ctr">
              <a:lnSpc>
                <a:spcPct val="115000"/>
              </a:lnSpc>
              <a:spcBef>
                <a:spcPts val="0"/>
              </a:spcBef>
              <a:spcAft>
                <a:spcPts val="0"/>
              </a:spcAft>
              <a:buNone/>
            </a:pPr>
            <a:r>
              <a:rPr lang="en" sz="850">
                <a:highlight>
                  <a:srgbClr val="FFFFFF"/>
                </a:highlight>
              </a:rPr>
              <a:t>Haotian Zhang</a:t>
            </a:r>
            <a:r>
              <a:rPr baseline="30000" lang="en" sz="1600">
                <a:highlight>
                  <a:srgbClr val="FFFFFF"/>
                </a:highlight>
              </a:rPr>
              <a:t>∗ </a:t>
            </a:r>
            <a:r>
              <a:rPr lang="en" sz="650" u="sng">
                <a:highlight>
                  <a:srgbClr val="FFFFFF"/>
                </a:highlight>
              </a:rPr>
              <a:t>haotiz@uw.edu</a:t>
            </a:r>
            <a:r>
              <a:rPr lang="en" sz="650">
                <a:highlight>
                  <a:srgbClr val="FFFFFF"/>
                </a:highlight>
              </a:rPr>
              <a:t> University of Washington Seattle, Washington ,</a:t>
            </a:r>
            <a:r>
              <a:rPr lang="en" sz="850">
                <a:highlight>
                  <a:srgbClr val="FFFFFF"/>
                </a:highlight>
              </a:rPr>
              <a:t>Gaoang Wang </a:t>
            </a:r>
            <a:r>
              <a:rPr lang="en" sz="650" u="sng">
                <a:highlight>
                  <a:srgbClr val="FFFFFF"/>
                </a:highlight>
              </a:rPr>
              <a:t>gaoang@uw.edu</a:t>
            </a:r>
            <a:r>
              <a:rPr lang="en" sz="650">
                <a:highlight>
                  <a:srgbClr val="FFFFFF"/>
                </a:highlight>
              </a:rPr>
              <a:t> University of Washington Seattle, Washington  ,</a:t>
            </a:r>
            <a:r>
              <a:rPr lang="en" sz="850">
                <a:highlight>
                  <a:srgbClr val="FFFFFF"/>
                </a:highlight>
              </a:rPr>
              <a:t>Zhichao Lei </a:t>
            </a:r>
            <a:r>
              <a:rPr lang="en" sz="650" u="sng">
                <a:highlight>
                  <a:srgbClr val="FFFFFF"/>
                </a:highlight>
              </a:rPr>
              <a:t>zl68@uw.edu</a:t>
            </a:r>
            <a:r>
              <a:rPr lang="en" sz="650">
                <a:highlight>
                  <a:srgbClr val="FFFFFF"/>
                </a:highlight>
              </a:rPr>
              <a:t> University of Washington Seattle, Washington  .</a:t>
            </a:r>
            <a:r>
              <a:rPr lang="en" sz="850">
                <a:highlight>
                  <a:srgbClr val="FFFFFF"/>
                </a:highlight>
              </a:rPr>
              <a:t>Jenq-Neng Hwang </a:t>
            </a:r>
            <a:r>
              <a:rPr lang="en" sz="650">
                <a:highlight>
                  <a:srgbClr val="FFFFFF"/>
                </a:highlight>
              </a:rPr>
              <a:t>hwang@uw.edu University of Washington Seattle, Washington </a:t>
            </a:r>
            <a:endParaRPr sz="650">
              <a:highlight>
                <a:srgbClr val="FFFFFF"/>
              </a:highlight>
            </a:endParaRPr>
          </a:p>
          <a:p>
            <a:pPr indent="0" lvl="0" marL="0" rtl="0" algn="l">
              <a:spcBef>
                <a:spcPts val="0"/>
              </a:spcBef>
              <a:spcAft>
                <a:spcPts val="0"/>
              </a:spcAft>
              <a:buNone/>
            </a:pPr>
            <a:r>
              <a:rPr b="1" lang="en">
                <a:solidFill>
                  <a:srgbClr val="333333"/>
                </a:solidFill>
                <a:highlight>
                  <a:schemeClr val="lt1"/>
                </a:highlight>
              </a:rPr>
              <a:t>[4]Localization and navigation using QR code for mobile robot in indoor  environment</a:t>
            </a:r>
            <a:endParaRPr b="1">
              <a:solidFill>
                <a:srgbClr val="333333"/>
              </a:solidFill>
              <a:highlight>
                <a:schemeClr val="lt1"/>
              </a:highlight>
            </a:endParaRPr>
          </a:p>
          <a:p>
            <a:pPr indent="0" lvl="0" marL="457200" rtl="0" algn="l">
              <a:spcBef>
                <a:spcPts val="0"/>
              </a:spcBef>
              <a:spcAft>
                <a:spcPts val="0"/>
              </a:spcAft>
              <a:buNone/>
            </a:pPr>
            <a:r>
              <a:rPr lang="en" sz="900">
                <a:solidFill>
                  <a:srgbClr val="333333"/>
                </a:solidFill>
                <a:highlight>
                  <a:schemeClr val="lt1"/>
                </a:highlight>
              </a:rPr>
              <a:t>Huijuan Zhang, Chengning Zhang, Wei Yang, Chin-Yin Chen, Member, IEEE</a:t>
            </a:r>
            <a:endParaRPr sz="900">
              <a:solidFill>
                <a:srgbClr val="333333"/>
              </a:solidFill>
              <a:highlight>
                <a:schemeClr val="lt1"/>
              </a:highlight>
            </a:endParaRPr>
          </a:p>
          <a:p>
            <a:pPr indent="0" lvl="0" marL="457200" rtl="0" algn="l">
              <a:spcBef>
                <a:spcPts val="0"/>
              </a:spcBef>
              <a:spcAft>
                <a:spcPts val="0"/>
              </a:spcAft>
              <a:buNone/>
            </a:pPr>
            <a:r>
              <a:t/>
            </a:r>
            <a:endParaRPr b="1" sz="1300"/>
          </a:p>
          <a:p>
            <a:pPr indent="0" lvl="0" marL="0" rtl="0" algn="l">
              <a:spcBef>
                <a:spcPts val="0"/>
              </a:spcBef>
              <a:spcAft>
                <a:spcPts val="0"/>
              </a:spcAft>
              <a:buNone/>
            </a:pPr>
            <a:r>
              <a:rPr b="1" lang="en" sz="1300"/>
              <a:t>[5]Warehouse Management Using Real-Time QR-Code and Text Detection,</a:t>
            </a:r>
            <a:r>
              <a:rPr lang="en" sz="1300"/>
              <a:t>Debjoy Saha,IIT Kharagpur</a:t>
            </a:r>
            <a:endParaRPr sz="1300"/>
          </a:p>
          <a:p>
            <a:pPr indent="0" lvl="0" marL="457200" rtl="0" algn="l">
              <a:spcBef>
                <a:spcPts val="0"/>
              </a:spcBef>
              <a:spcAft>
                <a:spcPts val="0"/>
              </a:spcAft>
              <a:buNone/>
            </a:pPr>
            <a:r>
              <a:rPr lang="en" sz="800" u="sng">
                <a:solidFill>
                  <a:schemeClr val="accent5"/>
                </a:solidFill>
                <a:hlinkClick r:id="rId3">
                  <a:extLst>
                    <a:ext uri="{A12FA001-AC4F-418D-AE19-62706E023703}">
                      <ahyp:hlinkClr val="tx"/>
                    </a:ext>
                  </a:extLst>
                </a:hlinkClick>
              </a:rPr>
              <a:t>https://www.researchgate.net/profile/Debjoy_Saha/publication/336218818_Warehouse_Management_Using_Real-Time_QR-Code_and_Text_Detection/links/5d9795ac299bf1c363f8d4d6/Warehouse-Management-Using-Real-Time-QR-Code-and-Text-Detection.pdf</a:t>
            </a:r>
            <a:endParaRPr sz="800"/>
          </a:p>
          <a:p>
            <a:pPr indent="0" lvl="0" marL="457200" rtl="0" algn="ctr">
              <a:lnSpc>
                <a:spcPct val="115000"/>
              </a:lnSpc>
              <a:spcBef>
                <a:spcPts val="0"/>
              </a:spcBef>
              <a:spcAft>
                <a:spcPts val="0"/>
              </a:spcAft>
              <a:buNone/>
            </a:pPr>
            <a:r>
              <a:t/>
            </a:r>
            <a:endParaRPr sz="650">
              <a:highlight>
                <a:srgbClr val="FFFFFF"/>
              </a:highlight>
            </a:endParaRPr>
          </a:p>
          <a:p>
            <a:pPr indent="0" lvl="0" marL="457200" marR="740664" rtl="0" algn="l">
              <a:lnSpc>
                <a:spcPct val="115000"/>
              </a:lnSpc>
              <a:spcBef>
                <a:spcPts val="0"/>
              </a:spcBef>
              <a:spcAft>
                <a:spcPts val="0"/>
              </a:spcAft>
              <a:buNone/>
            </a:pPr>
            <a:r>
              <a:t/>
            </a:r>
            <a:endParaRPr sz="1721"/>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