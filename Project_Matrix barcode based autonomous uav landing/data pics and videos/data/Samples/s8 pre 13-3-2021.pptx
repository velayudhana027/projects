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5143500" cx="9144000"/>
  <p:notesSz cx="6858000" cy="9144000"/>
  <p:embeddedFontLst>
    <p:embeddedFont>
      <p:font typeface="Raleway"/>
      <p:regular r:id="rId33"/>
      <p:bold r:id="rId34"/>
      <p:italic r:id="rId35"/>
      <p:boldItalic r:id="rId36"/>
    </p:embeddedFont>
    <p:embeddedFont>
      <p:font typeface="PT Sans Narrow"/>
      <p:regular r:id="rId37"/>
      <p:bold r:id="rId38"/>
    </p:embeddedFont>
    <p:embeddedFont>
      <p:font typeface="Open Sans"/>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orient="horz">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5297181-5DBB-4882-AC3D-4BD2533D87E2}">
  <a:tblStyle styleId="{55297181-5DBB-4882-AC3D-4BD2533D87E2}" styleName="Table_0">
    <a:wholeTbl>
      <a:tcTxStyle>
        <a:font>
          <a:latin typeface="Arial"/>
          <a:ea typeface="Arial"/>
          <a:cs typeface="Arial"/>
        </a:font>
        <a:srgbClr val="000000"/>
      </a:tcTxStyle>
      <a:tcStyle>
        <a:tcBdr>
          <a:left>
            <a:ln cap="flat" cmpd="sng">
              <a:solidFill>
                <a:srgbClr val="000000"/>
              </a:solidFill>
              <a:prstDash val="solid"/>
              <a:round/>
              <a:headEnd len="sm" w="sm" type="none"/>
              <a:tailEnd len="sm" w="sm" type="none"/>
            </a:ln>
          </a:left>
          <a:right>
            <a:ln cap="flat" cmpd="sng">
              <a:solidFill>
                <a:srgbClr val="000000"/>
              </a:solidFill>
              <a:prstDash val="solid"/>
              <a:round/>
              <a:headEnd len="sm" w="sm" type="none"/>
              <a:tailEnd len="sm" w="sm" type="none"/>
            </a:ln>
          </a:right>
          <a:top>
            <a:ln cap="flat" cmpd="sng">
              <a:solidFill>
                <a:srgbClr val="000000"/>
              </a:solidFill>
              <a:prstDash val="solid"/>
              <a:round/>
              <a:headEnd len="sm" w="sm" type="none"/>
              <a:tailEnd len="sm" w="sm" type="none"/>
            </a:ln>
          </a:top>
          <a:bottom>
            <a:ln cap="flat" cmpd="sng">
              <a:solidFill>
                <a:srgbClr val="000000"/>
              </a:solidFill>
              <a:prstDash val="solid"/>
              <a:round/>
              <a:headEnd len="sm" w="sm" type="none"/>
              <a:tailEnd len="sm" w="sm" type="none"/>
            </a:ln>
          </a:bottom>
          <a:insideH>
            <a:ln cap="flat" cmpd="sng">
              <a:solidFill>
                <a:srgbClr val="000000"/>
              </a:solidFill>
              <a:prstDash val="solid"/>
              <a:round/>
              <a:headEnd len="sm" w="sm" type="none"/>
              <a:tailEnd len="sm" w="sm" type="none"/>
            </a:ln>
          </a:insideH>
          <a:insideV>
            <a:ln cap="flat" cmpd="sng">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F872800E-4ABA-49E0-A9BC-46AF30EE142E}"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bold.fntdata"/><Relationship Id="rId20" Type="http://schemas.openxmlformats.org/officeDocument/2006/relationships/slide" Target="slides/slide14.xml"/><Relationship Id="rId42" Type="http://schemas.openxmlformats.org/officeDocument/2006/relationships/font" Target="fonts/OpenSans-boldItalic.fntdata"/><Relationship Id="rId41" Type="http://schemas.openxmlformats.org/officeDocument/2006/relationships/font" Target="fonts/OpenSans-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Raleway-regular.fntdata"/><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Raleway-italic.fntdata"/><Relationship Id="rId12" Type="http://schemas.openxmlformats.org/officeDocument/2006/relationships/slide" Target="slides/slide6.xml"/><Relationship Id="rId34" Type="http://schemas.openxmlformats.org/officeDocument/2006/relationships/font" Target="fonts/Raleway-bold.fntdata"/><Relationship Id="rId15" Type="http://schemas.openxmlformats.org/officeDocument/2006/relationships/slide" Target="slides/slide9.xml"/><Relationship Id="rId37" Type="http://schemas.openxmlformats.org/officeDocument/2006/relationships/font" Target="fonts/PTSansNarrow-regular.fntdata"/><Relationship Id="rId14" Type="http://schemas.openxmlformats.org/officeDocument/2006/relationships/slide" Target="slides/slide8.xml"/><Relationship Id="rId36" Type="http://schemas.openxmlformats.org/officeDocument/2006/relationships/font" Target="fonts/Raleway-boldItalic.fntdata"/><Relationship Id="rId17" Type="http://schemas.openxmlformats.org/officeDocument/2006/relationships/slide" Target="slides/slide11.xml"/><Relationship Id="rId39" Type="http://schemas.openxmlformats.org/officeDocument/2006/relationships/font" Target="fonts/OpenSans-regular.fntdata"/><Relationship Id="rId16" Type="http://schemas.openxmlformats.org/officeDocument/2006/relationships/slide" Target="slides/slide10.xml"/><Relationship Id="rId38" Type="http://schemas.openxmlformats.org/officeDocument/2006/relationships/font" Target="fonts/PTSansNarrow-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c72aa345ee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c72aa345ee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c902737cf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c902737cf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c90cefd4e6_7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c90cefd4e6_7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c90cefd4e6_7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c90cefd4e6_7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c90cefd4e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c90cefd4e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c90cefd4e6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c90cefd4e6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c90cefd4e6_4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c90cefd4e6_4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c90cefd4e6_7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c90cefd4e6_7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c90cefd4e6_4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c90cefd4e6_4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c90cefd4e6_4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c90cefd4e6_4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c90cefd4e6_7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c90cefd4e6_7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c90cefd4e6_4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c90cefd4e6_4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c90cefd4e6_4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c90cefd4e6_4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c90cefd4e6_7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c90cefd4e6_7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c90cefd4e6_4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c90cefd4e6_4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c90cefd4e6_4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c90cefd4e6_4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c90cefd4e6_7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c90cefd4e6_7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c90cefd4e6_4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c90cefd4e6_4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c90cefd4e6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c90cefd4e6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c90cefd4e6_4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c90cefd4e6_4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c90cefd4e6_4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c90cefd4e6_4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c90cefd4e6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c90cefd4e6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c90cefd4e6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c90cefd4e6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c90cefd4e6_7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c90cefd4e6_7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c90cefd4e6_7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c90cefd4e6_7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2"/>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2"/>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2"/>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2"/>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9" name="Google Shape;19;p2"/>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
        <p:nvSpPr>
          <p:cNvPr id="24" name="Google Shape;24;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8" name="Google Shape;28;p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2" name="Google Shape;32;p5"/>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5"/>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7" name="Google Shape;3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8"/>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2"/>
              </a:buClr>
              <a:buSzPts val="5400"/>
              <a:buNone/>
              <a:defRPr b="0" sz="5400">
                <a:solidFill>
                  <a:schemeClr val="dk2"/>
                </a:solidFill>
              </a:defRPr>
            </a:lvl1pPr>
            <a:lvl2pPr lvl="1">
              <a:spcBef>
                <a:spcPts val="0"/>
              </a:spcBef>
              <a:spcAft>
                <a:spcPts val="0"/>
              </a:spcAft>
              <a:buClr>
                <a:schemeClr val="dk2"/>
              </a:buClr>
              <a:buSzPts val="5400"/>
              <a:buNone/>
              <a:defRPr b="0" sz="5400">
                <a:solidFill>
                  <a:schemeClr val="dk2"/>
                </a:solidFill>
              </a:defRPr>
            </a:lvl2pPr>
            <a:lvl3pPr lvl="2">
              <a:spcBef>
                <a:spcPts val="0"/>
              </a:spcBef>
              <a:spcAft>
                <a:spcPts val="0"/>
              </a:spcAft>
              <a:buClr>
                <a:schemeClr val="dk2"/>
              </a:buClr>
              <a:buSzPts val="5400"/>
              <a:buNone/>
              <a:defRPr b="0" sz="5400">
                <a:solidFill>
                  <a:schemeClr val="dk2"/>
                </a:solidFill>
              </a:defRPr>
            </a:lvl3pPr>
            <a:lvl4pPr lvl="3">
              <a:spcBef>
                <a:spcPts val="0"/>
              </a:spcBef>
              <a:spcAft>
                <a:spcPts val="0"/>
              </a:spcAft>
              <a:buClr>
                <a:schemeClr val="dk2"/>
              </a:buClr>
              <a:buSzPts val="5400"/>
              <a:buNone/>
              <a:defRPr b="0" sz="5400">
                <a:solidFill>
                  <a:schemeClr val="dk2"/>
                </a:solidFill>
              </a:defRPr>
            </a:lvl4pPr>
            <a:lvl5pPr lvl="4">
              <a:spcBef>
                <a:spcPts val="0"/>
              </a:spcBef>
              <a:spcAft>
                <a:spcPts val="0"/>
              </a:spcAft>
              <a:buClr>
                <a:schemeClr val="dk2"/>
              </a:buClr>
              <a:buSzPts val="5400"/>
              <a:buNone/>
              <a:defRPr b="0" sz="5400">
                <a:solidFill>
                  <a:schemeClr val="dk2"/>
                </a:solidFill>
              </a:defRPr>
            </a:lvl5pPr>
            <a:lvl6pPr lvl="5">
              <a:spcBef>
                <a:spcPts val="0"/>
              </a:spcBef>
              <a:spcAft>
                <a:spcPts val="0"/>
              </a:spcAft>
              <a:buClr>
                <a:schemeClr val="dk2"/>
              </a:buClr>
              <a:buSzPts val="5400"/>
              <a:buNone/>
              <a:defRPr b="0" sz="5400">
                <a:solidFill>
                  <a:schemeClr val="dk2"/>
                </a:solidFill>
              </a:defRPr>
            </a:lvl6pPr>
            <a:lvl7pPr lvl="6">
              <a:spcBef>
                <a:spcPts val="0"/>
              </a:spcBef>
              <a:spcAft>
                <a:spcPts val="0"/>
              </a:spcAft>
              <a:buClr>
                <a:schemeClr val="dk2"/>
              </a:buClr>
              <a:buSzPts val="5400"/>
              <a:buNone/>
              <a:defRPr b="0" sz="5400">
                <a:solidFill>
                  <a:schemeClr val="dk2"/>
                </a:solidFill>
              </a:defRPr>
            </a:lvl7pPr>
            <a:lvl8pPr lvl="7">
              <a:spcBef>
                <a:spcPts val="0"/>
              </a:spcBef>
              <a:spcAft>
                <a:spcPts val="0"/>
              </a:spcAft>
              <a:buClr>
                <a:schemeClr val="dk2"/>
              </a:buClr>
              <a:buSzPts val="5400"/>
              <a:buNone/>
              <a:defRPr b="0" sz="5400">
                <a:solidFill>
                  <a:schemeClr val="dk2"/>
                </a:solidFill>
              </a:defRPr>
            </a:lvl8pPr>
            <a:lvl9pPr lvl="8">
              <a:spcBef>
                <a:spcPts val="0"/>
              </a:spcBef>
              <a:spcAft>
                <a:spcPts val="0"/>
              </a:spcAft>
              <a:buClr>
                <a:schemeClr val="dk2"/>
              </a:buClr>
              <a:buSzPts val="5400"/>
              <a:buNone/>
              <a:defRPr b="0" sz="5400">
                <a:solidFill>
                  <a:schemeClr val="dk2"/>
                </a:solidFill>
              </a:defRPr>
            </a:lvl9pPr>
          </a:lstStyle>
          <a:p/>
        </p:txBody>
      </p:sp>
      <p:sp>
        <p:nvSpPr>
          <p:cNvPr id="44" name="Google Shape;4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 name="Google Shape;47;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9"/>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 name="Google Shape;49;p9"/>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1"/>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9" name="Google Shape;5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7" name="Google Shape;7;p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jpg"/><Relationship Id="rId4" Type="http://schemas.openxmlformats.org/officeDocument/2006/relationships/image" Target="../media/image7.jpg"/><Relationship Id="rId5" Type="http://schemas.openxmlformats.org/officeDocument/2006/relationships/image" Target="../media/image1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4.jpg"/><Relationship Id="rId4" Type="http://schemas.openxmlformats.org/officeDocument/2006/relationships/image" Target="../media/image19.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9.jpg"/><Relationship Id="rId4" Type="http://schemas.openxmlformats.org/officeDocument/2006/relationships/image" Target="../media/image1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jpg"/><Relationship Id="rId4" Type="http://schemas.openxmlformats.org/officeDocument/2006/relationships/image" Target="../media/image1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3"/>
          <p:cNvSpPr txBox="1"/>
          <p:nvPr>
            <p:ph type="ctrTitle"/>
          </p:nvPr>
        </p:nvSpPr>
        <p:spPr>
          <a:xfrm>
            <a:off x="1004150" y="1146581"/>
            <a:ext cx="7136700" cy="1627500"/>
          </a:xfrm>
          <a:prstGeom prst="rect">
            <a:avLst/>
          </a:prstGeom>
        </p:spPr>
        <p:txBody>
          <a:bodyPr anchorCtr="0" anchor="b" bIns="91425" lIns="91425" spcFirstLastPara="1" rIns="91425" wrap="square" tIns="91425">
            <a:normAutofit fontScale="90000"/>
          </a:bodyPr>
          <a:lstStyle/>
          <a:p>
            <a:pPr indent="0" lvl="0" marL="0" rtl="0" algn="ctr">
              <a:lnSpc>
                <a:spcPct val="115000"/>
              </a:lnSpc>
              <a:spcBef>
                <a:spcPts val="0"/>
              </a:spcBef>
              <a:spcAft>
                <a:spcPts val="0"/>
              </a:spcAft>
              <a:buNone/>
            </a:pPr>
            <a:r>
              <a:rPr lang="en" sz="3500">
                <a:solidFill>
                  <a:schemeClr val="accent4"/>
                </a:solidFill>
                <a:latin typeface="Raleway"/>
                <a:ea typeface="Raleway"/>
                <a:cs typeface="Raleway"/>
                <a:sym typeface="Raleway"/>
              </a:rPr>
              <a:t>MATRIX BARCODE BASED DETECTION AND TRACKING FOR AUTONOMOUS UAV LANDING</a:t>
            </a:r>
            <a:endParaRPr>
              <a:solidFill>
                <a:schemeClr val="accent4"/>
              </a:solidFill>
            </a:endParaRPr>
          </a:p>
        </p:txBody>
      </p:sp>
      <p:sp>
        <p:nvSpPr>
          <p:cNvPr id="67" name="Google Shape;67;p13"/>
          <p:cNvSpPr txBox="1"/>
          <p:nvPr>
            <p:ph idx="1" type="subTitle"/>
          </p:nvPr>
        </p:nvSpPr>
        <p:spPr>
          <a:xfrm>
            <a:off x="451950" y="2774075"/>
            <a:ext cx="8520600" cy="2309400"/>
          </a:xfrm>
          <a:prstGeom prst="rect">
            <a:avLst/>
          </a:prstGeom>
          <a:solidFill>
            <a:srgbClr val="FFFFFF"/>
          </a:solidFill>
        </p:spPr>
        <p:txBody>
          <a:bodyPr anchorCtr="0" anchor="t" bIns="91425" lIns="91425" spcFirstLastPara="1" rIns="91425" wrap="square" tIns="91425">
            <a:noAutofit/>
          </a:bodyPr>
          <a:lstStyle/>
          <a:p>
            <a:pPr indent="0" lvl="0" marL="0" rtl="0" algn="l">
              <a:lnSpc>
                <a:spcPct val="80000"/>
              </a:lnSpc>
              <a:spcBef>
                <a:spcPts val="0"/>
              </a:spcBef>
              <a:spcAft>
                <a:spcPts val="0"/>
              </a:spcAft>
              <a:buClr>
                <a:schemeClr val="dk1"/>
              </a:buClr>
              <a:buSzPts val="275"/>
              <a:buFont typeface="Arial"/>
              <a:buNone/>
            </a:pPr>
            <a:r>
              <a:rPr b="1" lang="en" sz="1650">
                <a:solidFill>
                  <a:srgbClr val="000000"/>
                </a:solidFill>
                <a:latin typeface="Trebuchet MS"/>
                <a:ea typeface="Trebuchet MS"/>
                <a:cs typeface="Trebuchet MS"/>
                <a:sym typeface="Trebuchet MS"/>
              </a:rPr>
              <a:t>Mentor : Mr Vivek </a:t>
            </a:r>
            <a:endParaRPr b="1" sz="1650">
              <a:solidFill>
                <a:srgbClr val="000000"/>
              </a:solidFill>
              <a:latin typeface="Trebuchet MS"/>
              <a:ea typeface="Trebuchet MS"/>
              <a:cs typeface="Trebuchet MS"/>
              <a:sym typeface="Trebuchet MS"/>
            </a:endParaRPr>
          </a:p>
          <a:p>
            <a:pPr indent="0" lvl="0" marL="0" rtl="0" algn="l">
              <a:lnSpc>
                <a:spcPct val="80000"/>
              </a:lnSpc>
              <a:spcBef>
                <a:spcPts val="0"/>
              </a:spcBef>
              <a:spcAft>
                <a:spcPts val="0"/>
              </a:spcAft>
              <a:buClr>
                <a:schemeClr val="dk1"/>
              </a:buClr>
              <a:buSzPts val="275"/>
              <a:buFont typeface="Arial"/>
              <a:buNone/>
            </a:pPr>
            <a:r>
              <a:rPr b="1" lang="en" sz="1562">
                <a:solidFill>
                  <a:srgbClr val="000000"/>
                </a:solidFill>
                <a:highlight>
                  <a:schemeClr val="lt1"/>
                </a:highlight>
                <a:latin typeface="Trebuchet MS"/>
                <a:ea typeface="Trebuchet MS"/>
                <a:cs typeface="Trebuchet MS"/>
                <a:sym typeface="Trebuchet MS"/>
              </a:rPr>
              <a:t>Asst. Professor, Electrical and Electronics, </a:t>
            </a:r>
            <a:endParaRPr b="1" sz="1562">
              <a:solidFill>
                <a:srgbClr val="000000"/>
              </a:solidFill>
              <a:highlight>
                <a:schemeClr val="lt1"/>
              </a:highlight>
              <a:latin typeface="Trebuchet MS"/>
              <a:ea typeface="Trebuchet MS"/>
              <a:cs typeface="Trebuchet MS"/>
              <a:sym typeface="Trebuchet MS"/>
            </a:endParaRPr>
          </a:p>
          <a:p>
            <a:pPr indent="0" lvl="0" marL="0" rtl="0" algn="l">
              <a:lnSpc>
                <a:spcPct val="80000"/>
              </a:lnSpc>
              <a:spcBef>
                <a:spcPts val="0"/>
              </a:spcBef>
              <a:spcAft>
                <a:spcPts val="0"/>
              </a:spcAft>
              <a:buClr>
                <a:schemeClr val="dk1"/>
              </a:buClr>
              <a:buSzPts val="275"/>
              <a:buFont typeface="Arial"/>
              <a:buNone/>
            </a:pPr>
            <a:r>
              <a:rPr b="1" lang="en" sz="1562">
                <a:solidFill>
                  <a:srgbClr val="000000"/>
                </a:solidFill>
                <a:highlight>
                  <a:schemeClr val="lt1"/>
                </a:highlight>
                <a:latin typeface="Trebuchet MS"/>
                <a:ea typeface="Trebuchet MS"/>
                <a:cs typeface="Trebuchet MS"/>
                <a:sym typeface="Trebuchet MS"/>
              </a:rPr>
              <a:t>School of Engineering, Amritapuri</a:t>
            </a:r>
            <a:endParaRPr b="1" sz="1650">
              <a:solidFill>
                <a:srgbClr val="000000"/>
              </a:solidFill>
              <a:latin typeface="Trebuchet MS"/>
              <a:ea typeface="Trebuchet MS"/>
              <a:cs typeface="Trebuchet MS"/>
              <a:sym typeface="Trebuchet MS"/>
            </a:endParaRPr>
          </a:p>
          <a:p>
            <a:pPr indent="0" lvl="0" marL="0" rtl="0" algn="l">
              <a:lnSpc>
                <a:spcPct val="80000"/>
              </a:lnSpc>
              <a:spcBef>
                <a:spcPts val="0"/>
              </a:spcBef>
              <a:spcAft>
                <a:spcPts val="0"/>
              </a:spcAft>
              <a:buClr>
                <a:schemeClr val="dk1"/>
              </a:buClr>
              <a:buSzPts val="275"/>
              <a:buFont typeface="Arial"/>
              <a:buNone/>
            </a:pPr>
            <a:r>
              <a:t/>
            </a:r>
            <a:endParaRPr b="1" sz="1550">
              <a:solidFill>
                <a:srgbClr val="000000"/>
              </a:solidFill>
              <a:latin typeface="Trebuchet MS"/>
              <a:ea typeface="Trebuchet MS"/>
              <a:cs typeface="Trebuchet MS"/>
              <a:sym typeface="Trebuchet MS"/>
            </a:endParaRPr>
          </a:p>
          <a:p>
            <a:pPr indent="457200" lvl="0" marL="4114800" rtl="0" algn="l">
              <a:lnSpc>
                <a:spcPct val="80000"/>
              </a:lnSpc>
              <a:spcBef>
                <a:spcPts val="0"/>
              </a:spcBef>
              <a:spcAft>
                <a:spcPts val="0"/>
              </a:spcAft>
              <a:buClr>
                <a:schemeClr val="dk1"/>
              </a:buClr>
              <a:buSzPts val="275"/>
              <a:buFont typeface="Arial"/>
              <a:buNone/>
            </a:pPr>
            <a:r>
              <a:t/>
            </a:r>
            <a:endParaRPr b="1" sz="1550">
              <a:solidFill>
                <a:srgbClr val="000000"/>
              </a:solidFill>
              <a:latin typeface="Trebuchet MS"/>
              <a:ea typeface="Trebuchet MS"/>
              <a:cs typeface="Trebuchet MS"/>
              <a:sym typeface="Trebuchet MS"/>
            </a:endParaRPr>
          </a:p>
          <a:p>
            <a:pPr indent="457200" lvl="0" marL="3200400" rtl="0" algn="l">
              <a:lnSpc>
                <a:spcPct val="80000"/>
              </a:lnSpc>
              <a:spcBef>
                <a:spcPts val="0"/>
              </a:spcBef>
              <a:spcAft>
                <a:spcPts val="0"/>
              </a:spcAft>
              <a:buClr>
                <a:schemeClr val="dk1"/>
              </a:buClr>
              <a:buSzPts val="275"/>
              <a:buFont typeface="Arial"/>
              <a:buNone/>
            </a:pPr>
            <a:r>
              <a:rPr b="1" lang="en" sz="1550">
                <a:solidFill>
                  <a:srgbClr val="000000"/>
                </a:solidFill>
                <a:latin typeface="Trebuchet MS"/>
                <a:ea typeface="Trebuchet MS"/>
                <a:cs typeface="Trebuchet MS"/>
                <a:sym typeface="Trebuchet MS"/>
              </a:rPr>
              <a:t>Team:</a:t>
            </a:r>
            <a:endParaRPr b="1" sz="1550">
              <a:solidFill>
                <a:srgbClr val="000000"/>
              </a:solidFill>
              <a:latin typeface="Trebuchet MS"/>
              <a:ea typeface="Trebuchet MS"/>
              <a:cs typeface="Trebuchet MS"/>
              <a:sym typeface="Trebuchet MS"/>
            </a:endParaRPr>
          </a:p>
          <a:p>
            <a:pPr indent="0" lvl="0" marL="0" rtl="0" algn="r">
              <a:lnSpc>
                <a:spcPct val="80000"/>
              </a:lnSpc>
              <a:spcBef>
                <a:spcPts val="0"/>
              </a:spcBef>
              <a:spcAft>
                <a:spcPts val="0"/>
              </a:spcAft>
              <a:buClr>
                <a:schemeClr val="dk1"/>
              </a:buClr>
              <a:buSzPts val="275"/>
              <a:buFont typeface="Arial"/>
              <a:buNone/>
            </a:pPr>
            <a:r>
              <a:t/>
            </a:r>
            <a:endParaRPr b="1" sz="1550">
              <a:solidFill>
                <a:srgbClr val="000000"/>
              </a:solidFill>
              <a:latin typeface="Trebuchet MS"/>
              <a:ea typeface="Trebuchet MS"/>
              <a:cs typeface="Trebuchet MS"/>
              <a:sym typeface="Trebuchet MS"/>
            </a:endParaRPr>
          </a:p>
          <a:p>
            <a:pPr indent="0" lvl="0" marL="0" rtl="0" algn="r">
              <a:lnSpc>
                <a:spcPct val="80000"/>
              </a:lnSpc>
              <a:spcBef>
                <a:spcPts val="0"/>
              </a:spcBef>
              <a:spcAft>
                <a:spcPts val="0"/>
              </a:spcAft>
              <a:buClr>
                <a:schemeClr val="dk1"/>
              </a:buClr>
              <a:buSzPts val="275"/>
              <a:buFont typeface="Arial"/>
              <a:buNone/>
            </a:pPr>
            <a:r>
              <a:rPr b="1" lang="en" sz="1550">
                <a:solidFill>
                  <a:srgbClr val="000000"/>
                </a:solidFill>
                <a:latin typeface="Trebuchet MS"/>
                <a:ea typeface="Trebuchet MS"/>
                <a:cs typeface="Trebuchet MS"/>
                <a:sym typeface="Trebuchet MS"/>
              </a:rPr>
              <a:t> </a:t>
            </a:r>
            <a:r>
              <a:rPr b="1" lang="en" sz="1550">
                <a:solidFill>
                  <a:srgbClr val="000000"/>
                </a:solidFill>
                <a:latin typeface="Trebuchet MS"/>
                <a:ea typeface="Trebuchet MS"/>
                <a:cs typeface="Trebuchet MS"/>
                <a:sym typeface="Trebuchet MS"/>
              </a:rPr>
              <a:t> </a:t>
            </a:r>
            <a:r>
              <a:rPr b="1" lang="en" sz="1550">
                <a:solidFill>
                  <a:srgbClr val="000000"/>
                </a:solidFill>
                <a:latin typeface="Trebuchet MS"/>
                <a:ea typeface="Trebuchet MS"/>
                <a:cs typeface="Trebuchet MS"/>
                <a:sym typeface="Trebuchet MS"/>
              </a:rPr>
              <a:t>Velayudhan A 	          :AM.EN.U4EEE17101</a:t>
            </a:r>
            <a:endParaRPr b="1" sz="1550">
              <a:solidFill>
                <a:srgbClr val="000000"/>
              </a:solidFill>
              <a:latin typeface="Trebuchet MS"/>
              <a:ea typeface="Trebuchet MS"/>
              <a:cs typeface="Trebuchet MS"/>
              <a:sym typeface="Trebuchet MS"/>
            </a:endParaRPr>
          </a:p>
          <a:p>
            <a:pPr indent="0" lvl="0" marL="0" rtl="0" algn="r">
              <a:lnSpc>
                <a:spcPct val="80000"/>
              </a:lnSpc>
              <a:spcBef>
                <a:spcPts val="0"/>
              </a:spcBef>
              <a:spcAft>
                <a:spcPts val="0"/>
              </a:spcAft>
              <a:buClr>
                <a:schemeClr val="dk1"/>
              </a:buClr>
              <a:buSzPts val="275"/>
              <a:buFont typeface="Arial"/>
              <a:buNone/>
            </a:pPr>
            <a:r>
              <a:rPr b="1" lang="en" sz="1550">
                <a:solidFill>
                  <a:srgbClr val="000000"/>
                </a:solidFill>
                <a:latin typeface="Trebuchet MS"/>
                <a:ea typeface="Trebuchet MS"/>
                <a:cs typeface="Trebuchet MS"/>
                <a:sym typeface="Trebuchet MS"/>
              </a:rPr>
              <a:t>  Nandakishore R Nair	 : AM.EN.U4EEE17123</a:t>
            </a:r>
            <a:endParaRPr b="1" sz="1550">
              <a:solidFill>
                <a:srgbClr val="000000"/>
              </a:solidFill>
              <a:latin typeface="Trebuchet MS"/>
              <a:ea typeface="Trebuchet MS"/>
              <a:cs typeface="Trebuchet MS"/>
              <a:sym typeface="Trebuchet MS"/>
            </a:endParaRPr>
          </a:p>
          <a:p>
            <a:pPr indent="457200" lvl="0" marL="2743200" rtl="0" algn="ctr">
              <a:lnSpc>
                <a:spcPct val="80000"/>
              </a:lnSpc>
              <a:spcBef>
                <a:spcPts val="0"/>
              </a:spcBef>
              <a:spcAft>
                <a:spcPts val="0"/>
              </a:spcAft>
              <a:buClr>
                <a:schemeClr val="dk1"/>
              </a:buClr>
              <a:buSzPts val="275"/>
              <a:buFont typeface="Arial"/>
              <a:buNone/>
            </a:pPr>
            <a:r>
              <a:rPr b="1" lang="en" sz="1550">
                <a:solidFill>
                  <a:srgbClr val="000000"/>
                </a:solidFill>
                <a:latin typeface="Trebuchet MS"/>
                <a:ea typeface="Trebuchet MS"/>
                <a:cs typeface="Trebuchet MS"/>
                <a:sym typeface="Trebuchet MS"/>
              </a:rPr>
              <a:t>Neeraj S		:AM.EN.U4EEE17124</a:t>
            </a:r>
            <a:endParaRPr b="1" sz="1550">
              <a:solidFill>
                <a:srgbClr val="000000"/>
              </a:solidFill>
              <a:latin typeface="Trebuchet MS"/>
              <a:ea typeface="Trebuchet MS"/>
              <a:cs typeface="Trebuchet MS"/>
              <a:sym typeface="Trebuchet MS"/>
            </a:endParaRPr>
          </a:p>
          <a:p>
            <a:pPr indent="457200" lvl="0" marL="2743200" rtl="0" algn="ctr">
              <a:lnSpc>
                <a:spcPct val="80000"/>
              </a:lnSpc>
              <a:spcBef>
                <a:spcPts val="0"/>
              </a:spcBef>
              <a:spcAft>
                <a:spcPts val="0"/>
              </a:spcAft>
              <a:buClr>
                <a:schemeClr val="dk1"/>
              </a:buClr>
              <a:buSzPts val="275"/>
              <a:buFont typeface="Arial"/>
              <a:buNone/>
            </a:pPr>
            <a:r>
              <a:rPr b="1" lang="en" sz="1550">
                <a:solidFill>
                  <a:srgbClr val="000000"/>
                </a:solidFill>
                <a:latin typeface="Trebuchet MS"/>
                <a:ea typeface="Trebuchet MS"/>
                <a:cs typeface="Trebuchet MS"/>
                <a:sym typeface="Trebuchet MS"/>
              </a:rPr>
              <a:t>Vishnu S		:AM.EN.U4EEE17147</a:t>
            </a:r>
            <a:endParaRPr b="1" sz="1550">
              <a:solidFill>
                <a:srgbClr val="000000"/>
              </a:solidFill>
              <a:latin typeface="Trebuchet MS"/>
              <a:ea typeface="Trebuchet MS"/>
              <a:cs typeface="Trebuchet MS"/>
              <a:sym typeface="Trebuchet MS"/>
            </a:endParaRPr>
          </a:p>
          <a:p>
            <a:pPr indent="0" lvl="0" marL="0" rtl="0" algn="r">
              <a:lnSpc>
                <a:spcPct val="80000"/>
              </a:lnSpc>
              <a:spcBef>
                <a:spcPts val="0"/>
              </a:spcBef>
              <a:spcAft>
                <a:spcPts val="0"/>
              </a:spcAft>
              <a:buClr>
                <a:schemeClr val="dk1"/>
              </a:buClr>
              <a:buSzPts val="275"/>
              <a:buFont typeface="Arial"/>
              <a:buNone/>
            </a:pPr>
            <a:r>
              <a:t/>
            </a:r>
            <a:endParaRPr b="1" sz="1700">
              <a:solidFill>
                <a:srgbClr val="000000"/>
              </a:solidFill>
              <a:latin typeface="Trebuchet MS"/>
              <a:ea typeface="Trebuchet MS"/>
              <a:cs typeface="Trebuchet MS"/>
              <a:sym typeface="Trebuchet MS"/>
            </a:endParaRPr>
          </a:p>
          <a:p>
            <a:pPr indent="0" lvl="0" marL="0" rtl="0" algn="l">
              <a:lnSpc>
                <a:spcPct val="80000"/>
              </a:lnSpc>
              <a:spcBef>
                <a:spcPts val="0"/>
              </a:spcBef>
              <a:spcAft>
                <a:spcPts val="0"/>
              </a:spcAft>
              <a:buClr>
                <a:schemeClr val="dk1"/>
              </a:buClr>
              <a:buSzPts val="275"/>
              <a:buFont typeface="Arial"/>
              <a:buNone/>
            </a:pPr>
            <a:r>
              <a:t/>
            </a:r>
            <a:endParaRPr b="1" sz="1600">
              <a:solidFill>
                <a:srgbClr val="000000"/>
              </a:solidFill>
              <a:highlight>
                <a:srgbClr val="CCCCCC"/>
              </a:highlight>
              <a:latin typeface="Trebuchet MS"/>
              <a:ea typeface="Trebuchet MS"/>
              <a:cs typeface="Trebuchet MS"/>
              <a:sym typeface="Trebuchet MS"/>
            </a:endParaRPr>
          </a:p>
          <a:p>
            <a:pPr indent="0" lvl="0" marL="0" rtl="0" algn="ctr">
              <a:lnSpc>
                <a:spcPct val="80000"/>
              </a:lnSpc>
              <a:spcBef>
                <a:spcPts val="0"/>
              </a:spcBef>
              <a:spcAft>
                <a:spcPts val="0"/>
              </a:spcAft>
              <a:buSzPts val="275"/>
              <a:buNone/>
            </a:pPr>
            <a:r>
              <a:t/>
            </a:r>
            <a:endParaRPr b="1" sz="1900">
              <a:latin typeface="Trebuchet MS"/>
              <a:ea typeface="Trebuchet MS"/>
              <a:cs typeface="Trebuchet MS"/>
              <a:sym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4"/>
          <p:cNvSpPr txBox="1"/>
          <p:nvPr>
            <p:ph type="title"/>
          </p:nvPr>
        </p:nvSpPr>
        <p:spPr>
          <a:xfrm>
            <a:off x="287013" y="4055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800">
                <a:solidFill>
                  <a:srgbClr val="000000"/>
                </a:solidFill>
                <a:latin typeface="Times New Roman"/>
                <a:ea typeface="Times New Roman"/>
                <a:cs typeface="Times New Roman"/>
                <a:sym typeface="Times New Roman"/>
              </a:rPr>
              <a:t>INTRODUCTION</a:t>
            </a:r>
            <a:endParaRPr sz="1800">
              <a:solidFill>
                <a:srgbClr val="000000"/>
              </a:solidFill>
              <a:latin typeface="Times New Roman"/>
              <a:ea typeface="Times New Roman"/>
              <a:cs typeface="Times New Roman"/>
              <a:sym typeface="Times New Roman"/>
            </a:endParaRPr>
          </a:p>
        </p:txBody>
      </p:sp>
      <p:sp>
        <p:nvSpPr>
          <p:cNvPr id="73" name="Google Shape;73;p14"/>
          <p:cNvSpPr txBox="1"/>
          <p:nvPr>
            <p:ph idx="1" type="body"/>
          </p:nvPr>
        </p:nvSpPr>
        <p:spPr>
          <a:xfrm>
            <a:off x="311688" y="114030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b="1" sz="1100">
              <a:solidFill>
                <a:srgbClr val="000000"/>
              </a:solidFill>
              <a:latin typeface="Georgia"/>
              <a:ea typeface="Georgia"/>
              <a:cs typeface="Georgia"/>
              <a:sym typeface="Georgia"/>
            </a:endParaRPr>
          </a:p>
          <a:p>
            <a:pPr indent="0" lvl="0" marL="0" rtl="0" algn="l">
              <a:spcBef>
                <a:spcPts val="1000"/>
              </a:spcBef>
              <a:spcAft>
                <a:spcPts val="0"/>
              </a:spcAft>
              <a:buNone/>
            </a:pPr>
            <a:r>
              <a:rPr lang="en" sz="1300">
                <a:solidFill>
                  <a:srgbClr val="000000"/>
                </a:solidFill>
                <a:latin typeface="Georgia"/>
                <a:ea typeface="Georgia"/>
                <a:cs typeface="Georgia"/>
                <a:sym typeface="Georgia"/>
              </a:rPr>
              <a:t>The human brain is capable of extracting, processing and manipulating data efficiently as information based on the neural pathways residing over our nervous system with the influence of neurons. However, compared to the machine point of view this concept of identification is relatively harder as they are trained to perform over an algorithm for fast computation. For example, computers can perform large amounts of calculation in milliseconds which would be a lifetime process for human brains. In contrast to that, humans can identify, differentiate, categorise the world around them which is harder from the machine’s perspective. The artificial intelligence concept where the computers think like humans is the near future, but for the computer vision to attain the capability to identify, differentiate, categorise the world, it has to be trained under supervised or unsupervised learning. Image processing with feature extraction is an inevitable part of the machine training process and it is essential to find the most efficient feature extraction algorithm for every possible scenario. The concept of feature extraction works significantly in hand with image processing. </a:t>
            </a:r>
            <a:endParaRPr sz="20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000000"/>
                </a:solidFill>
              </a:rPr>
              <a:t>Objective</a:t>
            </a:r>
            <a:endParaRPr>
              <a:solidFill>
                <a:srgbClr val="000000"/>
              </a:solidFill>
            </a:endParaRPr>
          </a:p>
        </p:txBody>
      </p:sp>
      <p:sp>
        <p:nvSpPr>
          <p:cNvPr id="79" name="Google Shape;79;p15"/>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349250" lvl="0" marL="457200" rtl="0" algn="l">
              <a:lnSpc>
                <a:spcPct val="100000"/>
              </a:lnSpc>
              <a:spcBef>
                <a:spcPts val="0"/>
              </a:spcBef>
              <a:spcAft>
                <a:spcPts val="0"/>
              </a:spcAft>
              <a:buClr>
                <a:srgbClr val="000000"/>
              </a:buClr>
              <a:buSzPts val="1900"/>
              <a:buAutoNum type="arabicPeriod"/>
            </a:pPr>
            <a:r>
              <a:rPr lang="en" sz="1900">
                <a:solidFill>
                  <a:srgbClr val="000000"/>
                </a:solidFill>
              </a:rPr>
              <a:t>Creating Halftone AprilTags </a:t>
            </a:r>
            <a:r>
              <a:rPr lang="en" sz="1900">
                <a:solidFill>
                  <a:srgbClr val="00FFFF"/>
                </a:solidFill>
                <a:highlight>
                  <a:srgbClr val="FFFFFF"/>
                </a:highlight>
              </a:rPr>
              <a:t>✔️</a:t>
            </a:r>
            <a:endParaRPr sz="1900">
              <a:solidFill>
                <a:srgbClr val="00FFFF"/>
              </a:solidFill>
              <a:highlight>
                <a:srgbClr val="FFFFFF"/>
              </a:highlight>
            </a:endParaRPr>
          </a:p>
          <a:p>
            <a:pPr indent="-349250" lvl="0" marL="457200" rtl="0" algn="l">
              <a:lnSpc>
                <a:spcPct val="100000"/>
              </a:lnSpc>
              <a:spcBef>
                <a:spcPts val="0"/>
              </a:spcBef>
              <a:spcAft>
                <a:spcPts val="0"/>
              </a:spcAft>
              <a:buClr>
                <a:srgbClr val="000000"/>
              </a:buClr>
              <a:buSzPts val="1900"/>
              <a:buAutoNum type="arabicPeriod"/>
            </a:pPr>
            <a:r>
              <a:rPr lang="en" sz="1900">
                <a:solidFill>
                  <a:srgbClr val="000000"/>
                </a:solidFill>
              </a:rPr>
              <a:t>Analogy of point feature extraction techniques</a:t>
            </a:r>
            <a:r>
              <a:rPr lang="en" sz="1300">
                <a:solidFill>
                  <a:srgbClr val="000000"/>
                </a:solidFill>
                <a:latin typeface="Georgia"/>
                <a:ea typeface="Georgia"/>
                <a:cs typeface="Georgia"/>
                <a:sym typeface="Georgia"/>
              </a:rPr>
              <a:t>   </a:t>
            </a:r>
            <a:r>
              <a:rPr lang="en" sz="1900">
                <a:solidFill>
                  <a:srgbClr val="000000"/>
                </a:solidFill>
              </a:rPr>
              <a:t>✔️</a:t>
            </a:r>
            <a:endParaRPr sz="1900">
              <a:solidFill>
                <a:srgbClr val="000000"/>
              </a:solidFill>
            </a:endParaRPr>
          </a:p>
          <a:p>
            <a:pPr indent="-349250" lvl="0" marL="457200" rtl="0" algn="l">
              <a:lnSpc>
                <a:spcPct val="100000"/>
              </a:lnSpc>
              <a:spcBef>
                <a:spcPts val="0"/>
              </a:spcBef>
              <a:spcAft>
                <a:spcPts val="0"/>
              </a:spcAft>
              <a:buClr>
                <a:srgbClr val="000000"/>
              </a:buClr>
              <a:buSzPts val="1900"/>
              <a:buAutoNum type="arabicPeriod"/>
            </a:pPr>
            <a:r>
              <a:rPr lang="en" sz="1900">
                <a:solidFill>
                  <a:srgbClr val="000000"/>
                </a:solidFill>
              </a:rPr>
              <a:t>Landing of UAV</a:t>
            </a:r>
            <a:endParaRPr sz="1900">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Block Diagram</a:t>
            </a:r>
            <a:endParaRPr/>
          </a:p>
        </p:txBody>
      </p:sp>
      <p:pic>
        <p:nvPicPr>
          <p:cNvPr id="85" name="Google Shape;85;p16"/>
          <p:cNvPicPr preferRelativeResize="0"/>
          <p:nvPr/>
        </p:nvPicPr>
        <p:blipFill>
          <a:blip r:embed="rId3">
            <a:alphaModFix/>
          </a:blip>
          <a:stretch>
            <a:fillRect/>
          </a:stretch>
        </p:blipFill>
        <p:spPr>
          <a:xfrm>
            <a:off x="459062" y="1256449"/>
            <a:ext cx="8225874" cy="34750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t>Inside Flight Control System</a:t>
            </a:r>
            <a:endParaRPr sz="1800"/>
          </a:p>
        </p:txBody>
      </p:sp>
      <p:pic>
        <p:nvPicPr>
          <p:cNvPr id="91" name="Google Shape;91;p17"/>
          <p:cNvPicPr preferRelativeResize="0"/>
          <p:nvPr/>
        </p:nvPicPr>
        <p:blipFill>
          <a:blip r:embed="rId3">
            <a:alphaModFix/>
          </a:blip>
          <a:stretch>
            <a:fillRect/>
          </a:stretch>
        </p:blipFill>
        <p:spPr>
          <a:xfrm>
            <a:off x="152400" y="1304825"/>
            <a:ext cx="8839200" cy="338455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ph type="title"/>
          </p:nvPr>
        </p:nvSpPr>
        <p:spPr>
          <a:xfrm>
            <a:off x="256275" y="57050"/>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Phase 1</a:t>
            </a:r>
            <a:endParaRPr/>
          </a:p>
        </p:txBody>
      </p:sp>
      <p:sp>
        <p:nvSpPr>
          <p:cNvPr id="97" name="Google Shape;97;p18"/>
          <p:cNvSpPr txBox="1"/>
          <p:nvPr>
            <p:ph idx="1" type="body"/>
          </p:nvPr>
        </p:nvSpPr>
        <p:spPr>
          <a:xfrm>
            <a:off x="311700" y="764450"/>
            <a:ext cx="8520600" cy="3962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1400">
                <a:solidFill>
                  <a:srgbClr val="000000"/>
                </a:solidFill>
                <a:latin typeface="Georgia"/>
                <a:ea typeface="Georgia"/>
                <a:cs typeface="Georgia"/>
                <a:sym typeface="Georgia"/>
              </a:rPr>
              <a:t>We have been constantly updating the project prerequisites and learning the ways by which this task of autonomous uav landing using fiducial markers can be implemented. As a result we have enrolled ourselves in various courses offered by various online platforms such as edX so that the basics is strong.</a:t>
            </a:r>
            <a:endParaRPr sz="1400">
              <a:solidFill>
                <a:srgbClr val="000000"/>
              </a:solidFill>
              <a:latin typeface="Georgia"/>
              <a:ea typeface="Georgia"/>
              <a:cs typeface="Georgia"/>
              <a:sym typeface="Georgia"/>
            </a:endParaRPr>
          </a:p>
          <a:p>
            <a:pPr indent="0" lvl="0" marL="0" rtl="0" algn="l">
              <a:spcBef>
                <a:spcPts val="1600"/>
              </a:spcBef>
              <a:spcAft>
                <a:spcPts val="0"/>
              </a:spcAft>
              <a:buNone/>
            </a:pPr>
            <a:r>
              <a:rPr lang="en" sz="1400">
                <a:solidFill>
                  <a:srgbClr val="000000"/>
                </a:solidFill>
                <a:latin typeface="Georgia"/>
                <a:ea typeface="Georgia"/>
                <a:cs typeface="Georgia"/>
                <a:sym typeface="Georgia"/>
              </a:rPr>
              <a:t>Also as the trend of robotic systems is prevalent in the vast sector, proper simulation and documentation needs to be facilitated as a result the totally new concept of ROS is been focal point. We have made ways to educate ourselves with this meta operating software.</a:t>
            </a:r>
            <a:endParaRPr sz="1400">
              <a:solidFill>
                <a:srgbClr val="000000"/>
              </a:solidFill>
              <a:latin typeface="Georgia"/>
              <a:ea typeface="Georgia"/>
              <a:cs typeface="Georgia"/>
              <a:sym typeface="Georgia"/>
            </a:endParaRPr>
          </a:p>
          <a:p>
            <a:pPr indent="0" lvl="0" marL="0" rtl="0" algn="l">
              <a:spcBef>
                <a:spcPts val="1600"/>
              </a:spcBef>
              <a:spcAft>
                <a:spcPts val="0"/>
              </a:spcAft>
              <a:buNone/>
            </a:pPr>
            <a:r>
              <a:rPr lang="en" sz="1400">
                <a:solidFill>
                  <a:srgbClr val="000000"/>
                </a:solidFill>
                <a:latin typeface="Georgia"/>
                <a:ea typeface="Georgia"/>
                <a:cs typeface="Georgia"/>
                <a:sym typeface="Georgia"/>
              </a:rPr>
              <a:t>MATlab implementation of the feature extraction is been understood as it is been used in the existing packages prevalent in the UAV techs. Also the codes for the drone fight and general navigation is been exported. </a:t>
            </a:r>
            <a:endParaRPr sz="1400">
              <a:solidFill>
                <a:srgbClr val="000000"/>
              </a:solidFill>
              <a:latin typeface="Georgia"/>
              <a:ea typeface="Georgia"/>
              <a:cs typeface="Georgia"/>
              <a:sym typeface="Georgia"/>
            </a:endParaRPr>
          </a:p>
          <a:p>
            <a:pPr indent="0" lvl="0" marL="0" rtl="0" algn="l">
              <a:spcBef>
                <a:spcPts val="1600"/>
              </a:spcBef>
              <a:spcAft>
                <a:spcPts val="0"/>
              </a:spcAft>
              <a:buNone/>
            </a:pPr>
            <a:r>
              <a:rPr b="1" lang="en" sz="1500">
                <a:solidFill>
                  <a:srgbClr val="000000"/>
                </a:solidFill>
                <a:latin typeface="Georgia"/>
                <a:ea typeface="Georgia"/>
                <a:cs typeface="Georgia"/>
                <a:sym typeface="Georgia"/>
              </a:rPr>
              <a:t>Simulations and codes in phase 1</a:t>
            </a:r>
            <a:endParaRPr b="1" sz="1500">
              <a:solidFill>
                <a:srgbClr val="000000"/>
              </a:solidFill>
              <a:latin typeface="Georgia"/>
              <a:ea typeface="Georgia"/>
              <a:cs typeface="Georgia"/>
              <a:sym typeface="Georgia"/>
            </a:endParaRPr>
          </a:p>
          <a:p>
            <a:pPr indent="-323850" lvl="0" marL="457200" rtl="0" algn="l">
              <a:spcBef>
                <a:spcPts val="1200"/>
              </a:spcBef>
              <a:spcAft>
                <a:spcPts val="0"/>
              </a:spcAft>
              <a:buClr>
                <a:srgbClr val="000000"/>
              </a:buClr>
              <a:buSzPts val="1500"/>
              <a:buFont typeface="Georgia"/>
              <a:buChar char="●"/>
            </a:pPr>
            <a:r>
              <a:rPr lang="en" sz="1500">
                <a:solidFill>
                  <a:srgbClr val="000000"/>
                </a:solidFill>
                <a:latin typeface="Georgia"/>
                <a:ea typeface="Georgia"/>
                <a:cs typeface="Georgia"/>
                <a:sym typeface="Georgia"/>
              </a:rPr>
              <a:t>Basic feature extraction in MATLAB using SURF method</a:t>
            </a:r>
            <a:endParaRPr sz="1500">
              <a:solidFill>
                <a:srgbClr val="000000"/>
              </a:solidFill>
              <a:latin typeface="Georgia"/>
              <a:ea typeface="Georgia"/>
              <a:cs typeface="Georgia"/>
              <a:sym typeface="Georgia"/>
            </a:endParaRPr>
          </a:p>
          <a:p>
            <a:pPr indent="-323850" lvl="0" marL="457200" rtl="0" algn="l">
              <a:spcBef>
                <a:spcPts val="0"/>
              </a:spcBef>
              <a:spcAft>
                <a:spcPts val="0"/>
              </a:spcAft>
              <a:buClr>
                <a:srgbClr val="000000"/>
              </a:buClr>
              <a:buSzPts val="1500"/>
              <a:buFont typeface="Georgia"/>
              <a:buChar char="●"/>
            </a:pPr>
            <a:r>
              <a:rPr lang="en" sz="1500">
                <a:solidFill>
                  <a:srgbClr val="000000"/>
                </a:solidFill>
                <a:latin typeface="Georgia"/>
                <a:ea typeface="Georgia"/>
                <a:cs typeface="Georgia"/>
                <a:sym typeface="Georgia"/>
              </a:rPr>
              <a:t>Drone maneuvering simulation </a:t>
            </a:r>
            <a:endParaRPr sz="1500">
              <a:solidFill>
                <a:srgbClr val="000000"/>
              </a:solidFill>
              <a:latin typeface="Georgia"/>
              <a:ea typeface="Georgia"/>
              <a:cs typeface="Georgia"/>
              <a:sym typeface="Georgia"/>
            </a:endParaRPr>
          </a:p>
          <a:p>
            <a:pPr indent="-323850" lvl="0" marL="457200" rtl="0" algn="l">
              <a:spcBef>
                <a:spcPts val="0"/>
              </a:spcBef>
              <a:spcAft>
                <a:spcPts val="0"/>
              </a:spcAft>
              <a:buClr>
                <a:srgbClr val="000000"/>
              </a:buClr>
              <a:buSzPts val="1500"/>
              <a:buFont typeface="Georgia"/>
              <a:buChar char="●"/>
            </a:pPr>
            <a:r>
              <a:rPr lang="en" sz="1500">
                <a:solidFill>
                  <a:srgbClr val="000000"/>
                </a:solidFill>
                <a:latin typeface="Georgia"/>
                <a:ea typeface="Georgia"/>
                <a:cs typeface="Georgia"/>
                <a:sym typeface="Georgia"/>
              </a:rPr>
              <a:t>PWM generation for the ESC module from input commands</a:t>
            </a:r>
            <a:endParaRPr sz="1500">
              <a:solidFill>
                <a:srgbClr val="000000"/>
              </a:solidFill>
              <a:latin typeface="Georgia"/>
              <a:ea typeface="Georgia"/>
              <a:cs typeface="Georgia"/>
              <a:sym typeface="Georgi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9"/>
          <p:cNvSpPr txBox="1"/>
          <p:nvPr>
            <p:ph idx="1" type="body"/>
          </p:nvPr>
        </p:nvSpPr>
        <p:spPr>
          <a:xfrm>
            <a:off x="311700" y="1408000"/>
            <a:ext cx="8520600" cy="35343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sz="2125">
                <a:latin typeface="Georgia"/>
                <a:ea typeface="Georgia"/>
                <a:cs typeface="Georgia"/>
                <a:sym typeface="Georgia"/>
              </a:rPr>
              <a:t> </a:t>
            </a:r>
            <a:r>
              <a:rPr lang="en" sz="2100">
                <a:solidFill>
                  <a:srgbClr val="000000"/>
                </a:solidFill>
                <a:latin typeface="Georgia"/>
                <a:ea typeface="Georgia"/>
                <a:cs typeface="Georgia"/>
                <a:sym typeface="Georgia"/>
              </a:rPr>
              <a:t>An</a:t>
            </a:r>
            <a:r>
              <a:rPr lang="en" sz="2100">
                <a:latin typeface="Georgia"/>
                <a:ea typeface="Georgia"/>
                <a:cs typeface="Georgia"/>
                <a:sym typeface="Georgia"/>
              </a:rPr>
              <a:t> </a:t>
            </a:r>
            <a:r>
              <a:rPr lang="en" sz="2100">
                <a:solidFill>
                  <a:srgbClr val="000000"/>
                </a:solidFill>
                <a:latin typeface="Georgia"/>
                <a:ea typeface="Georgia"/>
                <a:cs typeface="Georgia"/>
                <a:sym typeface="Georgia"/>
              </a:rPr>
              <a:t>e</a:t>
            </a:r>
            <a:r>
              <a:rPr lang="en" sz="2100">
                <a:solidFill>
                  <a:srgbClr val="000000"/>
                </a:solidFill>
                <a:latin typeface="Georgia"/>
                <a:ea typeface="Georgia"/>
                <a:cs typeface="Georgia"/>
                <a:sym typeface="Georgia"/>
              </a:rPr>
              <a:t>xperiment was conducted for the cross comparison of the various available feature extraction algorithm namely,</a:t>
            </a:r>
            <a:r>
              <a:rPr lang="en" sz="2125">
                <a:solidFill>
                  <a:srgbClr val="000000"/>
                </a:solidFill>
                <a:latin typeface="Georgia"/>
                <a:ea typeface="Georgia"/>
                <a:cs typeface="Georgia"/>
                <a:sym typeface="Georgia"/>
              </a:rPr>
              <a:t> </a:t>
            </a:r>
            <a:endParaRPr sz="2125">
              <a:solidFill>
                <a:srgbClr val="000000"/>
              </a:solidFill>
              <a:latin typeface="Georgia"/>
              <a:ea typeface="Georgia"/>
              <a:cs typeface="Georgia"/>
              <a:sym typeface="Georgia"/>
            </a:endParaRPr>
          </a:p>
          <a:p>
            <a:pPr indent="-327582" lvl="0" marL="457200" rtl="0" algn="l">
              <a:lnSpc>
                <a:spcPct val="115000"/>
              </a:lnSpc>
              <a:spcBef>
                <a:spcPts val="1200"/>
              </a:spcBef>
              <a:spcAft>
                <a:spcPts val="0"/>
              </a:spcAft>
              <a:buClr>
                <a:srgbClr val="000000"/>
              </a:buClr>
              <a:buSzPct val="100000"/>
              <a:buFont typeface="Georgia"/>
              <a:buChar char="●"/>
            </a:pPr>
            <a:r>
              <a:rPr lang="en" sz="1833">
                <a:solidFill>
                  <a:srgbClr val="000000"/>
                </a:solidFill>
                <a:latin typeface="Georgia"/>
                <a:ea typeface="Georgia"/>
                <a:cs typeface="Georgia"/>
                <a:sym typeface="Georgia"/>
              </a:rPr>
              <a:t>BRISK</a:t>
            </a:r>
            <a:endParaRPr sz="1833">
              <a:solidFill>
                <a:srgbClr val="000000"/>
              </a:solidFill>
              <a:latin typeface="Georgia"/>
              <a:ea typeface="Georgia"/>
              <a:cs typeface="Georgia"/>
              <a:sym typeface="Georgia"/>
            </a:endParaRPr>
          </a:p>
          <a:p>
            <a:pPr indent="-327582" lvl="0" marL="457200" rtl="0" algn="l">
              <a:lnSpc>
                <a:spcPct val="115000"/>
              </a:lnSpc>
              <a:spcBef>
                <a:spcPts val="0"/>
              </a:spcBef>
              <a:spcAft>
                <a:spcPts val="0"/>
              </a:spcAft>
              <a:buClr>
                <a:srgbClr val="000000"/>
              </a:buClr>
              <a:buSzPct val="100000"/>
              <a:buFont typeface="Georgia"/>
              <a:buChar char="●"/>
            </a:pPr>
            <a:r>
              <a:rPr lang="en" sz="1833">
                <a:solidFill>
                  <a:srgbClr val="000000"/>
                </a:solidFill>
                <a:latin typeface="Georgia"/>
                <a:ea typeface="Georgia"/>
                <a:cs typeface="Georgia"/>
                <a:sym typeface="Georgia"/>
              </a:rPr>
              <a:t> FAST</a:t>
            </a:r>
            <a:endParaRPr sz="1833">
              <a:solidFill>
                <a:srgbClr val="000000"/>
              </a:solidFill>
              <a:latin typeface="Georgia"/>
              <a:ea typeface="Georgia"/>
              <a:cs typeface="Georgia"/>
              <a:sym typeface="Georgia"/>
            </a:endParaRPr>
          </a:p>
          <a:p>
            <a:pPr indent="-327582" lvl="0" marL="457200" rtl="0" algn="l">
              <a:lnSpc>
                <a:spcPct val="115000"/>
              </a:lnSpc>
              <a:spcBef>
                <a:spcPts val="0"/>
              </a:spcBef>
              <a:spcAft>
                <a:spcPts val="0"/>
              </a:spcAft>
              <a:buClr>
                <a:srgbClr val="000000"/>
              </a:buClr>
              <a:buSzPct val="100000"/>
              <a:buFont typeface="Georgia"/>
              <a:buChar char="●"/>
            </a:pPr>
            <a:r>
              <a:rPr lang="en" sz="1833">
                <a:solidFill>
                  <a:srgbClr val="000000"/>
                </a:solidFill>
                <a:latin typeface="Georgia"/>
                <a:ea typeface="Georgia"/>
                <a:cs typeface="Georgia"/>
                <a:sym typeface="Georgia"/>
              </a:rPr>
              <a:t>HARRIS</a:t>
            </a:r>
            <a:endParaRPr sz="1833">
              <a:solidFill>
                <a:srgbClr val="000000"/>
              </a:solidFill>
              <a:latin typeface="Georgia"/>
              <a:ea typeface="Georgia"/>
              <a:cs typeface="Georgia"/>
              <a:sym typeface="Georgia"/>
            </a:endParaRPr>
          </a:p>
          <a:p>
            <a:pPr indent="-327582" lvl="0" marL="457200" rtl="0" algn="l">
              <a:lnSpc>
                <a:spcPct val="115000"/>
              </a:lnSpc>
              <a:spcBef>
                <a:spcPts val="0"/>
              </a:spcBef>
              <a:spcAft>
                <a:spcPts val="0"/>
              </a:spcAft>
              <a:buClr>
                <a:srgbClr val="000000"/>
              </a:buClr>
              <a:buSzPct val="100000"/>
              <a:buFont typeface="Georgia"/>
              <a:buChar char="●"/>
            </a:pPr>
            <a:r>
              <a:rPr lang="en" sz="1833">
                <a:solidFill>
                  <a:srgbClr val="000000"/>
                </a:solidFill>
                <a:latin typeface="Georgia"/>
                <a:ea typeface="Georgia"/>
                <a:cs typeface="Georgia"/>
                <a:sym typeface="Georgia"/>
              </a:rPr>
              <a:t>KAZE</a:t>
            </a:r>
            <a:endParaRPr sz="1833">
              <a:solidFill>
                <a:srgbClr val="000000"/>
              </a:solidFill>
              <a:latin typeface="Georgia"/>
              <a:ea typeface="Georgia"/>
              <a:cs typeface="Georgia"/>
              <a:sym typeface="Georgia"/>
            </a:endParaRPr>
          </a:p>
          <a:p>
            <a:pPr indent="-327582" lvl="0" marL="457200" rtl="0" algn="l">
              <a:lnSpc>
                <a:spcPct val="115000"/>
              </a:lnSpc>
              <a:spcBef>
                <a:spcPts val="0"/>
              </a:spcBef>
              <a:spcAft>
                <a:spcPts val="0"/>
              </a:spcAft>
              <a:buClr>
                <a:srgbClr val="000000"/>
              </a:buClr>
              <a:buSzPct val="100000"/>
              <a:buFont typeface="Georgia"/>
              <a:buChar char="●"/>
            </a:pPr>
            <a:r>
              <a:rPr lang="en" sz="1833">
                <a:solidFill>
                  <a:srgbClr val="000000"/>
                </a:solidFill>
                <a:latin typeface="Georgia"/>
                <a:ea typeface="Georgia"/>
                <a:cs typeface="Georgia"/>
                <a:sym typeface="Georgia"/>
              </a:rPr>
              <a:t>MINEIGEN</a:t>
            </a:r>
            <a:endParaRPr sz="1833">
              <a:solidFill>
                <a:srgbClr val="000000"/>
              </a:solidFill>
              <a:latin typeface="Georgia"/>
              <a:ea typeface="Georgia"/>
              <a:cs typeface="Georgia"/>
              <a:sym typeface="Georgia"/>
            </a:endParaRPr>
          </a:p>
          <a:p>
            <a:pPr indent="-327582" lvl="0" marL="457200" rtl="0" algn="l">
              <a:lnSpc>
                <a:spcPct val="115000"/>
              </a:lnSpc>
              <a:spcBef>
                <a:spcPts val="0"/>
              </a:spcBef>
              <a:spcAft>
                <a:spcPts val="0"/>
              </a:spcAft>
              <a:buClr>
                <a:srgbClr val="000000"/>
              </a:buClr>
              <a:buSzPct val="100000"/>
              <a:buFont typeface="Georgia"/>
              <a:buChar char="●"/>
            </a:pPr>
            <a:r>
              <a:rPr lang="en" sz="1833">
                <a:solidFill>
                  <a:srgbClr val="000000"/>
                </a:solidFill>
                <a:latin typeface="Georgia"/>
                <a:ea typeface="Georgia"/>
                <a:cs typeface="Georgia"/>
                <a:sym typeface="Georgia"/>
              </a:rPr>
              <a:t> MSER</a:t>
            </a:r>
            <a:endParaRPr sz="1833">
              <a:solidFill>
                <a:srgbClr val="000000"/>
              </a:solidFill>
              <a:latin typeface="Georgia"/>
              <a:ea typeface="Georgia"/>
              <a:cs typeface="Georgia"/>
              <a:sym typeface="Georgia"/>
            </a:endParaRPr>
          </a:p>
          <a:p>
            <a:pPr indent="-327582" lvl="0" marL="457200" rtl="0" algn="l">
              <a:lnSpc>
                <a:spcPct val="115000"/>
              </a:lnSpc>
              <a:spcBef>
                <a:spcPts val="0"/>
              </a:spcBef>
              <a:spcAft>
                <a:spcPts val="0"/>
              </a:spcAft>
              <a:buClr>
                <a:srgbClr val="000000"/>
              </a:buClr>
              <a:buSzPct val="100000"/>
              <a:buFont typeface="Georgia"/>
              <a:buChar char="●"/>
            </a:pPr>
            <a:r>
              <a:rPr lang="en" sz="1833">
                <a:solidFill>
                  <a:srgbClr val="000000"/>
                </a:solidFill>
                <a:latin typeface="Georgia"/>
                <a:ea typeface="Georgia"/>
                <a:cs typeface="Georgia"/>
                <a:sym typeface="Georgia"/>
              </a:rPr>
              <a:t> ORB</a:t>
            </a:r>
            <a:endParaRPr sz="1833">
              <a:solidFill>
                <a:srgbClr val="000000"/>
              </a:solidFill>
              <a:latin typeface="Georgia"/>
              <a:ea typeface="Georgia"/>
              <a:cs typeface="Georgia"/>
              <a:sym typeface="Georgia"/>
            </a:endParaRPr>
          </a:p>
          <a:p>
            <a:pPr indent="-327582" lvl="0" marL="457200" rtl="0" algn="l">
              <a:lnSpc>
                <a:spcPct val="115000"/>
              </a:lnSpc>
              <a:spcBef>
                <a:spcPts val="0"/>
              </a:spcBef>
              <a:spcAft>
                <a:spcPts val="0"/>
              </a:spcAft>
              <a:buClr>
                <a:srgbClr val="000000"/>
              </a:buClr>
              <a:buSzPct val="100000"/>
              <a:buFont typeface="Georgia"/>
              <a:buChar char="●"/>
            </a:pPr>
            <a:r>
              <a:rPr lang="en" sz="1833">
                <a:solidFill>
                  <a:srgbClr val="000000"/>
                </a:solidFill>
                <a:latin typeface="Georgia"/>
                <a:ea typeface="Georgia"/>
                <a:cs typeface="Georgia"/>
                <a:sym typeface="Georgia"/>
              </a:rPr>
              <a:t>SURF</a:t>
            </a:r>
            <a:endParaRPr sz="1833">
              <a:solidFill>
                <a:srgbClr val="000000"/>
              </a:solidFill>
              <a:latin typeface="Georgia"/>
              <a:ea typeface="Georgia"/>
              <a:cs typeface="Georgia"/>
              <a:sym typeface="Georgia"/>
            </a:endParaRPr>
          </a:p>
          <a:p>
            <a:pPr indent="0" lvl="0" marL="0" rtl="0" algn="l">
              <a:spcBef>
                <a:spcPts val="0"/>
              </a:spcBef>
              <a:spcAft>
                <a:spcPts val="0"/>
              </a:spcAft>
              <a:buNone/>
            </a:pPr>
            <a:r>
              <a:rPr lang="en" sz="1850">
                <a:solidFill>
                  <a:srgbClr val="000000"/>
                </a:solidFill>
                <a:latin typeface="Georgia"/>
                <a:ea typeface="Georgia"/>
                <a:cs typeface="Georgia"/>
                <a:sym typeface="Georgia"/>
              </a:rPr>
              <a:t>   The parameters considered for the cross comparison were Time taken for feature extraction and number of match points detected and the test was conducted by  introducing effects and distortions like rotation, scale change and noise.</a:t>
            </a:r>
            <a:endParaRPr sz="1850">
              <a:solidFill>
                <a:srgbClr val="000000"/>
              </a:solidFill>
              <a:latin typeface="Georgia"/>
              <a:ea typeface="Georgia"/>
              <a:cs typeface="Georgia"/>
              <a:sym typeface="Georgia"/>
            </a:endParaRPr>
          </a:p>
          <a:p>
            <a:pPr indent="0" lvl="0" marL="0" rtl="0" algn="l">
              <a:spcBef>
                <a:spcPts val="0"/>
              </a:spcBef>
              <a:spcAft>
                <a:spcPts val="0"/>
              </a:spcAft>
              <a:buNone/>
            </a:pPr>
            <a:r>
              <a:t/>
            </a:r>
            <a:endParaRPr sz="1400">
              <a:solidFill>
                <a:srgbClr val="000000"/>
              </a:solidFill>
              <a:latin typeface="Georgia"/>
              <a:ea typeface="Georgia"/>
              <a:cs typeface="Georgia"/>
              <a:sym typeface="Georgia"/>
            </a:endParaRPr>
          </a:p>
        </p:txBody>
      </p:sp>
      <p:sp>
        <p:nvSpPr>
          <p:cNvPr id="103" name="Google Shape;103;p19"/>
          <p:cNvSpPr txBox="1"/>
          <p:nvPr/>
        </p:nvSpPr>
        <p:spPr>
          <a:xfrm>
            <a:off x="567925" y="342900"/>
            <a:ext cx="7640400" cy="908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700">
                <a:solidFill>
                  <a:schemeClr val="accent1"/>
                </a:solidFill>
                <a:latin typeface="PT Sans Narrow"/>
                <a:ea typeface="PT Sans Narrow"/>
                <a:cs typeface="PT Sans Narrow"/>
                <a:sym typeface="PT Sans Narrow"/>
              </a:rPr>
              <a:t>WORK DONE THIS SEMESTER</a:t>
            </a:r>
            <a:endParaRPr sz="100">
              <a:latin typeface="Open Sans"/>
              <a:ea typeface="Open Sans"/>
              <a:cs typeface="Open Sans"/>
              <a:sym typeface="Open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0"/>
          <p:cNvSpPr txBox="1"/>
          <p:nvPr>
            <p:ph idx="1" type="body"/>
          </p:nvPr>
        </p:nvSpPr>
        <p:spPr>
          <a:xfrm>
            <a:off x="239875" y="502850"/>
            <a:ext cx="8520600" cy="761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solidFill>
                  <a:srgbClr val="000000"/>
                </a:solidFill>
                <a:latin typeface="Georgia"/>
                <a:ea typeface="Georgia"/>
                <a:cs typeface="Georgia"/>
                <a:sym typeface="Georgia"/>
              </a:rPr>
              <a:t>This section tabulates the time required for feature extraction of each point feature extraction methods namely BRISK, FAST, HARRIS, KAZE, MINEIGEN, MSER, ORB, SURF. </a:t>
            </a:r>
            <a:endParaRPr sz="1400">
              <a:solidFill>
                <a:srgbClr val="000000"/>
              </a:solidFill>
              <a:latin typeface="Georgia"/>
              <a:ea typeface="Georgia"/>
              <a:cs typeface="Georgia"/>
              <a:sym typeface="Georgia"/>
            </a:endParaRPr>
          </a:p>
        </p:txBody>
      </p:sp>
      <p:graphicFrame>
        <p:nvGraphicFramePr>
          <p:cNvPr id="109" name="Google Shape;109;p20"/>
          <p:cNvGraphicFramePr/>
          <p:nvPr/>
        </p:nvGraphicFramePr>
        <p:xfrm>
          <a:off x="369175" y="1330525"/>
          <a:ext cx="3000000" cy="3000000"/>
        </p:xfrm>
        <a:graphic>
          <a:graphicData uri="http://schemas.openxmlformats.org/drawingml/2006/table">
            <a:tbl>
              <a:tblPr>
                <a:noFill/>
                <a:tableStyleId>{55297181-5DBB-4882-AC3D-4BD2533D87E2}</a:tableStyleId>
              </a:tblPr>
              <a:tblGrid>
                <a:gridCol w="1707075"/>
                <a:gridCol w="2041050"/>
              </a:tblGrid>
              <a:tr h="798450">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ALGORITHM</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TIME OF FEATURE </a:t>
                      </a:r>
                      <a:endParaRPr b="1" sz="1200">
                        <a:latin typeface="Georgia"/>
                        <a:ea typeface="Georgia"/>
                        <a:cs typeface="Georgia"/>
                        <a:sym typeface="Georgia"/>
                      </a:endParaRPr>
                    </a:p>
                    <a:p>
                      <a:pPr indent="0" lvl="0" marL="0" rtl="0" algn="ctr">
                        <a:lnSpc>
                          <a:spcPct val="115000"/>
                        </a:lnSpc>
                        <a:spcBef>
                          <a:spcPts val="0"/>
                        </a:spcBef>
                        <a:spcAft>
                          <a:spcPts val="0"/>
                        </a:spcAft>
                        <a:buNone/>
                      </a:pPr>
                      <a:r>
                        <a:rPr b="1" lang="en" sz="1200">
                          <a:latin typeface="Georgia"/>
                          <a:ea typeface="Georgia"/>
                          <a:cs typeface="Georgia"/>
                          <a:sym typeface="Georgia"/>
                        </a:rPr>
                        <a:t>EXTRACTION</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5325">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BRISK</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0.313587</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5325">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FAST</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0.074147</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5325">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HARRIS</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0.0853465</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5325">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KAZE</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4.763558</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5325">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MINEIGEN</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0.91857</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5325">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MSER</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1.010411</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5325">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ORB</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0.148321</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5325">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SURF</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0.334866</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id="110" name="Google Shape;110;p20" title="Chart"/>
          <p:cNvPicPr preferRelativeResize="0"/>
          <p:nvPr/>
        </p:nvPicPr>
        <p:blipFill>
          <a:blip r:embed="rId3">
            <a:alphaModFix/>
          </a:blip>
          <a:stretch>
            <a:fillRect/>
          </a:stretch>
        </p:blipFill>
        <p:spPr>
          <a:xfrm>
            <a:off x="4269700" y="1416625"/>
            <a:ext cx="4553525" cy="3314950"/>
          </a:xfrm>
          <a:prstGeom prst="rect">
            <a:avLst/>
          </a:prstGeom>
          <a:noFill/>
          <a:ln>
            <a:noFill/>
          </a:ln>
        </p:spPr>
      </p:pic>
      <p:sp>
        <p:nvSpPr>
          <p:cNvPr id="111" name="Google Shape;111;p20"/>
          <p:cNvSpPr txBox="1"/>
          <p:nvPr/>
        </p:nvSpPr>
        <p:spPr>
          <a:xfrm>
            <a:off x="239875" y="158050"/>
            <a:ext cx="41235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latin typeface="Georgia"/>
                <a:ea typeface="Georgia"/>
                <a:cs typeface="Georgia"/>
                <a:sym typeface="Georgia"/>
              </a:rPr>
              <a:t>Time of feature extraction </a:t>
            </a:r>
            <a:endParaRPr b="1" sz="1700">
              <a:latin typeface="Georgia"/>
              <a:ea typeface="Georgia"/>
              <a:cs typeface="Georgia"/>
              <a:sym typeface="Georgi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1"/>
          <p:cNvPicPr preferRelativeResize="0"/>
          <p:nvPr/>
        </p:nvPicPr>
        <p:blipFill>
          <a:blip r:embed="rId3">
            <a:alphaModFix/>
          </a:blip>
          <a:stretch>
            <a:fillRect/>
          </a:stretch>
        </p:blipFill>
        <p:spPr>
          <a:xfrm>
            <a:off x="1" y="1185575"/>
            <a:ext cx="3122976" cy="2772356"/>
          </a:xfrm>
          <a:prstGeom prst="rect">
            <a:avLst/>
          </a:prstGeom>
          <a:noFill/>
          <a:ln>
            <a:noFill/>
          </a:ln>
        </p:spPr>
      </p:pic>
      <p:pic>
        <p:nvPicPr>
          <p:cNvPr id="117" name="Google Shape;117;p21"/>
          <p:cNvPicPr preferRelativeResize="0"/>
          <p:nvPr/>
        </p:nvPicPr>
        <p:blipFill>
          <a:blip r:embed="rId4">
            <a:alphaModFix/>
          </a:blip>
          <a:stretch>
            <a:fillRect/>
          </a:stretch>
        </p:blipFill>
        <p:spPr>
          <a:xfrm>
            <a:off x="6021021" y="1185575"/>
            <a:ext cx="3122976" cy="2772349"/>
          </a:xfrm>
          <a:prstGeom prst="rect">
            <a:avLst/>
          </a:prstGeom>
          <a:noFill/>
          <a:ln>
            <a:noFill/>
          </a:ln>
        </p:spPr>
      </p:pic>
      <p:pic>
        <p:nvPicPr>
          <p:cNvPr id="118" name="Google Shape;118;p21"/>
          <p:cNvPicPr preferRelativeResize="0"/>
          <p:nvPr/>
        </p:nvPicPr>
        <p:blipFill>
          <a:blip r:embed="rId5">
            <a:alphaModFix/>
          </a:blip>
          <a:stretch>
            <a:fillRect/>
          </a:stretch>
        </p:blipFill>
        <p:spPr>
          <a:xfrm>
            <a:off x="3010512" y="1185575"/>
            <a:ext cx="3122976" cy="2772354"/>
          </a:xfrm>
          <a:prstGeom prst="rect">
            <a:avLst/>
          </a:prstGeom>
          <a:noFill/>
          <a:ln>
            <a:noFill/>
          </a:ln>
        </p:spPr>
      </p:pic>
      <p:sp>
        <p:nvSpPr>
          <p:cNvPr id="119" name="Google Shape;119;p21"/>
          <p:cNvSpPr txBox="1"/>
          <p:nvPr/>
        </p:nvSpPr>
        <p:spPr>
          <a:xfrm>
            <a:off x="474125" y="3859600"/>
            <a:ext cx="2428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Feature extraction using </a:t>
            </a:r>
            <a:r>
              <a:rPr b="1" lang="en">
                <a:latin typeface="Open Sans"/>
                <a:ea typeface="Open Sans"/>
                <a:cs typeface="Open Sans"/>
                <a:sym typeface="Open Sans"/>
              </a:rPr>
              <a:t>KAZE</a:t>
            </a:r>
            <a:r>
              <a:rPr lang="en">
                <a:latin typeface="Open Sans"/>
                <a:ea typeface="Open Sans"/>
                <a:cs typeface="Open Sans"/>
                <a:sym typeface="Open Sans"/>
              </a:rPr>
              <a:t> method</a:t>
            </a:r>
            <a:endParaRPr>
              <a:latin typeface="Open Sans"/>
              <a:ea typeface="Open Sans"/>
              <a:cs typeface="Open Sans"/>
              <a:sym typeface="Open Sans"/>
            </a:endParaRPr>
          </a:p>
        </p:txBody>
      </p:sp>
      <p:sp>
        <p:nvSpPr>
          <p:cNvPr id="120" name="Google Shape;120;p21"/>
          <p:cNvSpPr txBox="1"/>
          <p:nvPr/>
        </p:nvSpPr>
        <p:spPr>
          <a:xfrm>
            <a:off x="3333225" y="3907900"/>
            <a:ext cx="2424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Feature extraction using </a:t>
            </a:r>
            <a:r>
              <a:rPr b="1" lang="en">
                <a:latin typeface="Open Sans"/>
                <a:ea typeface="Open Sans"/>
                <a:cs typeface="Open Sans"/>
                <a:sym typeface="Open Sans"/>
              </a:rPr>
              <a:t>ORB</a:t>
            </a:r>
            <a:r>
              <a:rPr lang="en">
                <a:latin typeface="Open Sans"/>
                <a:ea typeface="Open Sans"/>
                <a:cs typeface="Open Sans"/>
                <a:sym typeface="Open Sans"/>
              </a:rPr>
              <a:t> method</a:t>
            </a:r>
            <a:endParaRPr>
              <a:latin typeface="Open Sans"/>
              <a:ea typeface="Open Sans"/>
              <a:cs typeface="Open Sans"/>
              <a:sym typeface="Open Sans"/>
            </a:endParaRPr>
          </a:p>
        </p:txBody>
      </p:sp>
      <p:sp>
        <p:nvSpPr>
          <p:cNvPr id="121" name="Google Shape;121;p21"/>
          <p:cNvSpPr txBox="1"/>
          <p:nvPr/>
        </p:nvSpPr>
        <p:spPr>
          <a:xfrm>
            <a:off x="6350350" y="3907900"/>
            <a:ext cx="2255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Feature extraction using </a:t>
            </a:r>
            <a:r>
              <a:rPr b="1" lang="en">
                <a:latin typeface="Open Sans"/>
                <a:ea typeface="Open Sans"/>
                <a:cs typeface="Open Sans"/>
                <a:sym typeface="Open Sans"/>
              </a:rPr>
              <a:t>SURF </a:t>
            </a:r>
            <a:r>
              <a:rPr lang="en">
                <a:latin typeface="Open Sans"/>
                <a:ea typeface="Open Sans"/>
                <a:cs typeface="Open Sans"/>
                <a:sym typeface="Open Sans"/>
              </a:rPr>
              <a:t>method</a:t>
            </a:r>
            <a:endParaRPr>
              <a:latin typeface="Open Sans"/>
              <a:ea typeface="Open Sans"/>
              <a:cs typeface="Open Sans"/>
              <a:sym typeface="Open Sans"/>
            </a:endParaRPr>
          </a:p>
        </p:txBody>
      </p:sp>
      <p:sp>
        <p:nvSpPr>
          <p:cNvPr id="122" name="Google Shape;122;p21"/>
          <p:cNvSpPr txBox="1"/>
          <p:nvPr/>
        </p:nvSpPr>
        <p:spPr>
          <a:xfrm>
            <a:off x="474125" y="344825"/>
            <a:ext cx="57183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latin typeface="Open Sans"/>
                <a:ea typeface="Open Sans"/>
                <a:cs typeface="Open Sans"/>
                <a:sym typeface="Open Sans"/>
              </a:rPr>
              <a:t>Extracted feature points using different methods</a:t>
            </a:r>
            <a:endParaRPr b="1" sz="1700">
              <a:latin typeface="Open Sans"/>
              <a:ea typeface="Open Sans"/>
              <a:cs typeface="Open Sans"/>
              <a:sym typeface="Ope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2"/>
          <p:cNvSpPr txBox="1"/>
          <p:nvPr>
            <p:ph idx="1" type="body"/>
          </p:nvPr>
        </p:nvSpPr>
        <p:spPr>
          <a:xfrm>
            <a:off x="457200" y="136300"/>
            <a:ext cx="7973700" cy="44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1018"/>
              <a:buNone/>
            </a:pPr>
            <a:r>
              <a:rPr b="1" lang="en" sz="1125">
                <a:solidFill>
                  <a:srgbClr val="000000"/>
                </a:solidFill>
                <a:latin typeface="Georgia"/>
                <a:ea typeface="Georgia"/>
                <a:cs typeface="Georgia"/>
                <a:sym typeface="Georgia"/>
              </a:rPr>
              <a:t>TILT - FEATURE EXTRACTION METHOD VS TIME</a:t>
            </a:r>
            <a:endParaRPr sz="1865">
              <a:solidFill>
                <a:srgbClr val="000000"/>
              </a:solidFill>
            </a:endParaRPr>
          </a:p>
        </p:txBody>
      </p:sp>
      <p:graphicFrame>
        <p:nvGraphicFramePr>
          <p:cNvPr id="128" name="Google Shape;128;p22"/>
          <p:cNvGraphicFramePr/>
          <p:nvPr/>
        </p:nvGraphicFramePr>
        <p:xfrm>
          <a:off x="275200" y="916425"/>
          <a:ext cx="3000000" cy="3000000"/>
        </p:xfrm>
        <a:graphic>
          <a:graphicData uri="http://schemas.openxmlformats.org/drawingml/2006/table">
            <a:tbl>
              <a:tblPr>
                <a:noFill/>
                <a:tableStyleId>{55297181-5DBB-4882-AC3D-4BD2533D87E2}</a:tableStyleId>
              </a:tblPr>
              <a:tblGrid>
                <a:gridCol w="745400"/>
                <a:gridCol w="907700"/>
                <a:gridCol w="879800"/>
                <a:gridCol w="742500"/>
              </a:tblGrid>
              <a:tr h="341700">
                <a:tc gridSpan="4">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TILT - FEATURE EXTRACTION METHOD VS TIME</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hMerge="1"/>
                <a:tc hMerge="1"/>
                <a:tc hMerge="1"/>
              </a:tr>
              <a:tr h="465725">
                <a:tc>
                  <a:txBody>
                    <a:bodyPr/>
                    <a:lstStyle/>
                    <a:p>
                      <a:pPr indent="0" lvl="0" marL="0" rtl="0" algn="ctr">
                        <a:lnSpc>
                          <a:spcPct val="115000"/>
                        </a:lnSpc>
                        <a:spcBef>
                          <a:spcPts val="0"/>
                        </a:spcBef>
                        <a:spcAft>
                          <a:spcPts val="0"/>
                        </a:spcAft>
                        <a:buNone/>
                      </a:pPr>
                      <a:r>
                        <a:rPr b="1" lang="en" sz="900">
                          <a:latin typeface="Georgia"/>
                          <a:ea typeface="Georgia"/>
                          <a:cs typeface="Georgia"/>
                          <a:sym typeface="Georgia"/>
                        </a:rPr>
                        <a:t>ALGORITHM/TILT ANGLE</a:t>
                      </a:r>
                      <a:endParaRPr sz="9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45* TILT</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90* TILT</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0* TILT</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41700">
                <a:tc>
                  <a:txBody>
                    <a:bodyPr/>
                    <a:lstStyle/>
                    <a:p>
                      <a:pPr indent="0" lvl="0" marL="0" rtl="0" algn="ctr">
                        <a:lnSpc>
                          <a:spcPct val="115000"/>
                        </a:lnSpc>
                        <a:spcBef>
                          <a:spcPts val="0"/>
                        </a:spcBef>
                        <a:spcAft>
                          <a:spcPts val="0"/>
                        </a:spcAft>
                        <a:buNone/>
                      </a:pPr>
                      <a:r>
                        <a:rPr b="1" lang="en" sz="900">
                          <a:latin typeface="Georgia"/>
                          <a:ea typeface="Georgia"/>
                          <a:cs typeface="Georgia"/>
                          <a:sym typeface="Georgia"/>
                        </a:rPr>
                        <a:t>BRISK</a:t>
                      </a:r>
                      <a:endParaRPr sz="9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0.057429</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0.046397</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0.048213</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41700">
                <a:tc>
                  <a:txBody>
                    <a:bodyPr/>
                    <a:lstStyle/>
                    <a:p>
                      <a:pPr indent="0" lvl="0" marL="0" rtl="0" algn="ctr">
                        <a:lnSpc>
                          <a:spcPct val="115000"/>
                        </a:lnSpc>
                        <a:spcBef>
                          <a:spcPts val="0"/>
                        </a:spcBef>
                        <a:spcAft>
                          <a:spcPts val="0"/>
                        </a:spcAft>
                        <a:buNone/>
                      </a:pPr>
                      <a:r>
                        <a:rPr b="1" lang="en" sz="900">
                          <a:latin typeface="Georgia"/>
                          <a:ea typeface="Georgia"/>
                          <a:cs typeface="Georgia"/>
                          <a:sym typeface="Georgia"/>
                        </a:rPr>
                        <a:t>FAST</a:t>
                      </a:r>
                      <a:endParaRPr sz="9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0.064922</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0.060837</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0.067189</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41700">
                <a:tc>
                  <a:txBody>
                    <a:bodyPr/>
                    <a:lstStyle/>
                    <a:p>
                      <a:pPr indent="0" lvl="0" marL="0" rtl="0" algn="ctr">
                        <a:lnSpc>
                          <a:spcPct val="115000"/>
                        </a:lnSpc>
                        <a:spcBef>
                          <a:spcPts val="0"/>
                        </a:spcBef>
                        <a:spcAft>
                          <a:spcPts val="0"/>
                        </a:spcAft>
                        <a:buNone/>
                      </a:pPr>
                      <a:r>
                        <a:rPr b="1" lang="en" sz="900">
                          <a:latin typeface="Georgia"/>
                          <a:ea typeface="Georgia"/>
                          <a:cs typeface="Georgia"/>
                          <a:sym typeface="Georgia"/>
                        </a:rPr>
                        <a:t>HARRIS</a:t>
                      </a:r>
                      <a:endParaRPr sz="9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0.057784</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0.055006</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0.063457</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41700">
                <a:tc>
                  <a:txBody>
                    <a:bodyPr/>
                    <a:lstStyle/>
                    <a:p>
                      <a:pPr indent="0" lvl="0" marL="0" rtl="0" algn="ctr">
                        <a:lnSpc>
                          <a:spcPct val="115000"/>
                        </a:lnSpc>
                        <a:spcBef>
                          <a:spcPts val="0"/>
                        </a:spcBef>
                        <a:spcAft>
                          <a:spcPts val="0"/>
                        </a:spcAft>
                        <a:buNone/>
                      </a:pPr>
                      <a:r>
                        <a:rPr b="1" lang="en" sz="900">
                          <a:latin typeface="Georgia"/>
                          <a:ea typeface="Georgia"/>
                          <a:cs typeface="Georgia"/>
                          <a:sym typeface="Georgia"/>
                        </a:rPr>
                        <a:t>KAZE</a:t>
                      </a:r>
                      <a:endParaRPr sz="9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0.02712</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0.027696</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0.026556</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41700">
                <a:tc>
                  <a:txBody>
                    <a:bodyPr/>
                    <a:lstStyle/>
                    <a:p>
                      <a:pPr indent="0" lvl="0" marL="0" rtl="0" algn="ctr">
                        <a:lnSpc>
                          <a:spcPct val="115000"/>
                        </a:lnSpc>
                        <a:spcBef>
                          <a:spcPts val="0"/>
                        </a:spcBef>
                        <a:spcAft>
                          <a:spcPts val="0"/>
                        </a:spcAft>
                        <a:buNone/>
                      </a:pPr>
                      <a:r>
                        <a:rPr b="1" lang="en" sz="900">
                          <a:latin typeface="Georgia"/>
                          <a:ea typeface="Georgia"/>
                          <a:cs typeface="Georgia"/>
                          <a:sym typeface="Georgia"/>
                        </a:rPr>
                        <a:t>MINEIGEN</a:t>
                      </a:r>
                      <a:endParaRPr sz="9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0.053279</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0.050198</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0.05072</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41700">
                <a:tc>
                  <a:txBody>
                    <a:bodyPr/>
                    <a:lstStyle/>
                    <a:p>
                      <a:pPr indent="0" lvl="0" marL="0" rtl="0" algn="ctr">
                        <a:lnSpc>
                          <a:spcPct val="115000"/>
                        </a:lnSpc>
                        <a:spcBef>
                          <a:spcPts val="0"/>
                        </a:spcBef>
                        <a:spcAft>
                          <a:spcPts val="0"/>
                        </a:spcAft>
                        <a:buNone/>
                      </a:pPr>
                      <a:r>
                        <a:rPr b="1" lang="en" sz="900">
                          <a:latin typeface="Georgia"/>
                          <a:ea typeface="Georgia"/>
                          <a:cs typeface="Georgia"/>
                          <a:sym typeface="Georgia"/>
                        </a:rPr>
                        <a:t>MSER</a:t>
                      </a:r>
                      <a:endParaRPr sz="9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0.029002</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0.031249</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0.029311</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41700">
                <a:tc>
                  <a:txBody>
                    <a:bodyPr/>
                    <a:lstStyle/>
                    <a:p>
                      <a:pPr indent="0" lvl="0" marL="0" rtl="0" algn="ctr">
                        <a:lnSpc>
                          <a:spcPct val="115000"/>
                        </a:lnSpc>
                        <a:spcBef>
                          <a:spcPts val="0"/>
                        </a:spcBef>
                        <a:spcAft>
                          <a:spcPts val="0"/>
                        </a:spcAft>
                        <a:buNone/>
                      </a:pPr>
                      <a:r>
                        <a:rPr b="1" lang="en" sz="900">
                          <a:latin typeface="Georgia"/>
                          <a:ea typeface="Georgia"/>
                          <a:cs typeface="Georgia"/>
                          <a:sym typeface="Georgia"/>
                        </a:rPr>
                        <a:t>ORB</a:t>
                      </a:r>
                      <a:endParaRPr sz="9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0.06573</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0.064043</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0.05838</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41700">
                <a:tc>
                  <a:txBody>
                    <a:bodyPr/>
                    <a:lstStyle/>
                    <a:p>
                      <a:pPr indent="0" lvl="0" marL="0" rtl="0" algn="ctr">
                        <a:lnSpc>
                          <a:spcPct val="115000"/>
                        </a:lnSpc>
                        <a:spcBef>
                          <a:spcPts val="0"/>
                        </a:spcBef>
                        <a:spcAft>
                          <a:spcPts val="0"/>
                        </a:spcAft>
                        <a:buNone/>
                      </a:pPr>
                      <a:r>
                        <a:rPr b="1" lang="en" sz="900">
                          <a:latin typeface="Georgia"/>
                          <a:ea typeface="Georgia"/>
                          <a:cs typeface="Georgia"/>
                          <a:sym typeface="Georgia"/>
                        </a:rPr>
                        <a:t>SURF</a:t>
                      </a:r>
                      <a:endParaRPr sz="9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0.039339</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0.03423</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0.044163</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id="129" name="Google Shape;129;p22" title="Chart"/>
          <p:cNvPicPr preferRelativeResize="0"/>
          <p:nvPr/>
        </p:nvPicPr>
        <p:blipFill>
          <a:blip r:embed="rId3">
            <a:alphaModFix/>
          </a:blip>
          <a:stretch>
            <a:fillRect/>
          </a:stretch>
        </p:blipFill>
        <p:spPr>
          <a:xfrm>
            <a:off x="3866700" y="916425"/>
            <a:ext cx="5170350" cy="37242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graphicFrame>
        <p:nvGraphicFramePr>
          <p:cNvPr id="134" name="Google Shape;134;p23"/>
          <p:cNvGraphicFramePr/>
          <p:nvPr/>
        </p:nvGraphicFramePr>
        <p:xfrm>
          <a:off x="109275" y="827675"/>
          <a:ext cx="3000000" cy="3000000"/>
        </p:xfrm>
        <a:graphic>
          <a:graphicData uri="http://schemas.openxmlformats.org/drawingml/2006/table">
            <a:tbl>
              <a:tblPr>
                <a:noFill/>
                <a:tableStyleId>{55297181-5DBB-4882-AC3D-4BD2533D87E2}</a:tableStyleId>
              </a:tblPr>
              <a:tblGrid>
                <a:gridCol w="917375"/>
                <a:gridCol w="947475"/>
                <a:gridCol w="1022650"/>
                <a:gridCol w="992550"/>
              </a:tblGrid>
              <a:tr h="670150">
                <a:tc gridSpan="4">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TILT - FEATURE EXTRACTION METHOD VS MATCHED POINT</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hMerge="1"/>
                <a:tc hMerge="1"/>
                <a:tc hMerge="1"/>
              </a:tr>
              <a:tr h="378300">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Algorithm</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45* Tilt</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90* Tilt</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0* Tilt</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78300">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BRISK</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35</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47</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496</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78300">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FAST</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25</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118</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483</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78300">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HARRIS</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3</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31</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498</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78300">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KAZE</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44</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41</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500</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78300">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MinEigen</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3</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46</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500</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78300">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MSER</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140</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193</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463</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78300">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ORB</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41</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41</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500</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78300">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SURF</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142</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327</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500</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id="135" name="Google Shape;135;p23" title="Chart"/>
          <p:cNvPicPr preferRelativeResize="0"/>
          <p:nvPr/>
        </p:nvPicPr>
        <p:blipFill>
          <a:blip r:embed="rId3">
            <a:alphaModFix/>
          </a:blip>
          <a:stretch>
            <a:fillRect/>
          </a:stretch>
        </p:blipFill>
        <p:spPr>
          <a:xfrm>
            <a:off x="4065950" y="1069925"/>
            <a:ext cx="5078050" cy="3720050"/>
          </a:xfrm>
          <a:prstGeom prst="rect">
            <a:avLst/>
          </a:prstGeom>
          <a:noFill/>
          <a:ln>
            <a:noFill/>
          </a:ln>
        </p:spPr>
      </p:pic>
      <p:sp>
        <p:nvSpPr>
          <p:cNvPr id="136" name="Google Shape;136;p23"/>
          <p:cNvSpPr txBox="1"/>
          <p:nvPr/>
        </p:nvSpPr>
        <p:spPr>
          <a:xfrm>
            <a:off x="582450" y="246825"/>
            <a:ext cx="7818900" cy="384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1300">
                <a:latin typeface="Georgia"/>
                <a:ea typeface="Georgia"/>
                <a:cs typeface="Georgia"/>
                <a:sym typeface="Georgia"/>
              </a:rPr>
              <a:t>TILT - FEATURE EXTRACTION METHOD VS MATCHED POINT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id="141" name="Google Shape;141;p24"/>
          <p:cNvPicPr preferRelativeResize="0"/>
          <p:nvPr/>
        </p:nvPicPr>
        <p:blipFill>
          <a:blip r:embed="rId3">
            <a:alphaModFix/>
          </a:blip>
          <a:stretch>
            <a:fillRect/>
          </a:stretch>
        </p:blipFill>
        <p:spPr>
          <a:xfrm>
            <a:off x="69425" y="362500"/>
            <a:ext cx="5102827" cy="2503275"/>
          </a:xfrm>
          <a:prstGeom prst="rect">
            <a:avLst/>
          </a:prstGeom>
          <a:noFill/>
          <a:ln>
            <a:noFill/>
          </a:ln>
        </p:spPr>
      </p:pic>
      <p:sp>
        <p:nvSpPr>
          <p:cNvPr id="142" name="Google Shape;142;p24"/>
          <p:cNvSpPr txBox="1"/>
          <p:nvPr/>
        </p:nvSpPr>
        <p:spPr>
          <a:xfrm>
            <a:off x="5086050" y="1106300"/>
            <a:ext cx="3634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Feature point cross matching using </a:t>
            </a:r>
            <a:r>
              <a:rPr b="1" lang="en">
                <a:latin typeface="Open Sans"/>
                <a:ea typeface="Open Sans"/>
                <a:cs typeface="Open Sans"/>
                <a:sym typeface="Open Sans"/>
              </a:rPr>
              <a:t>BRISK</a:t>
            </a:r>
            <a:r>
              <a:rPr lang="en">
                <a:latin typeface="Open Sans"/>
                <a:ea typeface="Open Sans"/>
                <a:cs typeface="Open Sans"/>
                <a:sym typeface="Open Sans"/>
              </a:rPr>
              <a:t> method at a tilt of 90 degree</a:t>
            </a:r>
            <a:endParaRPr>
              <a:latin typeface="Open Sans"/>
              <a:ea typeface="Open Sans"/>
              <a:cs typeface="Open Sans"/>
              <a:sym typeface="Open Sans"/>
            </a:endParaRPr>
          </a:p>
        </p:txBody>
      </p:sp>
      <p:pic>
        <p:nvPicPr>
          <p:cNvPr id="143" name="Google Shape;143;p24"/>
          <p:cNvPicPr preferRelativeResize="0"/>
          <p:nvPr/>
        </p:nvPicPr>
        <p:blipFill>
          <a:blip r:embed="rId4">
            <a:alphaModFix/>
          </a:blip>
          <a:stretch>
            <a:fillRect/>
          </a:stretch>
        </p:blipFill>
        <p:spPr>
          <a:xfrm>
            <a:off x="69425" y="2571750"/>
            <a:ext cx="5102827" cy="2406175"/>
          </a:xfrm>
          <a:prstGeom prst="rect">
            <a:avLst/>
          </a:prstGeom>
          <a:noFill/>
          <a:ln>
            <a:noFill/>
          </a:ln>
        </p:spPr>
      </p:pic>
      <p:sp>
        <p:nvSpPr>
          <p:cNvPr id="144" name="Google Shape;144;p24"/>
          <p:cNvSpPr txBox="1"/>
          <p:nvPr/>
        </p:nvSpPr>
        <p:spPr>
          <a:xfrm>
            <a:off x="5258450" y="3390675"/>
            <a:ext cx="3462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Feature point cross matching using </a:t>
            </a:r>
            <a:r>
              <a:rPr b="1" lang="en">
                <a:latin typeface="Open Sans"/>
                <a:ea typeface="Open Sans"/>
                <a:cs typeface="Open Sans"/>
                <a:sym typeface="Open Sans"/>
              </a:rPr>
              <a:t>SURF </a:t>
            </a:r>
            <a:r>
              <a:rPr lang="en">
                <a:latin typeface="Open Sans"/>
                <a:ea typeface="Open Sans"/>
                <a:cs typeface="Open Sans"/>
                <a:sym typeface="Open Sans"/>
              </a:rPr>
              <a:t>method at a tilt of 45 degree</a:t>
            </a:r>
            <a:endParaRPr>
              <a:latin typeface="Open Sans"/>
              <a:ea typeface="Open Sans"/>
              <a:cs typeface="Open Sans"/>
              <a:sym typeface="Open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graphicFrame>
        <p:nvGraphicFramePr>
          <p:cNvPr id="149" name="Google Shape;149;p25"/>
          <p:cNvGraphicFramePr/>
          <p:nvPr/>
        </p:nvGraphicFramePr>
        <p:xfrm>
          <a:off x="138025" y="1459175"/>
          <a:ext cx="3000000" cy="3000000"/>
        </p:xfrm>
        <a:graphic>
          <a:graphicData uri="http://schemas.openxmlformats.org/drawingml/2006/table">
            <a:tbl>
              <a:tblPr>
                <a:noFill/>
                <a:tableStyleId>{55297181-5DBB-4882-AC3D-4BD2533D87E2}</a:tableStyleId>
              </a:tblPr>
              <a:tblGrid>
                <a:gridCol w="855950"/>
                <a:gridCol w="887275"/>
                <a:gridCol w="824650"/>
                <a:gridCol w="1043850"/>
              </a:tblGrid>
              <a:tr h="545975">
                <a:tc gridSpan="4">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NOISE - FEATURE EXTRACTION METHOD VS TIME</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hMerge="1"/>
                <a:tc hMerge="1"/>
                <a:tc hMerge="1"/>
              </a:tr>
              <a:tr h="519550">
                <a:tc>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ALGORITHM</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MEDIAN NOISE</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Gauss Noise</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Dust and scratch</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08200">
                <a:tc>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BRISK</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0.048426</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0.044872</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0.041388</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08200">
                <a:tc>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FAST</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0.047351</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0.041478</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0.04614</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08200">
                <a:tc>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HARRIS</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0.054686</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0.05249</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0.05528</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08200">
                <a:tc>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KAZE</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0.025917</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0.026505</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0.027484</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08200">
                <a:tc>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MINEIGEN</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0.054124</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0.051961</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0.050279</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08200">
                <a:tc>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MSER</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0.030573</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0.035674</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0.037759</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08200">
                <a:tc>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ORB</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0.060046</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0.065243</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0.066454</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08200">
                <a:tc>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SURF</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0.037223</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0.033108</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0.038761</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id="150" name="Google Shape;150;p25" title="Chart"/>
          <p:cNvPicPr preferRelativeResize="0"/>
          <p:nvPr/>
        </p:nvPicPr>
        <p:blipFill>
          <a:blip r:embed="rId3">
            <a:alphaModFix/>
          </a:blip>
          <a:stretch>
            <a:fillRect/>
          </a:stretch>
        </p:blipFill>
        <p:spPr>
          <a:xfrm>
            <a:off x="3836075" y="1379275"/>
            <a:ext cx="5157875" cy="3611025"/>
          </a:xfrm>
          <a:prstGeom prst="rect">
            <a:avLst/>
          </a:prstGeom>
          <a:noFill/>
          <a:ln>
            <a:noFill/>
          </a:ln>
        </p:spPr>
      </p:pic>
      <p:sp>
        <p:nvSpPr>
          <p:cNvPr id="151" name="Google Shape;151;p25"/>
          <p:cNvSpPr txBox="1"/>
          <p:nvPr/>
        </p:nvSpPr>
        <p:spPr>
          <a:xfrm>
            <a:off x="612075" y="493625"/>
            <a:ext cx="74733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a:latin typeface="Georgia"/>
                <a:ea typeface="Georgia"/>
                <a:cs typeface="Georgia"/>
                <a:sym typeface="Georgia"/>
              </a:rPr>
              <a:t>NOISE - FEATURE EXTRACTION METHOD VS TIME</a:t>
            </a:r>
            <a:endParaRPr sz="16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graphicFrame>
        <p:nvGraphicFramePr>
          <p:cNvPr id="156" name="Google Shape;156;p26"/>
          <p:cNvGraphicFramePr/>
          <p:nvPr/>
        </p:nvGraphicFramePr>
        <p:xfrm>
          <a:off x="109300" y="1273050"/>
          <a:ext cx="3000000" cy="3000000"/>
        </p:xfrm>
        <a:graphic>
          <a:graphicData uri="http://schemas.openxmlformats.org/drawingml/2006/table">
            <a:tbl>
              <a:tblPr>
                <a:noFill/>
                <a:tableStyleId>{55297181-5DBB-4882-AC3D-4BD2533D87E2}</a:tableStyleId>
              </a:tblPr>
              <a:tblGrid>
                <a:gridCol w="779750"/>
                <a:gridCol w="886775"/>
                <a:gridCol w="1070250"/>
                <a:gridCol w="1207875"/>
              </a:tblGrid>
              <a:tr h="577250">
                <a:tc gridSpan="4">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NOISE - FEATURE EXTRACTION METHOD VS MATCHED POINT</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hMerge="1"/>
                <a:tc hMerge="1"/>
                <a:tc hMerge="1"/>
              </a:tr>
              <a:tr h="577250">
                <a:tc>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Algorithm</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Median Noise</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Gauss Noise</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Dust and scratch</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2575">
                <a:tc>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BRISK</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15</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103</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13</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2575">
                <a:tc>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FAST</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0</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20</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1</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2575">
                <a:tc>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HARRIS</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4</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9</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2</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2575">
                <a:tc>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KAZE</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28</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162</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49</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2575">
                <a:tc>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MinEigen</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2</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3</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3</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2575">
                <a:tc>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MSER</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18</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12</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14</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2575">
                <a:tc>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ORB</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34</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8</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34</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2575">
                <a:tc>
                  <a:txBody>
                    <a:bodyPr/>
                    <a:lstStyle/>
                    <a:p>
                      <a:pPr indent="0" lvl="0" marL="0" rtl="0" algn="ctr">
                        <a:lnSpc>
                          <a:spcPct val="115000"/>
                        </a:lnSpc>
                        <a:spcBef>
                          <a:spcPts val="0"/>
                        </a:spcBef>
                        <a:spcAft>
                          <a:spcPts val="0"/>
                        </a:spcAft>
                        <a:buNone/>
                      </a:pPr>
                      <a:r>
                        <a:rPr b="1" lang="en" sz="1000">
                          <a:latin typeface="Georgia"/>
                          <a:ea typeface="Georgia"/>
                          <a:cs typeface="Georgia"/>
                          <a:sym typeface="Georgia"/>
                        </a:rPr>
                        <a:t>SURF</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94</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259</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94</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id="157" name="Google Shape;157;p26" title="Chart"/>
          <p:cNvPicPr preferRelativeResize="0"/>
          <p:nvPr/>
        </p:nvPicPr>
        <p:blipFill>
          <a:blip r:embed="rId3">
            <a:alphaModFix/>
          </a:blip>
          <a:stretch>
            <a:fillRect/>
          </a:stretch>
        </p:blipFill>
        <p:spPr>
          <a:xfrm>
            <a:off x="4148900" y="1336150"/>
            <a:ext cx="4846875" cy="3476900"/>
          </a:xfrm>
          <a:prstGeom prst="rect">
            <a:avLst/>
          </a:prstGeom>
          <a:noFill/>
          <a:ln>
            <a:noFill/>
          </a:ln>
        </p:spPr>
      </p:pic>
      <p:sp>
        <p:nvSpPr>
          <p:cNvPr id="158" name="Google Shape;158;p26"/>
          <p:cNvSpPr txBox="1"/>
          <p:nvPr/>
        </p:nvSpPr>
        <p:spPr>
          <a:xfrm>
            <a:off x="424500" y="345550"/>
            <a:ext cx="8322300" cy="384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1300">
                <a:latin typeface="Georgia"/>
                <a:ea typeface="Georgia"/>
                <a:cs typeface="Georgia"/>
                <a:sym typeface="Georgia"/>
              </a:rPr>
              <a:t>NOISE - FEATURE EXTRACTION METHOD VS MATCHED POINT</a:t>
            </a:r>
            <a:endParaRPr sz="15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id="163" name="Google Shape;163;p27"/>
          <p:cNvPicPr preferRelativeResize="0"/>
          <p:nvPr/>
        </p:nvPicPr>
        <p:blipFill>
          <a:blip r:embed="rId3">
            <a:alphaModFix/>
          </a:blip>
          <a:stretch>
            <a:fillRect/>
          </a:stretch>
        </p:blipFill>
        <p:spPr>
          <a:xfrm>
            <a:off x="152400" y="152400"/>
            <a:ext cx="5023752" cy="2464475"/>
          </a:xfrm>
          <a:prstGeom prst="rect">
            <a:avLst/>
          </a:prstGeom>
          <a:noFill/>
          <a:ln>
            <a:noFill/>
          </a:ln>
        </p:spPr>
      </p:pic>
      <p:sp>
        <p:nvSpPr>
          <p:cNvPr id="164" name="Google Shape;164;p27"/>
          <p:cNvSpPr txBox="1"/>
          <p:nvPr/>
        </p:nvSpPr>
        <p:spPr>
          <a:xfrm>
            <a:off x="4912900" y="872300"/>
            <a:ext cx="39543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Feature point cross matching using </a:t>
            </a:r>
            <a:r>
              <a:rPr b="1" lang="en">
                <a:latin typeface="Open Sans"/>
                <a:ea typeface="Open Sans"/>
                <a:cs typeface="Open Sans"/>
                <a:sym typeface="Open Sans"/>
              </a:rPr>
              <a:t>ORB</a:t>
            </a:r>
            <a:r>
              <a:rPr lang="en">
                <a:latin typeface="Open Sans"/>
                <a:ea typeface="Open Sans"/>
                <a:cs typeface="Open Sans"/>
                <a:sym typeface="Open Sans"/>
              </a:rPr>
              <a:t> method for median noise</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pic>
        <p:nvPicPr>
          <p:cNvPr id="165" name="Google Shape;165;p27"/>
          <p:cNvPicPr preferRelativeResize="0"/>
          <p:nvPr/>
        </p:nvPicPr>
        <p:blipFill>
          <a:blip r:embed="rId4">
            <a:alphaModFix/>
          </a:blip>
          <a:stretch>
            <a:fillRect/>
          </a:stretch>
        </p:blipFill>
        <p:spPr>
          <a:xfrm>
            <a:off x="332875" y="2769275"/>
            <a:ext cx="4529105" cy="2221825"/>
          </a:xfrm>
          <a:prstGeom prst="rect">
            <a:avLst/>
          </a:prstGeom>
          <a:noFill/>
          <a:ln>
            <a:noFill/>
          </a:ln>
        </p:spPr>
      </p:pic>
      <p:sp>
        <p:nvSpPr>
          <p:cNvPr id="166" name="Google Shape;166;p27"/>
          <p:cNvSpPr txBox="1"/>
          <p:nvPr/>
        </p:nvSpPr>
        <p:spPr>
          <a:xfrm>
            <a:off x="5143500" y="2959675"/>
            <a:ext cx="3721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Feature point cross matching using </a:t>
            </a:r>
            <a:r>
              <a:rPr b="1" lang="en">
                <a:latin typeface="Open Sans"/>
                <a:ea typeface="Open Sans"/>
                <a:cs typeface="Open Sans"/>
                <a:sym typeface="Open Sans"/>
              </a:rPr>
              <a:t>SURF</a:t>
            </a:r>
            <a:r>
              <a:rPr lang="en">
                <a:latin typeface="Open Sans"/>
                <a:ea typeface="Open Sans"/>
                <a:cs typeface="Open Sans"/>
                <a:sym typeface="Open Sans"/>
              </a:rPr>
              <a:t> method for gaussian noise</a:t>
            </a:r>
            <a:endParaRPr>
              <a:latin typeface="Open Sans"/>
              <a:ea typeface="Open Sans"/>
              <a:cs typeface="Open Sans"/>
              <a:sym typeface="Open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graphicFrame>
        <p:nvGraphicFramePr>
          <p:cNvPr id="171" name="Google Shape;171;p28"/>
          <p:cNvGraphicFramePr/>
          <p:nvPr/>
        </p:nvGraphicFramePr>
        <p:xfrm>
          <a:off x="94925" y="1389600"/>
          <a:ext cx="3000000" cy="3000000"/>
        </p:xfrm>
        <a:graphic>
          <a:graphicData uri="http://schemas.openxmlformats.org/drawingml/2006/table">
            <a:tbl>
              <a:tblPr>
                <a:noFill/>
                <a:tableStyleId>{55297181-5DBB-4882-AC3D-4BD2533D87E2}</a:tableStyleId>
              </a:tblPr>
              <a:tblGrid>
                <a:gridCol w="1016650"/>
                <a:gridCol w="779425"/>
                <a:gridCol w="756825"/>
                <a:gridCol w="768125"/>
                <a:gridCol w="756825"/>
              </a:tblGrid>
              <a:tr h="288800">
                <a:tc gridSpan="5">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SCALED - FEATURE EXTRACTION METHOD VS TIME</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hMerge="1"/>
                <a:tc hMerge="1"/>
                <a:tc hMerge="1"/>
                <a:tc hMerge="1"/>
              </a:tr>
              <a:tr h="744775">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ALGORITHM/SCALED FACTOR</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120% SCALE</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150% scale</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170% scale</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190% scale</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88800">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BRISK</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0.0439</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0.04487</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0.049317</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0.042299</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88800">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FAST</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0.046347</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0.043665</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0.047194</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0.047015</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88800">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HARRIS</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0.059786</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0.052826</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0.053238</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0.053117</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88800">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KAZE</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0.026761</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0.028547</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0.026327</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0.025562</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88800">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MinEigen</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0.051124</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0.049958</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0.052885</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0.051355</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516775">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MSER</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0.042234</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0.041882</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0.030799</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0.030086</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88800">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ORB</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0.062399</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0.063155</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0.070053</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0.064498</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88800">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SURF</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0.037279</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0.034314</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0.038728</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Georgia"/>
                          <a:ea typeface="Georgia"/>
                          <a:cs typeface="Georgia"/>
                          <a:sym typeface="Georgia"/>
                        </a:rPr>
                        <a:t>0.035153</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id="172" name="Google Shape;172;p28" title="Chart"/>
          <p:cNvPicPr preferRelativeResize="0"/>
          <p:nvPr/>
        </p:nvPicPr>
        <p:blipFill>
          <a:blip r:embed="rId3">
            <a:alphaModFix/>
          </a:blip>
          <a:stretch>
            <a:fillRect/>
          </a:stretch>
        </p:blipFill>
        <p:spPr>
          <a:xfrm>
            <a:off x="4368275" y="1569750"/>
            <a:ext cx="4604875" cy="3211650"/>
          </a:xfrm>
          <a:prstGeom prst="rect">
            <a:avLst/>
          </a:prstGeom>
          <a:noFill/>
          <a:ln>
            <a:noFill/>
          </a:ln>
        </p:spPr>
      </p:pic>
      <p:sp>
        <p:nvSpPr>
          <p:cNvPr id="173" name="Google Shape;173;p28"/>
          <p:cNvSpPr txBox="1"/>
          <p:nvPr/>
        </p:nvSpPr>
        <p:spPr>
          <a:xfrm>
            <a:off x="612075" y="651575"/>
            <a:ext cx="80163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a:latin typeface="Georgia"/>
                <a:ea typeface="Georgia"/>
                <a:cs typeface="Georgia"/>
                <a:sym typeface="Georgia"/>
              </a:rPr>
              <a:t>SCALED - FEATURE EXTRACTION METHOD VS TIME</a:t>
            </a:r>
            <a:endParaRPr b="1" sz="1600">
              <a:latin typeface="Georgia"/>
              <a:ea typeface="Georgia"/>
              <a:cs typeface="Georgia"/>
              <a:sym typeface="Georgi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graphicFrame>
        <p:nvGraphicFramePr>
          <p:cNvPr id="178" name="Google Shape;178;p29"/>
          <p:cNvGraphicFramePr/>
          <p:nvPr/>
        </p:nvGraphicFramePr>
        <p:xfrm>
          <a:off x="152400" y="1488550"/>
          <a:ext cx="3000000" cy="3000000"/>
        </p:xfrm>
        <a:graphic>
          <a:graphicData uri="http://schemas.openxmlformats.org/drawingml/2006/table">
            <a:tbl>
              <a:tblPr>
                <a:noFill/>
                <a:tableStyleId>{55297181-5DBB-4882-AC3D-4BD2533D87E2}</a:tableStyleId>
              </a:tblPr>
              <a:tblGrid>
                <a:gridCol w="883975"/>
                <a:gridCol w="781975"/>
                <a:gridCol w="785750"/>
                <a:gridCol w="725325"/>
                <a:gridCol w="740425"/>
              </a:tblGrid>
              <a:tr h="524200">
                <a:tc gridSpan="5">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SCALED - FEATURE EXTRACTION METHOD VS MATCHED POINT</a:t>
                      </a:r>
                      <a:endParaRPr>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hMerge="1"/>
                <a:tc hMerge="1"/>
                <a:tc hMerge="1"/>
                <a:tc hMerge="1"/>
              </a:tr>
              <a:tr h="524200">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Algorithm</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120% scale</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150% scale</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170% scale</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190% scale</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95925">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BRISK</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35</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23</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19</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7</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95925">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FAST</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45</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50</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14</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6</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95925">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HARRIS</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25</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8</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2</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0</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95925">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KAZE</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76</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23</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7</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13</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95925">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MinEigen</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28</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5</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4</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latin typeface="Georgia"/>
                          <a:ea typeface="Georgia"/>
                          <a:cs typeface="Georgia"/>
                          <a:sym typeface="Georgia"/>
                        </a:rPr>
                        <a:t>4</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1275">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MSER</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67</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29</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41</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28</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1275">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ORB</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61</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42</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71</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25</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1275">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SURF</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200</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228</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177</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Georgia"/>
                          <a:ea typeface="Georgia"/>
                          <a:cs typeface="Georgia"/>
                          <a:sym typeface="Georgia"/>
                        </a:rPr>
                        <a:t>172</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id="179" name="Google Shape;179;p29" title="Chart"/>
          <p:cNvPicPr preferRelativeResize="0"/>
          <p:nvPr/>
        </p:nvPicPr>
        <p:blipFill>
          <a:blip r:embed="rId3">
            <a:alphaModFix/>
          </a:blip>
          <a:stretch>
            <a:fillRect/>
          </a:stretch>
        </p:blipFill>
        <p:spPr>
          <a:xfrm>
            <a:off x="4250975" y="1488550"/>
            <a:ext cx="4802425" cy="3367600"/>
          </a:xfrm>
          <a:prstGeom prst="rect">
            <a:avLst/>
          </a:prstGeom>
          <a:noFill/>
          <a:ln>
            <a:noFill/>
          </a:ln>
        </p:spPr>
      </p:pic>
      <p:sp>
        <p:nvSpPr>
          <p:cNvPr id="180" name="Google Shape;180;p29"/>
          <p:cNvSpPr txBox="1"/>
          <p:nvPr/>
        </p:nvSpPr>
        <p:spPr>
          <a:xfrm>
            <a:off x="572600" y="542975"/>
            <a:ext cx="80559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a:latin typeface="Georgia"/>
                <a:ea typeface="Georgia"/>
                <a:cs typeface="Georgia"/>
                <a:sym typeface="Georgia"/>
              </a:rPr>
              <a:t>SCALED - FEATURE EXTRACTION METHOD VS MATCHED POINT</a:t>
            </a:r>
            <a:endParaRPr sz="16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pic>
        <p:nvPicPr>
          <p:cNvPr id="185" name="Google Shape;185;p30"/>
          <p:cNvPicPr preferRelativeResize="0"/>
          <p:nvPr/>
        </p:nvPicPr>
        <p:blipFill>
          <a:blip r:embed="rId3">
            <a:alphaModFix/>
          </a:blip>
          <a:stretch>
            <a:fillRect/>
          </a:stretch>
        </p:blipFill>
        <p:spPr>
          <a:xfrm>
            <a:off x="152400" y="152400"/>
            <a:ext cx="4931766" cy="2419350"/>
          </a:xfrm>
          <a:prstGeom prst="rect">
            <a:avLst/>
          </a:prstGeom>
          <a:noFill/>
          <a:ln>
            <a:noFill/>
          </a:ln>
        </p:spPr>
      </p:pic>
      <p:sp>
        <p:nvSpPr>
          <p:cNvPr id="186" name="Google Shape;186;p30"/>
          <p:cNvSpPr txBox="1"/>
          <p:nvPr/>
        </p:nvSpPr>
        <p:spPr>
          <a:xfrm>
            <a:off x="5573775" y="731175"/>
            <a:ext cx="27243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Feature point cross matching using </a:t>
            </a:r>
            <a:r>
              <a:rPr b="1" lang="en">
                <a:latin typeface="Open Sans"/>
                <a:ea typeface="Open Sans"/>
                <a:cs typeface="Open Sans"/>
                <a:sym typeface="Open Sans"/>
              </a:rPr>
              <a:t>SURF </a:t>
            </a:r>
            <a:r>
              <a:rPr lang="en">
                <a:latin typeface="Open Sans"/>
                <a:ea typeface="Open Sans"/>
                <a:cs typeface="Open Sans"/>
                <a:sym typeface="Open Sans"/>
              </a:rPr>
              <a:t>method at a scale of 190%</a:t>
            </a:r>
            <a:endParaRPr>
              <a:latin typeface="Open Sans"/>
              <a:ea typeface="Open Sans"/>
              <a:cs typeface="Open Sans"/>
              <a:sym typeface="Open Sans"/>
            </a:endParaRPr>
          </a:p>
        </p:txBody>
      </p:sp>
      <p:pic>
        <p:nvPicPr>
          <p:cNvPr id="187" name="Google Shape;187;p30"/>
          <p:cNvPicPr preferRelativeResize="0"/>
          <p:nvPr/>
        </p:nvPicPr>
        <p:blipFill>
          <a:blip r:embed="rId4">
            <a:alphaModFix/>
          </a:blip>
          <a:stretch>
            <a:fillRect/>
          </a:stretch>
        </p:blipFill>
        <p:spPr>
          <a:xfrm>
            <a:off x="152400" y="2724150"/>
            <a:ext cx="4621091" cy="2266950"/>
          </a:xfrm>
          <a:prstGeom prst="rect">
            <a:avLst/>
          </a:prstGeom>
          <a:noFill/>
          <a:ln>
            <a:noFill/>
          </a:ln>
        </p:spPr>
      </p:pic>
      <p:sp>
        <p:nvSpPr>
          <p:cNvPr id="188" name="Google Shape;188;p30"/>
          <p:cNvSpPr txBox="1"/>
          <p:nvPr/>
        </p:nvSpPr>
        <p:spPr>
          <a:xfrm>
            <a:off x="5573775" y="3266100"/>
            <a:ext cx="28926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Feature point cross matching using </a:t>
            </a:r>
            <a:r>
              <a:rPr b="1" lang="en">
                <a:latin typeface="Open Sans"/>
                <a:ea typeface="Open Sans"/>
                <a:cs typeface="Open Sans"/>
                <a:sym typeface="Open Sans"/>
              </a:rPr>
              <a:t>KAZE </a:t>
            </a:r>
            <a:r>
              <a:rPr lang="en">
                <a:latin typeface="Open Sans"/>
                <a:ea typeface="Open Sans"/>
                <a:cs typeface="Open Sans"/>
                <a:sym typeface="Open Sans"/>
              </a:rPr>
              <a:t>method at a scale of 120%</a:t>
            </a:r>
            <a:endParaRPr>
              <a:latin typeface="Open Sans"/>
              <a:ea typeface="Open Sans"/>
              <a:cs typeface="Open Sans"/>
              <a:sym typeface="Open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1"/>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Inference from the data</a:t>
            </a:r>
            <a:endParaRPr/>
          </a:p>
        </p:txBody>
      </p:sp>
      <p:sp>
        <p:nvSpPr>
          <p:cNvPr id="194" name="Google Shape;194;p31"/>
          <p:cNvSpPr txBox="1"/>
          <p:nvPr>
            <p:ph idx="1" type="body"/>
          </p:nvPr>
        </p:nvSpPr>
        <p:spPr>
          <a:xfrm>
            <a:off x="311700" y="1266325"/>
            <a:ext cx="8520600" cy="3302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sz="1500">
                <a:solidFill>
                  <a:srgbClr val="000000"/>
                </a:solidFill>
                <a:latin typeface="Georgia"/>
                <a:ea typeface="Georgia"/>
                <a:cs typeface="Georgia"/>
                <a:sym typeface="Georgia"/>
              </a:rPr>
              <a:t>From the above data and graphs it can be concluded that ,the SURF algorithm performs the best in cases of noise, rotation and scaling with maximum feature points extracted in a relatively minimal time. Brisk is the method that performed moderately well in all of the test scenarios. FAST has the least time for feature extraction and KAZE has the most time among them. ORB performs well in scaled case but at the cost of time. </a:t>
            </a:r>
            <a:endParaRPr sz="1500">
              <a:solidFill>
                <a:srgbClr val="000000"/>
              </a:solidFill>
              <a:latin typeface="Georgia"/>
              <a:ea typeface="Georgia"/>
              <a:cs typeface="Georgia"/>
              <a:sym typeface="Georgia"/>
            </a:endParaRPr>
          </a:p>
          <a:p>
            <a:pPr indent="0" lvl="0" marL="0" rtl="0" algn="l">
              <a:spcBef>
                <a:spcPts val="0"/>
              </a:spcBef>
              <a:spcAft>
                <a:spcPts val="0"/>
              </a:spcAft>
              <a:buNone/>
            </a:pPr>
            <a:r>
              <a:rPr lang="en" sz="1500">
                <a:solidFill>
                  <a:srgbClr val="000000"/>
                </a:solidFill>
                <a:latin typeface="Georgia"/>
                <a:ea typeface="Georgia"/>
                <a:cs typeface="Georgia"/>
                <a:sym typeface="Georgia"/>
              </a:rPr>
              <a:t>In the case of noise and scaled condition, SURF outperforms every other method with the highest number of feature points matched with the best time to points matched ratio. Even though KAZE has the least time taken, the number of points matched is way less.</a:t>
            </a:r>
            <a:endParaRPr sz="1500">
              <a:solidFill>
                <a:srgbClr val="000000"/>
              </a:solidFill>
              <a:latin typeface="Georgia"/>
              <a:ea typeface="Georgia"/>
              <a:cs typeface="Georgia"/>
              <a:sym typeface="Georgia"/>
            </a:endParaRPr>
          </a:p>
          <a:p>
            <a:pPr indent="0" lvl="0" marL="0" rtl="0" algn="l">
              <a:spcBef>
                <a:spcPts val="0"/>
              </a:spcBef>
              <a:spcAft>
                <a:spcPts val="0"/>
              </a:spcAft>
              <a:buNone/>
            </a:pPr>
            <a:r>
              <a:rPr lang="en" sz="1500">
                <a:solidFill>
                  <a:srgbClr val="000000"/>
                </a:solidFill>
                <a:latin typeface="Georgia"/>
                <a:ea typeface="Georgia"/>
                <a:cs typeface="Georgia"/>
                <a:sym typeface="Georgia"/>
              </a:rPr>
              <a:t>In the case rotation, SURF and MSER performs the best among them with a maximum number of extracted points matched in a relatively less time frame. All the features matched all the points when presented with ZERO degrees tilt.</a:t>
            </a:r>
            <a:endParaRPr sz="1500">
              <a:solidFill>
                <a:srgbClr val="000000"/>
              </a:solidFill>
              <a:latin typeface="Georgia"/>
              <a:ea typeface="Georgia"/>
              <a:cs typeface="Georgia"/>
              <a:sym typeface="Georgia"/>
            </a:endParaRPr>
          </a:p>
          <a:p>
            <a:pPr indent="0" lvl="0" marL="0" rtl="0" algn="l">
              <a:spcBef>
                <a:spcPts val="0"/>
              </a:spcBef>
              <a:spcAft>
                <a:spcPts val="0"/>
              </a:spcAft>
              <a:buNone/>
            </a:pPr>
            <a:r>
              <a:rPr lang="en" sz="1500">
                <a:solidFill>
                  <a:srgbClr val="000000"/>
                </a:solidFill>
                <a:latin typeface="Georgia"/>
                <a:ea typeface="Georgia"/>
                <a:cs typeface="Georgia"/>
                <a:sym typeface="Georgia"/>
              </a:rPr>
              <a:t>Therefore,it can be concluded from the above data that SURF feature extraction method is the optimum </a:t>
            </a:r>
            <a:r>
              <a:rPr lang="en" sz="1500">
                <a:solidFill>
                  <a:srgbClr val="000000"/>
                </a:solidFill>
                <a:latin typeface="Georgia"/>
                <a:ea typeface="Georgia"/>
                <a:cs typeface="Georgia"/>
                <a:sym typeface="Georgia"/>
              </a:rPr>
              <a:t>method</a:t>
            </a:r>
            <a:r>
              <a:rPr lang="en" sz="1500">
                <a:solidFill>
                  <a:srgbClr val="000000"/>
                </a:solidFill>
                <a:latin typeface="Georgia"/>
                <a:ea typeface="Georgia"/>
                <a:cs typeface="Georgia"/>
                <a:sym typeface="Georgia"/>
              </a:rPr>
              <a:t> for the application in our project.</a:t>
            </a:r>
            <a:endParaRPr sz="1500">
              <a:solidFill>
                <a:srgbClr val="000000"/>
              </a:solidFill>
              <a:latin typeface="Georgia"/>
              <a:ea typeface="Georgia"/>
              <a:cs typeface="Georgia"/>
              <a:sym typeface="Georgia"/>
            </a:endParaRPr>
          </a:p>
          <a:p>
            <a:pPr indent="0" lvl="0" marL="0" rtl="0" algn="l">
              <a:spcBef>
                <a:spcPts val="0"/>
              </a:spcBef>
              <a:spcAft>
                <a:spcPts val="12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2"/>
          <p:cNvSpPr txBox="1"/>
          <p:nvPr/>
        </p:nvSpPr>
        <p:spPr>
          <a:xfrm>
            <a:off x="258600" y="617800"/>
            <a:ext cx="3951000" cy="4710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import numpy as np</a:t>
            </a:r>
            <a:endParaRPr/>
          </a:p>
          <a:p>
            <a:pPr indent="0" lvl="0" marL="0" rtl="0" algn="l">
              <a:spcBef>
                <a:spcPts val="0"/>
              </a:spcBef>
              <a:spcAft>
                <a:spcPts val="0"/>
              </a:spcAft>
              <a:buNone/>
            </a:pPr>
            <a:r>
              <a:rPr lang="en"/>
              <a:t>from collections import namedtuple</a:t>
            </a:r>
            <a:endParaRPr/>
          </a:p>
          <a:p>
            <a:pPr indent="0" lvl="0" marL="0" rtl="0" algn="l">
              <a:spcBef>
                <a:spcPts val="0"/>
              </a:spcBef>
              <a:spcAft>
                <a:spcPts val="0"/>
              </a:spcAft>
              <a:buNone/>
            </a:pPr>
            <a:r>
              <a:rPr lang="en"/>
              <a:t>from .tags import tag16h5</a:t>
            </a:r>
            <a:endParaRPr/>
          </a:p>
          <a:p>
            <a:pPr indent="0" lvl="0" marL="0" rtl="0" algn="l">
              <a:spcBef>
                <a:spcPts val="0"/>
              </a:spcBef>
              <a:spcAft>
                <a:spcPts val="0"/>
              </a:spcAft>
              <a:buNone/>
            </a:pPr>
            <a:r>
              <a:rPr lang="en"/>
              <a:t>from .tags import tag25h9</a:t>
            </a:r>
            <a:endParaRPr/>
          </a:p>
          <a:p>
            <a:pPr indent="0" lvl="0" marL="0" rtl="0" algn="l">
              <a:spcBef>
                <a:spcPts val="0"/>
              </a:spcBef>
              <a:spcAft>
                <a:spcPts val="0"/>
              </a:spcAft>
              <a:buNone/>
            </a:pPr>
            <a:r>
              <a:rPr lang="en"/>
              <a:t>from .tags import tag36h10</a:t>
            </a:r>
            <a:endParaRPr/>
          </a:p>
          <a:p>
            <a:pPr indent="0" lvl="0" marL="0" rtl="0" algn="l">
              <a:spcBef>
                <a:spcPts val="0"/>
              </a:spcBef>
              <a:spcAft>
                <a:spcPts val="0"/>
              </a:spcAft>
              <a:buNone/>
            </a:pPr>
            <a:r>
              <a:rPr lang="en"/>
              <a:t>from .tags import tag36h11</a:t>
            </a:r>
            <a:endParaRPr/>
          </a:p>
          <a:p>
            <a:pPr indent="0" lvl="0" marL="0" rtl="0" algn="l">
              <a:spcBef>
                <a:spcPts val="0"/>
              </a:spcBef>
              <a:spcAft>
                <a:spcPts val="0"/>
              </a:spcAft>
              <a:buNone/>
            </a:pPr>
            <a:r>
              <a:rPr lang="en"/>
              <a:t>flip = lambda a: a^1</a:t>
            </a:r>
            <a:endParaRPr/>
          </a:p>
          <a:p>
            <a:pPr indent="0" lvl="0" marL="0" rtl="0" algn="l">
              <a:spcBef>
                <a:spcPts val="0"/>
              </a:spcBef>
              <a:spcAft>
                <a:spcPts val="0"/>
              </a:spcAft>
              <a:buNone/>
            </a:pPr>
            <a:r>
              <a:rPr lang="en"/>
              <a:t>Tag = namedtuple("Tag", "family id array")</a:t>
            </a:r>
            <a:endParaRPr/>
          </a:p>
          <a:p>
            <a:pPr indent="0" lvl="0" marL="0" rtl="0" algn="l">
              <a:spcBef>
                <a:spcPts val="0"/>
              </a:spcBef>
              <a:spcAft>
                <a:spcPts val="0"/>
              </a:spcAft>
              <a:buNone/>
            </a:pPr>
            <a:r>
              <a:rPr lang="en"/>
              <a:t>apriltags = {</a:t>
            </a:r>
            <a:endParaRPr/>
          </a:p>
          <a:p>
            <a:pPr indent="0" lvl="0" marL="0" rtl="0" algn="l">
              <a:spcBef>
                <a:spcPts val="0"/>
              </a:spcBef>
              <a:spcAft>
                <a:spcPts val="0"/>
              </a:spcAft>
              <a:buNone/>
            </a:pPr>
            <a:r>
              <a:rPr lang="en"/>
              <a:t>    "tag16h5": tag16h5,</a:t>
            </a:r>
            <a:endParaRPr/>
          </a:p>
          <a:p>
            <a:pPr indent="0" lvl="0" marL="0" rtl="0" algn="l">
              <a:spcBef>
                <a:spcPts val="0"/>
              </a:spcBef>
              <a:spcAft>
                <a:spcPts val="0"/>
              </a:spcAft>
              <a:buNone/>
            </a:pPr>
            <a:r>
              <a:rPr lang="en"/>
              <a:t>    "tag25h9": tag25h9,</a:t>
            </a:r>
            <a:endParaRPr/>
          </a:p>
          <a:p>
            <a:pPr indent="0" lvl="0" marL="0" rtl="0" algn="l">
              <a:spcBef>
                <a:spcPts val="0"/>
              </a:spcBef>
              <a:spcAft>
                <a:spcPts val="0"/>
              </a:spcAft>
              <a:buNone/>
            </a:pPr>
            <a:r>
              <a:rPr lang="en"/>
              <a:t>    "tag36h10": tag36h10,</a:t>
            </a:r>
            <a:endParaRPr/>
          </a:p>
          <a:p>
            <a:pPr indent="0" lvl="0" marL="0" rtl="0" algn="l">
              <a:spcBef>
                <a:spcPts val="0"/>
              </a:spcBef>
              <a:spcAft>
                <a:spcPts val="0"/>
              </a:spcAft>
              <a:buNone/>
            </a:pPr>
            <a:r>
              <a:rPr lang="en"/>
              <a:t>    "tag36h11": tag36h11</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rPr lang="en"/>
              <a:t>def gen_tag(tag, val):</a:t>
            </a:r>
            <a:endParaRPr/>
          </a:p>
          <a:p>
            <a:pPr indent="0" lvl="0" marL="0" rtl="0" algn="l">
              <a:spcBef>
                <a:spcPts val="0"/>
              </a:spcBef>
              <a:spcAft>
                <a:spcPts val="0"/>
              </a:spcAft>
              <a:buNone/>
            </a:pPr>
            <a:r>
              <a:rPr lang="en"/>
              <a:t>    d = np.frombuffer(np.array(tag.codes[val], "&gt;i8"), np.uint8)</a:t>
            </a:r>
            <a:endParaRPr/>
          </a:p>
          <a:p>
            <a:pPr indent="0" lvl="0" marL="0" rtl="0" algn="l">
              <a:spcBef>
                <a:spcPts val="0"/>
              </a:spcBef>
              <a:spcAft>
                <a:spcPts val="0"/>
              </a:spcAft>
              <a:buNone/>
            </a:pPr>
            <a:r>
              <a:rPr lang="en"/>
              <a:t>    bits = np.unpackbits(d)[-tag.area:].reshape((-1,tag.dim))</a:t>
            </a:r>
            <a:endParaRPr/>
          </a:p>
          <a:p>
            <a:pPr indent="0" lvl="0" marL="0" rtl="0" algn="l">
              <a:spcBef>
                <a:spcPts val="0"/>
              </a:spcBef>
              <a:spcAft>
                <a:spcPts val="0"/>
              </a:spcAft>
              <a:buNone/>
            </a:pPr>
            <a:r>
              <a:rPr lang="en">
                <a:solidFill>
                  <a:srgbClr val="FFFFFF"/>
                </a:solidFill>
              </a:rPr>
              <a:t>   </a:t>
            </a:r>
            <a:endParaRPr>
              <a:solidFill>
                <a:srgbClr val="FFFFFF"/>
              </a:solidFill>
            </a:endParaRPr>
          </a:p>
        </p:txBody>
      </p:sp>
      <p:sp>
        <p:nvSpPr>
          <p:cNvPr id="200" name="Google Shape;200;p32"/>
          <p:cNvSpPr txBox="1"/>
          <p:nvPr/>
        </p:nvSpPr>
        <p:spPr>
          <a:xfrm>
            <a:off x="4698125" y="704000"/>
            <a:ext cx="3951000" cy="4494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FFFF"/>
                </a:solidFill>
              </a:rPr>
              <a:t> </a:t>
            </a:r>
            <a:r>
              <a:rPr lang="en"/>
              <a:t>bits = np.pad(bits, 1, 'constant', constant_values=0)</a:t>
            </a:r>
            <a:endParaRPr/>
          </a:p>
          <a:p>
            <a:pPr indent="0" lvl="0" marL="0" rtl="0" algn="l">
              <a:spcBef>
                <a:spcPts val="0"/>
              </a:spcBef>
              <a:spcAft>
                <a:spcPts val="0"/>
              </a:spcAft>
              <a:buNone/>
            </a:pPr>
            <a:r>
              <a:rPr lang="en"/>
              <a:t>    return bits</a:t>
            </a:r>
            <a:endParaRPr/>
          </a:p>
          <a:p>
            <a:pPr indent="0" lvl="0" marL="0" rtl="0" algn="l">
              <a:spcBef>
                <a:spcPts val="0"/>
              </a:spcBef>
              <a:spcAft>
                <a:spcPts val="0"/>
              </a:spcAft>
              <a:buNone/>
            </a:pPr>
            <a:r>
              <a:rPr lang="en"/>
              <a:t>def generate(family, nums):</a:t>
            </a:r>
            <a:endParaRPr/>
          </a:p>
          <a:p>
            <a:pPr indent="0" lvl="0" marL="0" rtl="0" algn="l">
              <a:spcBef>
                <a:spcPts val="0"/>
              </a:spcBef>
              <a:spcAft>
                <a:spcPts val="0"/>
              </a:spcAft>
              <a:buNone/>
            </a:pPr>
            <a:r>
              <a:rPr lang="en"/>
              <a:t>        tagdata = apriltags[family]</a:t>
            </a:r>
            <a:endParaRPr/>
          </a:p>
          <a:p>
            <a:pPr indent="0" lvl="0" marL="0" rtl="0" algn="l">
              <a:spcBef>
                <a:spcPts val="0"/>
              </a:spcBef>
              <a:spcAft>
                <a:spcPts val="0"/>
              </a:spcAft>
              <a:buNone/>
            </a:pPr>
            <a:r>
              <a:rPr lang="en"/>
              <a:t>    except:</a:t>
            </a:r>
            <a:endParaRPr/>
          </a:p>
          <a:p>
            <a:pPr indent="0" lvl="0" marL="0" rtl="0" algn="l">
              <a:spcBef>
                <a:spcPts val="0"/>
              </a:spcBef>
              <a:spcAft>
                <a:spcPts val="0"/>
              </a:spcAft>
              <a:buNone/>
            </a:pPr>
            <a:r>
              <a:rPr lang="en"/>
              <a:t>        print(f"*** Invalid family: {family} ***")</a:t>
            </a:r>
            <a:endParaRPr/>
          </a:p>
          <a:p>
            <a:pPr indent="0" lvl="0" marL="0" rtl="0" algn="l">
              <a:spcBef>
                <a:spcPts val="0"/>
              </a:spcBef>
              <a:spcAft>
                <a:spcPts val="0"/>
              </a:spcAft>
              <a:buNone/>
            </a:pPr>
            <a:r>
              <a:rPr lang="en"/>
              <a:t>        exit(1)</a:t>
            </a:r>
            <a:endParaRPr/>
          </a:p>
          <a:p>
            <a:pPr indent="0" lvl="0" marL="0" rtl="0" algn="l">
              <a:spcBef>
                <a:spcPts val="0"/>
              </a:spcBef>
              <a:spcAft>
                <a:spcPts val="0"/>
              </a:spcAft>
              <a:buNone/>
            </a:pPr>
            <a:r>
              <a:rPr lang="en"/>
              <a:t>    tags = [Tag(family, n, gen_tag(tagdata, n)) for n in nums]</a:t>
            </a:r>
            <a:endParaRPr/>
          </a:p>
          <a:p>
            <a:pPr indent="0" lvl="0" marL="0" rtl="0" algn="l">
              <a:spcBef>
                <a:spcPts val="0"/>
              </a:spcBef>
              <a:spcAft>
                <a:spcPts val="0"/>
              </a:spcAft>
              <a:buNone/>
            </a:pPr>
            <a:r>
              <a:rPr lang="en"/>
              <a:t>    return tags</a:t>
            </a:r>
            <a:endParaRPr/>
          </a:p>
          <a:p>
            <a:pPr indent="0" lvl="0" marL="0" rtl="0" algn="l">
              <a:spcBef>
                <a:spcPts val="0"/>
              </a:spcBef>
              <a:spcAft>
                <a:spcPts val="0"/>
              </a:spcAft>
              <a:buNone/>
            </a:pPr>
            <a:r>
              <a:rPr lang="en"/>
              <a:t>def check_size(r, size):</a:t>
            </a:r>
            <a:endParaRPr/>
          </a:p>
          <a:p>
            <a:pPr indent="0" lvl="0" marL="0" rtl="0" algn="l">
              <a:spcBef>
                <a:spcPts val="0"/>
              </a:spcBef>
              <a:spcAft>
                <a:spcPts val="0"/>
              </a:spcAft>
              <a:buNone/>
            </a:pPr>
            <a:r>
              <a:rPr lang="en"/>
              <a:t>    if r &gt;= size:</a:t>
            </a:r>
            <a:endParaRPr/>
          </a:p>
          <a:p>
            <a:pPr indent="0" lvl="0" marL="0" rtl="0" algn="l">
              <a:spcBef>
                <a:spcPts val="0"/>
              </a:spcBef>
              <a:spcAft>
                <a:spcPts val="0"/>
              </a:spcAft>
              <a:buNone/>
            </a:pPr>
            <a:r>
              <a:rPr lang="en"/>
              <a:t>        raise Exception(f"family board size exceeded: {r} != {size}")</a:t>
            </a:r>
            <a:endParaRPr/>
          </a:p>
          <a:p>
            <a:pPr indent="0" lvl="0" marL="0" rtl="0" algn="l">
              <a:spcBef>
                <a:spcPts val="0"/>
              </a:spcBef>
              <a:spcAft>
                <a:spcPts val="0"/>
              </a:spcAft>
              <a:buNone/>
            </a:pPr>
            <a:r>
              <a:rPr lang="en"/>
              <a:t>def board(marker_size, family, scale=10, ofw=2, span=None):</a:t>
            </a:r>
            <a:endParaRPr/>
          </a:p>
          <a:p>
            <a:pPr indent="0" lvl="0" marL="0" rtl="0" algn="l">
              <a:spcBef>
                <a:spcPts val="0"/>
              </a:spcBef>
              <a:spcAft>
                <a:spcPts val="0"/>
              </a:spcAft>
              <a:buNone/>
            </a:pPr>
            <a:r>
              <a:rPr lang="en"/>
              <a:t>    if span:</a:t>
            </a:r>
            <a:endParaRPr/>
          </a:p>
          <a:p>
            <a:pPr indent="0" lvl="0" marL="0" rtl="0" algn="l">
              <a:spcBef>
                <a:spcPts val="0"/>
              </a:spcBef>
              <a:spcAft>
                <a:spcPts val="0"/>
              </a:spcAft>
              <a:buNone/>
            </a:pPr>
            <a:r>
              <a:rPr lang="en"/>
              <a:t>        r = span</a:t>
            </a:r>
            <a:endParaRPr/>
          </a:p>
          <a:p>
            <a:pPr indent="0" lvl="0" marL="0" rtl="0" algn="l">
              <a:spcBef>
                <a:spcPts val="0"/>
              </a:spcBef>
              <a:spcAft>
                <a:spcPts val="0"/>
              </a:spcAft>
              <a:buNone/>
            </a:pPr>
            <a:r>
              <a:rPr lang="en"/>
              <a:t>        if len(span) != </a:t>
            </a:r>
            <a:endParaRPr/>
          </a:p>
        </p:txBody>
      </p:sp>
      <p:sp>
        <p:nvSpPr>
          <p:cNvPr id="201" name="Google Shape;201;p32"/>
          <p:cNvSpPr txBox="1"/>
          <p:nvPr/>
        </p:nvSpPr>
        <p:spPr>
          <a:xfrm>
            <a:off x="258600" y="171400"/>
            <a:ext cx="33189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t>Code to Generate AprilTag</a:t>
            </a:r>
            <a:endParaRPr b="1" sz="19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3"/>
          <p:cNvSpPr txBox="1"/>
          <p:nvPr/>
        </p:nvSpPr>
        <p:spPr>
          <a:xfrm>
            <a:off x="186775" y="71825"/>
            <a:ext cx="4238400" cy="514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marker_size[0]*marker_size[1]:</a:t>
            </a:r>
            <a:endParaRPr/>
          </a:p>
          <a:p>
            <a:pPr indent="0" lvl="0" marL="0" rtl="0" algn="l">
              <a:spcBef>
                <a:spcPts val="0"/>
              </a:spcBef>
              <a:spcAft>
                <a:spcPts val="0"/>
              </a:spcAft>
              <a:buNone/>
            </a:pPr>
            <a:r>
              <a:rPr lang="en"/>
              <a:t>            raise Exception("Span doesn't fit inside marker_size; len(span) != marker_size[0]*marker_size[1]")</a:t>
            </a:r>
            <a:endParaRPr/>
          </a:p>
          <a:p>
            <a:pPr indent="0" lvl="0" marL="0" rtl="0" algn="l">
              <a:spcBef>
                <a:spcPts val="0"/>
              </a:spcBef>
              <a:spcAft>
                <a:spcPts val="0"/>
              </a:spcAft>
              <a:buNone/>
            </a:pPr>
            <a:r>
              <a:rPr lang="en"/>
              <a:t>    else:</a:t>
            </a:r>
            <a:endParaRPr/>
          </a:p>
          <a:p>
            <a:pPr indent="0" lvl="0" marL="0" rtl="0" algn="l">
              <a:spcBef>
                <a:spcPts val="0"/>
              </a:spcBef>
              <a:spcAft>
                <a:spcPts val="0"/>
              </a:spcAft>
              <a:buNone/>
            </a:pPr>
            <a:r>
              <a:rPr lang="en"/>
              <a:t>        r = marker_size[0]*marker_size[1]</a:t>
            </a:r>
            <a:endParaRPr/>
          </a:p>
          <a:p>
            <a:pPr indent="0" lvl="0" marL="0" rtl="0" algn="l">
              <a:spcBef>
                <a:spcPts val="0"/>
              </a:spcBef>
              <a:spcAft>
                <a:spcPts val="0"/>
              </a:spcAft>
              <a:buNone/>
            </a:pPr>
            <a:r>
              <a:rPr lang="en"/>
              <a:t>    if family == "tag36h10":</a:t>
            </a:r>
            <a:endParaRPr/>
          </a:p>
          <a:p>
            <a:pPr indent="0" lvl="0" marL="0" rtl="0" algn="l">
              <a:spcBef>
                <a:spcPts val="0"/>
              </a:spcBef>
              <a:spcAft>
                <a:spcPts val="0"/>
              </a:spcAft>
              <a:buNone/>
            </a:pPr>
            <a:r>
              <a:rPr lang="en"/>
              <a:t>        check_size(r, len(tag36h10.codes))</a:t>
            </a:r>
            <a:endParaRPr/>
          </a:p>
          <a:p>
            <a:pPr indent="0" lvl="0" marL="0" rtl="0" algn="l">
              <a:spcBef>
                <a:spcPts val="0"/>
              </a:spcBef>
              <a:spcAft>
                <a:spcPts val="0"/>
              </a:spcAft>
              <a:buNone/>
            </a:pPr>
            <a:r>
              <a:rPr lang="en"/>
              <a:t>        tag_size = 8</a:t>
            </a:r>
            <a:endParaRPr/>
          </a:p>
          <a:p>
            <a:pPr indent="0" lvl="0" marL="0" rtl="0" algn="l">
              <a:spcBef>
                <a:spcPts val="0"/>
              </a:spcBef>
              <a:spcAft>
                <a:spcPts val="0"/>
              </a:spcAft>
              <a:buNone/>
            </a:pPr>
            <a:r>
              <a:rPr lang="en"/>
              <a:t>    elif family == "tag36h11":</a:t>
            </a:r>
            <a:endParaRPr/>
          </a:p>
          <a:p>
            <a:pPr indent="0" lvl="0" marL="0" rtl="0" algn="l">
              <a:spcBef>
                <a:spcPts val="0"/>
              </a:spcBef>
              <a:spcAft>
                <a:spcPts val="0"/>
              </a:spcAft>
              <a:buNone/>
            </a:pPr>
            <a:r>
              <a:rPr lang="en"/>
              <a:t>        check_size(r, len(tag36h11.codes))</a:t>
            </a:r>
            <a:endParaRPr/>
          </a:p>
          <a:p>
            <a:pPr indent="0" lvl="0" marL="0" rtl="0" algn="l">
              <a:spcBef>
                <a:spcPts val="0"/>
              </a:spcBef>
              <a:spcAft>
                <a:spcPts val="0"/>
              </a:spcAft>
              <a:buNone/>
            </a:pPr>
            <a:r>
              <a:rPr lang="en"/>
              <a:t>        tag_size = 8</a:t>
            </a:r>
            <a:endParaRPr/>
          </a:p>
          <a:p>
            <a:pPr indent="0" lvl="0" marL="0" rtl="0" algn="l">
              <a:spcBef>
                <a:spcPts val="0"/>
              </a:spcBef>
              <a:spcAft>
                <a:spcPts val="0"/>
              </a:spcAft>
              <a:buNone/>
            </a:pPr>
            <a:r>
              <a:rPr lang="en"/>
              <a:t>    elif family == "tag25h9":</a:t>
            </a:r>
            <a:endParaRPr/>
          </a:p>
          <a:p>
            <a:pPr indent="0" lvl="0" marL="0" rtl="0" algn="l">
              <a:spcBef>
                <a:spcPts val="0"/>
              </a:spcBef>
              <a:spcAft>
                <a:spcPts val="0"/>
              </a:spcAft>
              <a:buNone/>
            </a:pPr>
            <a:r>
              <a:rPr lang="en"/>
              <a:t>        check_size(r, len(tag25h9.codes))</a:t>
            </a:r>
            <a:endParaRPr/>
          </a:p>
          <a:p>
            <a:pPr indent="0" lvl="0" marL="0" rtl="0" algn="l">
              <a:spcBef>
                <a:spcPts val="0"/>
              </a:spcBef>
              <a:spcAft>
                <a:spcPts val="0"/>
              </a:spcAft>
              <a:buNone/>
            </a:pPr>
            <a:r>
              <a:rPr lang="en"/>
              <a:t>        tag_size = 7</a:t>
            </a:r>
            <a:endParaRPr/>
          </a:p>
          <a:p>
            <a:pPr indent="0" lvl="0" marL="0" rtl="0" algn="l">
              <a:spcBef>
                <a:spcPts val="0"/>
              </a:spcBef>
              <a:spcAft>
                <a:spcPts val="0"/>
              </a:spcAft>
              <a:buNone/>
            </a:pPr>
            <a:r>
              <a:rPr lang="en"/>
              <a:t>    elif family == "tag16h5":</a:t>
            </a:r>
            <a:endParaRPr/>
          </a:p>
          <a:p>
            <a:pPr indent="0" lvl="0" marL="0" rtl="0" algn="l">
              <a:spcBef>
                <a:spcPts val="0"/>
              </a:spcBef>
              <a:spcAft>
                <a:spcPts val="0"/>
              </a:spcAft>
              <a:buNone/>
            </a:pPr>
            <a:r>
              <a:rPr lang="en"/>
              <a:t>        check_size(r, len(tag16h5.codes))</a:t>
            </a:r>
            <a:endParaRPr/>
          </a:p>
          <a:p>
            <a:pPr indent="0" lvl="0" marL="0" rtl="0" algn="l">
              <a:spcBef>
                <a:spcPts val="0"/>
              </a:spcBef>
              <a:spcAft>
                <a:spcPts val="0"/>
              </a:spcAft>
              <a:buNone/>
            </a:pPr>
            <a:r>
              <a:rPr lang="en"/>
              <a:t>        tag_size = 6</a:t>
            </a:r>
            <a:endParaRPr/>
          </a:p>
          <a:p>
            <a:pPr indent="0" lvl="0" marL="0" rtl="0" algn="l">
              <a:spcBef>
                <a:spcPts val="0"/>
              </a:spcBef>
              <a:spcAft>
                <a:spcPts val="0"/>
              </a:spcAft>
              <a:buNone/>
            </a:pPr>
            <a:r>
              <a:rPr lang="en"/>
              <a:t>    else:</a:t>
            </a:r>
            <a:endParaRPr/>
          </a:p>
          <a:p>
            <a:pPr indent="0" lvl="0" marL="0" rtl="0" algn="l">
              <a:spcBef>
                <a:spcPts val="0"/>
              </a:spcBef>
              <a:spcAft>
                <a:spcPts val="0"/>
              </a:spcAft>
              <a:buNone/>
            </a:pPr>
            <a:r>
              <a:rPr lang="en"/>
              <a:t>        raise Exception(f"Invalid tag family: {family}")</a:t>
            </a:r>
            <a:endParaRPr/>
          </a:p>
          <a:p>
            <a:pPr indent="0" lvl="0" marL="0" rtl="0" algn="l">
              <a:spcBef>
                <a:spcPts val="0"/>
              </a:spcBef>
              <a:spcAft>
                <a:spcPts val="0"/>
              </a:spcAft>
              <a:buNone/>
            </a:pPr>
            <a:r>
              <a:rPr lang="en"/>
              <a:t> tags = generate(family, range(r))</a:t>
            </a:r>
            <a:endParaRPr/>
          </a:p>
          <a:p>
            <a:pPr indent="0" lvl="0" marL="0" rtl="0" algn="l">
              <a:spcBef>
                <a:spcPts val="0"/>
              </a:spcBef>
              <a:spcAft>
                <a:spcPts val="0"/>
              </a:spcAft>
              <a:buNone/>
            </a:pPr>
            <a:r>
              <a:rPr lang="en"/>
              <a:t>    ofr = tag_size+ofw</a:t>
            </a:r>
            <a:endParaRPr/>
          </a:p>
          <a:p>
            <a:pPr indent="0" lvl="0" marL="0" rtl="0" algn="l">
              <a:spcBef>
                <a:spcPts val="0"/>
              </a:spcBef>
              <a:spcAft>
                <a:spcPts val="0"/>
              </a:spcAft>
              <a:buNone/>
            </a:pPr>
            <a:r>
              <a:rPr lang="en"/>
              <a:t>    ofc = tag_size+ofw</a:t>
            </a:r>
            <a:endParaRPr/>
          </a:p>
        </p:txBody>
      </p:sp>
      <p:sp>
        <p:nvSpPr>
          <p:cNvPr id="207" name="Google Shape;207;p33"/>
          <p:cNvSpPr txBox="1"/>
          <p:nvPr/>
        </p:nvSpPr>
        <p:spPr>
          <a:xfrm>
            <a:off x="4324600" y="-214200"/>
            <a:ext cx="4238400" cy="557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a:p>
            <a:pPr indent="0" lvl="0" marL="0" rtl="0" algn="l">
              <a:spcBef>
                <a:spcPts val="0"/>
              </a:spcBef>
              <a:spcAft>
                <a:spcPts val="0"/>
              </a:spcAft>
              <a:buNone/>
            </a:pPr>
            <a:r>
              <a:rPr lang="en"/>
              <a:t>    r = marker_size[0]*(ofr)</a:t>
            </a:r>
            <a:endParaRPr/>
          </a:p>
          <a:p>
            <a:pPr indent="0" lvl="0" marL="0" rtl="0" algn="l">
              <a:spcBef>
                <a:spcPts val="0"/>
              </a:spcBef>
              <a:spcAft>
                <a:spcPts val="0"/>
              </a:spcAft>
              <a:buNone/>
            </a:pPr>
            <a:r>
              <a:rPr lang="en"/>
              <a:t>    c = marker_size[1]*(ofc)</a:t>
            </a:r>
            <a:endParaRPr/>
          </a:p>
          <a:p>
            <a:pPr indent="0" lvl="0" marL="0" rtl="0" algn="l">
              <a:spcBef>
                <a:spcPts val="0"/>
              </a:spcBef>
              <a:spcAft>
                <a:spcPts val="0"/>
              </a:spcAft>
              <a:buNone/>
            </a:pPr>
            <a:r>
              <a:rPr lang="en"/>
              <a:t>    b = np.ones((r,c))</a:t>
            </a:r>
            <a:endParaRPr/>
          </a:p>
          <a:p>
            <a:pPr indent="0" lvl="0" marL="0" rtl="0" algn="l">
              <a:spcBef>
                <a:spcPts val="0"/>
              </a:spcBef>
              <a:spcAft>
                <a:spcPts val="0"/>
              </a:spcAft>
              <a:buNone/>
            </a:pPr>
            <a:r>
              <a:rPr lang="en"/>
              <a:t>    box = np.zeros((ofw,ofw))</a:t>
            </a:r>
            <a:endParaRPr/>
          </a:p>
          <a:p>
            <a:pPr indent="0" lvl="0" marL="0" rtl="0" algn="l">
              <a:spcBef>
                <a:spcPts val="0"/>
              </a:spcBef>
              <a:spcAft>
                <a:spcPts val="0"/>
              </a:spcAft>
              <a:buNone/>
            </a:pPr>
            <a:r>
              <a:rPr lang="en"/>
              <a:t>    for i in range(marker_size[0]):     # rows</a:t>
            </a:r>
            <a:endParaRPr/>
          </a:p>
          <a:p>
            <a:pPr indent="0" lvl="0" marL="0" rtl="0" algn="l">
              <a:spcBef>
                <a:spcPts val="0"/>
              </a:spcBef>
              <a:spcAft>
                <a:spcPts val="0"/>
              </a:spcAft>
              <a:buNone/>
            </a:pPr>
            <a:r>
              <a:rPr lang="en"/>
              <a:t>        for j in range(marker_size[1]): # cols</a:t>
            </a:r>
            <a:endParaRPr/>
          </a:p>
          <a:p>
            <a:pPr indent="0" lvl="0" marL="0" rtl="0" algn="l">
              <a:spcBef>
                <a:spcPts val="0"/>
              </a:spcBef>
              <a:spcAft>
                <a:spcPts val="0"/>
              </a:spcAft>
              <a:buNone/>
            </a:pPr>
            <a:r>
              <a:rPr lang="en"/>
              <a:t>            r = i*(ofr)</a:t>
            </a:r>
            <a:endParaRPr/>
          </a:p>
          <a:p>
            <a:pPr indent="0" lvl="0" marL="0" rtl="0" algn="l">
              <a:spcBef>
                <a:spcPts val="0"/>
              </a:spcBef>
              <a:spcAft>
                <a:spcPts val="0"/>
              </a:spcAft>
              <a:buNone/>
            </a:pPr>
            <a:r>
              <a:rPr lang="en"/>
              <a:t>            c = j*(ofc)</a:t>
            </a:r>
            <a:endParaRPr/>
          </a:p>
          <a:p>
            <a:pPr indent="0" lvl="0" marL="0" rtl="0" algn="l">
              <a:spcBef>
                <a:spcPts val="0"/>
              </a:spcBef>
              <a:spcAft>
                <a:spcPts val="0"/>
              </a:spcAft>
              <a:buNone/>
            </a:pPr>
            <a:r>
              <a:rPr lang="en"/>
              <a:t>            x = i*marker_size[1]+j</a:t>
            </a:r>
            <a:endParaRPr/>
          </a:p>
          <a:p>
            <a:pPr indent="0" lvl="0" marL="0" rtl="0" algn="l">
              <a:spcBef>
                <a:spcPts val="0"/>
              </a:spcBef>
              <a:spcAft>
                <a:spcPts val="0"/>
              </a:spcAft>
              <a:buNone/>
            </a:pPr>
            <a:r>
              <a:rPr lang="en"/>
              <a:t>            tag = tags[x].array</a:t>
            </a:r>
            <a:endParaRPr/>
          </a:p>
          <a:p>
            <a:pPr indent="0" lvl="0" marL="0" rtl="0" algn="l">
              <a:spcBef>
                <a:spcPts val="0"/>
              </a:spcBef>
              <a:spcAft>
                <a:spcPts val="0"/>
              </a:spcAft>
              <a:buNone/>
            </a:pPr>
            <a:r>
              <a:rPr lang="en"/>
              <a:t>            b[r:r+tag_size,c:c+tag_size] = tag</a:t>
            </a:r>
            <a:endParaRPr/>
          </a:p>
          <a:p>
            <a:pPr indent="0" lvl="0" marL="0" rtl="0" algn="l">
              <a:spcBef>
                <a:spcPts val="0"/>
              </a:spcBef>
              <a:spcAft>
                <a:spcPts val="0"/>
              </a:spcAft>
              <a:buNone/>
            </a:pPr>
            <a:r>
              <a:rPr lang="en"/>
              <a:t>    r,c = b.shape</a:t>
            </a:r>
            <a:endParaRPr/>
          </a:p>
          <a:p>
            <a:pPr indent="0" lvl="0" marL="0" rtl="0" algn="l">
              <a:spcBef>
                <a:spcPts val="0"/>
              </a:spcBef>
              <a:spcAft>
                <a:spcPts val="0"/>
              </a:spcAft>
              <a:buNone/>
            </a:pPr>
            <a:r>
              <a:rPr lang="en"/>
              <a:t>    mm = np.ones((r+ofw, c+ofw), dtype=np.uint8)</a:t>
            </a:r>
            <a:endParaRPr/>
          </a:p>
          <a:p>
            <a:pPr indent="0" lvl="0" marL="0" rtl="0" algn="l">
              <a:spcBef>
                <a:spcPts val="0"/>
              </a:spcBef>
              <a:spcAft>
                <a:spcPts val="0"/>
              </a:spcAft>
              <a:buNone/>
            </a:pPr>
            <a:r>
              <a:rPr lang="en"/>
              <a:t>    mm[ofw:,ofw:] = b</a:t>
            </a:r>
            <a:endParaRPr/>
          </a:p>
          <a:p>
            <a:pPr indent="0" lvl="0" marL="0" rtl="0" algn="l">
              <a:spcBef>
                <a:spcPts val="0"/>
              </a:spcBef>
              <a:spcAft>
                <a:spcPts val="0"/>
              </a:spcAft>
              <a:buNone/>
            </a:pPr>
            <a:r>
              <a:rPr lang="en"/>
              <a:t>    for i in range(marker_size[0]+1):     # rows</a:t>
            </a:r>
            <a:endParaRPr/>
          </a:p>
          <a:p>
            <a:pPr indent="0" lvl="0" marL="0" rtl="0" algn="l">
              <a:spcBef>
                <a:spcPts val="0"/>
              </a:spcBef>
              <a:spcAft>
                <a:spcPts val="0"/>
              </a:spcAft>
              <a:buNone/>
            </a:pPr>
            <a:r>
              <a:rPr lang="en"/>
              <a:t>        for j in range(marker_size[1]+1): # cols</a:t>
            </a:r>
            <a:endParaRPr/>
          </a:p>
          <a:p>
            <a:pPr indent="0" lvl="0" marL="0" rtl="0" algn="l">
              <a:spcBef>
                <a:spcPts val="0"/>
              </a:spcBef>
              <a:spcAft>
                <a:spcPts val="0"/>
              </a:spcAft>
              <a:buNone/>
            </a:pPr>
            <a:r>
              <a:rPr lang="en"/>
              <a:t>            r = i*(ofr)</a:t>
            </a:r>
            <a:endParaRPr/>
          </a:p>
          <a:p>
            <a:pPr indent="0" lvl="0" marL="0" rtl="0" algn="l">
              <a:spcBef>
                <a:spcPts val="0"/>
              </a:spcBef>
              <a:spcAft>
                <a:spcPts val="0"/>
              </a:spcAft>
              <a:buNone/>
            </a:pPr>
            <a:r>
              <a:rPr lang="en"/>
              <a:t>            c = j*(ofc)</a:t>
            </a:r>
            <a:endParaRPr/>
          </a:p>
          <a:p>
            <a:pPr indent="0" lvl="0" marL="0" rtl="0" algn="l">
              <a:spcBef>
                <a:spcPts val="0"/>
              </a:spcBef>
              <a:spcAft>
                <a:spcPts val="0"/>
              </a:spcAft>
              <a:buNone/>
            </a:pPr>
            <a:r>
              <a:rPr lang="en"/>
              <a:t>            mm[r:r+ofw,c:c+ofw] = box</a:t>
            </a:r>
            <a:endParaRPr/>
          </a:p>
          <a:p>
            <a:pPr indent="0" lvl="0" marL="0" rtl="0" algn="l">
              <a:spcBef>
                <a:spcPts val="0"/>
              </a:spcBef>
              <a:spcAft>
                <a:spcPts val="0"/>
              </a:spcAft>
              <a:buNone/>
            </a:pPr>
            <a:r>
              <a:rPr lang="en"/>
              <a:t>    mm = 255*mm</a:t>
            </a:r>
            <a:endParaRPr/>
          </a:p>
          <a:p>
            <a:pPr indent="0" lvl="0" marL="0" rtl="0" algn="l">
              <a:spcBef>
                <a:spcPts val="0"/>
              </a:spcBef>
              <a:spcAft>
                <a:spcPts val="0"/>
              </a:spcAft>
              <a:buNone/>
            </a:pPr>
            <a:r>
              <a:rPr lang="en"/>
              <a:t>    xx = np.repeat(np.repeat(mm, scale, axis=0), scale, axis=1)</a:t>
            </a:r>
            <a:endParaRPr/>
          </a:p>
          <a:p>
            <a:pPr indent="0" lvl="0" marL="0" rtl="0" algn="l">
              <a:spcBef>
                <a:spcPts val="0"/>
              </a:spcBef>
              <a:spcAft>
                <a:spcPts val="0"/>
              </a:spcAft>
              <a:buNone/>
            </a:pPr>
            <a:r>
              <a:rPr lang="en"/>
              <a:t>    return xx</a:t>
            </a:r>
            <a:endParaRPr/>
          </a:p>
          <a:p>
            <a:pPr indent="0" lvl="0" marL="0" rtl="0" algn="l">
              <a:spcBef>
                <a:spcPts val="0"/>
              </a:spcBef>
              <a:spcAft>
                <a:spcPts val="0"/>
              </a:spcAft>
              <a:buNone/>
            </a:pPr>
            <a:r>
              <a:t/>
            </a:r>
            <a:endParaRPr>
              <a:solidFill>
                <a:srgbClr val="FFFFFF"/>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4"/>
          <p:cNvSpPr txBox="1"/>
          <p:nvPr>
            <p:ph idx="1" type="body"/>
          </p:nvPr>
        </p:nvSpPr>
        <p:spPr>
          <a:xfrm>
            <a:off x="369175" y="713375"/>
            <a:ext cx="3495600" cy="3893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75"/>
              <a:buNone/>
            </a:pPr>
            <a:r>
              <a:rPr lang="en" sz="1550">
                <a:solidFill>
                  <a:srgbClr val="000000"/>
                </a:solidFill>
              </a:rPr>
              <a:t>import moms_apriltag as apt</a:t>
            </a:r>
            <a:endParaRPr sz="1550">
              <a:solidFill>
                <a:srgbClr val="000000"/>
              </a:solidFill>
            </a:endParaRPr>
          </a:p>
          <a:p>
            <a:pPr indent="0" lvl="0" marL="0" rtl="0" algn="l">
              <a:lnSpc>
                <a:spcPct val="100000"/>
              </a:lnSpc>
              <a:spcBef>
                <a:spcPts val="0"/>
              </a:spcBef>
              <a:spcAft>
                <a:spcPts val="0"/>
              </a:spcAft>
              <a:buSzPts val="275"/>
              <a:buNone/>
            </a:pPr>
            <a:r>
              <a:rPr lang="en" sz="1550">
                <a:solidFill>
                  <a:srgbClr val="000000"/>
                </a:solidFill>
              </a:rPr>
              <a:t>import numpy as np</a:t>
            </a:r>
            <a:endParaRPr sz="1550">
              <a:solidFill>
                <a:srgbClr val="000000"/>
              </a:solidFill>
            </a:endParaRPr>
          </a:p>
          <a:p>
            <a:pPr indent="0" lvl="0" marL="0" rtl="0" algn="l">
              <a:lnSpc>
                <a:spcPct val="100000"/>
              </a:lnSpc>
              <a:spcBef>
                <a:spcPts val="0"/>
              </a:spcBef>
              <a:spcAft>
                <a:spcPts val="0"/>
              </a:spcAft>
              <a:buSzPts val="275"/>
              <a:buNone/>
            </a:pPr>
            <a:r>
              <a:rPr lang="en" sz="1550">
                <a:solidFill>
                  <a:srgbClr val="000000"/>
                </a:solidFill>
              </a:rPr>
              <a:t>import imageio</a:t>
            </a:r>
            <a:endParaRPr sz="1550">
              <a:solidFill>
                <a:srgbClr val="000000"/>
              </a:solidFill>
            </a:endParaRPr>
          </a:p>
          <a:p>
            <a:pPr indent="0" lvl="0" marL="0" rtl="0" algn="l">
              <a:lnSpc>
                <a:spcPct val="100000"/>
              </a:lnSpc>
              <a:spcBef>
                <a:spcPts val="0"/>
              </a:spcBef>
              <a:spcAft>
                <a:spcPts val="0"/>
              </a:spcAft>
              <a:buSzPts val="275"/>
              <a:buNone/>
            </a:pPr>
            <a:r>
              <a:rPr lang="en" sz="1550">
                <a:solidFill>
                  <a:srgbClr val="000000"/>
                </a:solidFill>
              </a:rPr>
              <a:t>if __name__ == '__main__':</a:t>
            </a:r>
            <a:endParaRPr sz="1550">
              <a:solidFill>
                <a:srgbClr val="000000"/>
              </a:solidFill>
            </a:endParaRPr>
          </a:p>
          <a:p>
            <a:pPr indent="0" lvl="0" marL="0" rtl="0" algn="l">
              <a:lnSpc>
                <a:spcPct val="100000"/>
              </a:lnSpc>
              <a:spcBef>
                <a:spcPts val="0"/>
              </a:spcBef>
              <a:spcAft>
                <a:spcPts val="0"/>
              </a:spcAft>
              <a:buSzPts val="275"/>
              <a:buNone/>
            </a:pPr>
            <a:r>
              <a:rPr lang="en" sz="1550">
                <a:solidFill>
                  <a:srgbClr val="000000"/>
                </a:solidFill>
              </a:rPr>
              <a:t>  </a:t>
            </a:r>
            <a:r>
              <a:rPr lang="en" sz="1550">
                <a:solidFill>
                  <a:srgbClr val="000000"/>
                </a:solidFill>
              </a:rPr>
              <a:t>  family = "tag36h10"</a:t>
            </a:r>
            <a:endParaRPr sz="1550">
              <a:solidFill>
                <a:srgbClr val="000000"/>
              </a:solidFill>
            </a:endParaRPr>
          </a:p>
          <a:p>
            <a:pPr indent="0" lvl="0" marL="0" rtl="0" algn="l">
              <a:lnSpc>
                <a:spcPct val="100000"/>
              </a:lnSpc>
              <a:spcBef>
                <a:spcPts val="0"/>
              </a:spcBef>
              <a:spcAft>
                <a:spcPts val="0"/>
              </a:spcAft>
              <a:buSzPts val="275"/>
              <a:buNone/>
            </a:pPr>
            <a:r>
              <a:rPr lang="en" sz="1550">
                <a:solidFill>
                  <a:srgbClr val="000000"/>
                </a:solidFill>
              </a:rPr>
              <a:t>    shape = (1,1)</a:t>
            </a:r>
            <a:endParaRPr sz="1550">
              <a:solidFill>
                <a:srgbClr val="000000"/>
              </a:solidFill>
            </a:endParaRPr>
          </a:p>
          <a:p>
            <a:pPr indent="0" lvl="0" marL="0" rtl="0" algn="l">
              <a:lnSpc>
                <a:spcPct val="100000"/>
              </a:lnSpc>
              <a:spcBef>
                <a:spcPts val="0"/>
              </a:spcBef>
              <a:spcAft>
                <a:spcPts val="0"/>
              </a:spcAft>
              <a:buSzPts val="275"/>
              <a:buNone/>
            </a:pPr>
            <a:r>
              <a:rPr lang="en" sz="1550">
                <a:solidFill>
                  <a:srgbClr val="000000"/>
                </a:solidFill>
              </a:rPr>
              <a:t>    filename = input("enter filename")</a:t>
            </a:r>
            <a:endParaRPr sz="1550">
              <a:solidFill>
                <a:srgbClr val="000000"/>
              </a:solidFill>
            </a:endParaRPr>
          </a:p>
          <a:p>
            <a:pPr indent="0" lvl="0" marL="0" rtl="0" algn="l">
              <a:lnSpc>
                <a:spcPct val="100000"/>
              </a:lnSpc>
              <a:spcBef>
                <a:spcPts val="0"/>
              </a:spcBef>
              <a:spcAft>
                <a:spcPts val="0"/>
              </a:spcAft>
              <a:buSzPts val="275"/>
              <a:buNone/>
            </a:pPr>
            <a:r>
              <a:rPr lang="en" sz="1550">
                <a:solidFill>
                  <a:srgbClr val="000000"/>
                </a:solidFill>
              </a:rPr>
              <a:t>    filename=filename+".png"</a:t>
            </a:r>
            <a:endParaRPr sz="1550">
              <a:solidFill>
                <a:srgbClr val="000000"/>
              </a:solidFill>
            </a:endParaRPr>
          </a:p>
          <a:p>
            <a:pPr indent="0" lvl="0" marL="0" rtl="0" algn="l">
              <a:lnSpc>
                <a:spcPct val="100000"/>
              </a:lnSpc>
              <a:spcBef>
                <a:spcPts val="0"/>
              </a:spcBef>
              <a:spcAft>
                <a:spcPts val="0"/>
              </a:spcAft>
              <a:buSzPts val="275"/>
              <a:buNone/>
            </a:pPr>
            <a:r>
              <a:rPr lang="en" sz="1550">
                <a:solidFill>
                  <a:srgbClr val="000000"/>
                </a:solidFill>
              </a:rPr>
              <a:t>    size = 50</a:t>
            </a:r>
            <a:endParaRPr sz="1550">
              <a:solidFill>
                <a:srgbClr val="000000"/>
              </a:solidFill>
            </a:endParaRPr>
          </a:p>
          <a:p>
            <a:pPr indent="0" lvl="0" marL="0" rtl="0" algn="l">
              <a:lnSpc>
                <a:spcPct val="100000"/>
              </a:lnSpc>
              <a:spcBef>
                <a:spcPts val="0"/>
              </a:spcBef>
              <a:spcAft>
                <a:spcPts val="0"/>
              </a:spcAft>
              <a:buSzPts val="275"/>
              <a:buNone/>
            </a:pPr>
            <a:r>
              <a:t/>
            </a:r>
            <a:endParaRPr sz="1550">
              <a:solidFill>
                <a:srgbClr val="000000"/>
              </a:solidFill>
            </a:endParaRPr>
          </a:p>
          <a:p>
            <a:pPr indent="0" lvl="0" marL="0" rtl="0" algn="l">
              <a:lnSpc>
                <a:spcPct val="100000"/>
              </a:lnSpc>
              <a:spcBef>
                <a:spcPts val="0"/>
              </a:spcBef>
              <a:spcAft>
                <a:spcPts val="0"/>
              </a:spcAft>
              <a:buSzPts val="275"/>
              <a:buNone/>
            </a:pPr>
            <a:r>
              <a:rPr lang="en" sz="1550">
                <a:solidFill>
                  <a:srgbClr val="000000"/>
                </a:solidFill>
              </a:rPr>
              <a:t>    tgt = apt.board(shape, family, size)</a:t>
            </a:r>
            <a:endParaRPr sz="1550">
              <a:solidFill>
                <a:srgbClr val="000000"/>
              </a:solidFill>
            </a:endParaRPr>
          </a:p>
          <a:p>
            <a:pPr indent="0" lvl="0" marL="0" rtl="0" algn="l">
              <a:lnSpc>
                <a:spcPct val="100000"/>
              </a:lnSpc>
              <a:spcBef>
                <a:spcPts val="0"/>
              </a:spcBef>
              <a:spcAft>
                <a:spcPts val="0"/>
              </a:spcAft>
              <a:buSzPts val="275"/>
              <a:buNone/>
            </a:pPr>
            <a:r>
              <a:rPr lang="en" sz="1550">
                <a:solidFill>
                  <a:srgbClr val="000000"/>
                </a:solidFill>
              </a:rPr>
              <a:t>    imageio.imwrite(filename, tgt)</a:t>
            </a:r>
            <a:endParaRPr sz="1550">
              <a:solidFill>
                <a:srgbClr val="000000"/>
              </a:solidFill>
            </a:endParaRPr>
          </a:p>
          <a:p>
            <a:pPr indent="0" lvl="0" marL="0" rtl="0" algn="l">
              <a:lnSpc>
                <a:spcPct val="100000"/>
              </a:lnSpc>
              <a:spcBef>
                <a:spcPts val="0"/>
              </a:spcBef>
              <a:spcAft>
                <a:spcPts val="0"/>
              </a:spcAft>
              <a:buSzPts val="275"/>
              <a:buNone/>
            </a:pPr>
            <a:r>
              <a:rPr lang="en" sz="1550">
                <a:solidFill>
                  <a:srgbClr val="000000"/>
                </a:solidFill>
              </a:rPr>
              <a:t>    print("image saved ")</a:t>
            </a:r>
            <a:endParaRPr sz="1550">
              <a:solidFill>
                <a:srgbClr val="000000"/>
              </a:solidFill>
            </a:endParaRPr>
          </a:p>
          <a:p>
            <a:pPr indent="0" lvl="0" marL="0" rtl="0" algn="l">
              <a:lnSpc>
                <a:spcPct val="100000"/>
              </a:lnSpc>
              <a:spcBef>
                <a:spcPts val="0"/>
              </a:spcBef>
              <a:spcAft>
                <a:spcPts val="0"/>
              </a:spcAft>
              <a:buSzPts val="275"/>
              <a:buNone/>
            </a:pPr>
            <a:r>
              <a:t/>
            </a:r>
            <a:endParaRPr sz="1150">
              <a:solidFill>
                <a:srgbClr val="FFFFFF"/>
              </a:solidFill>
            </a:endParaRPr>
          </a:p>
        </p:txBody>
      </p:sp>
      <p:pic>
        <p:nvPicPr>
          <p:cNvPr id="213" name="Google Shape;213;p34"/>
          <p:cNvPicPr preferRelativeResize="0"/>
          <p:nvPr/>
        </p:nvPicPr>
        <p:blipFill>
          <a:blip r:embed="rId3">
            <a:alphaModFix/>
          </a:blip>
          <a:stretch>
            <a:fillRect/>
          </a:stretch>
        </p:blipFill>
        <p:spPr>
          <a:xfrm>
            <a:off x="4439450" y="500049"/>
            <a:ext cx="3706826" cy="3706825"/>
          </a:xfrm>
          <a:prstGeom prst="rect">
            <a:avLst/>
          </a:prstGeom>
          <a:noFill/>
          <a:ln>
            <a:noFill/>
          </a:ln>
        </p:spPr>
      </p:pic>
      <p:sp>
        <p:nvSpPr>
          <p:cNvPr id="214" name="Google Shape;214;p34"/>
          <p:cNvSpPr txBox="1"/>
          <p:nvPr/>
        </p:nvSpPr>
        <p:spPr>
          <a:xfrm>
            <a:off x="4899375" y="4206875"/>
            <a:ext cx="3246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FFFF"/>
                </a:solidFill>
              </a:rPr>
              <a:t>Example of generated AprilTag</a:t>
            </a:r>
            <a:endParaRPr>
              <a:solidFill>
                <a:srgbClr val="FFFFFF"/>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5"/>
          <p:cNvSpPr txBox="1"/>
          <p:nvPr>
            <p:ph type="title"/>
          </p:nvPr>
        </p:nvSpPr>
        <p:spPr>
          <a:xfrm>
            <a:off x="272200" y="129100"/>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Time Plan</a:t>
            </a:r>
            <a:endParaRPr/>
          </a:p>
        </p:txBody>
      </p:sp>
      <p:graphicFrame>
        <p:nvGraphicFramePr>
          <p:cNvPr id="220" name="Google Shape;220;p35"/>
          <p:cNvGraphicFramePr/>
          <p:nvPr/>
        </p:nvGraphicFramePr>
        <p:xfrm>
          <a:off x="513175" y="836488"/>
          <a:ext cx="3000000" cy="3000000"/>
        </p:xfrm>
        <a:graphic>
          <a:graphicData uri="http://schemas.openxmlformats.org/drawingml/2006/table">
            <a:tbl>
              <a:tblPr>
                <a:noFill/>
                <a:tableStyleId>{F872800E-4ABA-49E0-A9BC-46AF30EE142E}</a:tableStyleId>
              </a:tblPr>
              <a:tblGrid>
                <a:gridCol w="2102150"/>
                <a:gridCol w="5467600"/>
              </a:tblGrid>
              <a:tr h="571575">
                <a:tc>
                  <a:txBody>
                    <a:bodyPr/>
                    <a:lstStyle/>
                    <a:p>
                      <a:pPr indent="0" lvl="0" marL="0" rtl="0" algn="l">
                        <a:spcBef>
                          <a:spcPts val="0"/>
                        </a:spcBef>
                        <a:spcAft>
                          <a:spcPts val="0"/>
                        </a:spcAft>
                        <a:buNone/>
                      </a:pPr>
                      <a:r>
                        <a:rPr lang="en" sz="1300"/>
                        <a:t>December 2020</a:t>
                      </a:r>
                      <a:endParaRPr sz="1300"/>
                    </a:p>
                  </a:txBody>
                  <a:tcPr marT="91425" marB="91425" marR="91425" marL="91425"/>
                </a:tc>
                <a:tc>
                  <a:txBody>
                    <a:bodyPr/>
                    <a:lstStyle/>
                    <a:p>
                      <a:pPr indent="0" lvl="0" marL="0" rtl="0" algn="l">
                        <a:spcBef>
                          <a:spcPts val="0"/>
                        </a:spcBef>
                        <a:spcAft>
                          <a:spcPts val="0"/>
                        </a:spcAft>
                        <a:buNone/>
                      </a:pPr>
                      <a:r>
                        <a:rPr lang="en"/>
                        <a:t>Controlling the motor output with respect to the given movement commands.</a:t>
                      </a:r>
                      <a:endParaRPr/>
                    </a:p>
                  </a:txBody>
                  <a:tcPr marT="91425" marB="91425" marR="91425" marL="91425"/>
                </a:tc>
              </a:tr>
              <a:tr h="598700">
                <a:tc>
                  <a:txBody>
                    <a:bodyPr/>
                    <a:lstStyle/>
                    <a:p>
                      <a:pPr indent="0" lvl="0" marL="0" rtl="0" algn="l">
                        <a:spcBef>
                          <a:spcPts val="0"/>
                        </a:spcBef>
                        <a:spcAft>
                          <a:spcPts val="0"/>
                        </a:spcAft>
                        <a:buNone/>
                      </a:pPr>
                      <a:r>
                        <a:rPr lang="en"/>
                        <a:t>January 2021</a:t>
                      </a:r>
                      <a:endParaRPr/>
                    </a:p>
                  </a:txBody>
                  <a:tcPr marT="91425" marB="91425" marR="91425" marL="91425"/>
                </a:tc>
                <a:tc>
                  <a:txBody>
                    <a:bodyPr/>
                    <a:lstStyle/>
                    <a:p>
                      <a:pPr indent="0" lvl="0" marL="0" rtl="0" algn="just">
                        <a:lnSpc>
                          <a:spcPct val="115000"/>
                        </a:lnSpc>
                        <a:spcBef>
                          <a:spcPts val="0"/>
                        </a:spcBef>
                        <a:spcAft>
                          <a:spcPts val="1600"/>
                        </a:spcAft>
                        <a:buNone/>
                      </a:pPr>
                      <a:r>
                        <a:rPr lang="en">
                          <a:highlight>
                            <a:srgbClr val="FFFFFF"/>
                          </a:highlight>
                        </a:rPr>
                        <a:t>April tag Generation and comparison of point feature extraction technique</a:t>
                      </a:r>
                      <a:endParaRPr sz="900"/>
                    </a:p>
                  </a:txBody>
                  <a:tcPr marT="91425" marB="91425" marR="91425" marL="91425"/>
                </a:tc>
              </a:tr>
              <a:tr h="833850">
                <a:tc>
                  <a:txBody>
                    <a:bodyPr/>
                    <a:lstStyle/>
                    <a:p>
                      <a:pPr indent="0" lvl="0" marL="0" rtl="0" algn="l">
                        <a:spcBef>
                          <a:spcPts val="0"/>
                        </a:spcBef>
                        <a:spcAft>
                          <a:spcPts val="0"/>
                        </a:spcAft>
                        <a:buNone/>
                      </a:pPr>
                      <a:r>
                        <a:rPr lang="en"/>
                        <a:t>February 2021</a:t>
                      </a:r>
                      <a:endParaRPr/>
                    </a:p>
                  </a:txBody>
                  <a:tcPr marT="91425" marB="91425" marR="91425" marL="91425"/>
                </a:tc>
                <a:tc>
                  <a:txBody>
                    <a:bodyPr/>
                    <a:lstStyle/>
                    <a:p>
                      <a:pPr indent="0" lvl="0" marL="0" rtl="0" algn="just">
                        <a:lnSpc>
                          <a:spcPct val="115000"/>
                        </a:lnSpc>
                        <a:spcBef>
                          <a:spcPts val="0"/>
                        </a:spcBef>
                        <a:spcAft>
                          <a:spcPts val="1600"/>
                        </a:spcAft>
                        <a:buNone/>
                      </a:pPr>
                      <a:r>
                        <a:rPr lang="en">
                          <a:highlight>
                            <a:srgbClr val="FFFFFF"/>
                          </a:highlight>
                        </a:rPr>
                        <a:t>Analogy of point f</a:t>
                      </a:r>
                      <a:r>
                        <a:rPr lang="en">
                          <a:highlight>
                            <a:schemeClr val="lt1"/>
                          </a:highlight>
                        </a:rPr>
                        <a:t>eature extraction technique</a:t>
                      </a:r>
                      <a:endParaRPr sz="900"/>
                    </a:p>
                  </a:txBody>
                  <a:tcPr marT="91425" marB="91425" marR="91425" marL="91425"/>
                </a:tc>
              </a:tr>
              <a:tr h="397600">
                <a:tc>
                  <a:txBody>
                    <a:bodyPr/>
                    <a:lstStyle/>
                    <a:p>
                      <a:pPr indent="0" lvl="0" marL="0" rtl="0" algn="l">
                        <a:spcBef>
                          <a:spcPts val="0"/>
                        </a:spcBef>
                        <a:spcAft>
                          <a:spcPts val="0"/>
                        </a:spcAft>
                        <a:buNone/>
                      </a:pPr>
                      <a:r>
                        <a:rPr lang="en"/>
                        <a:t>March 2021</a:t>
                      </a:r>
                      <a:endParaRPr/>
                    </a:p>
                  </a:txBody>
                  <a:tcPr marT="91425" marB="91425" marR="91425" marL="91425"/>
                </a:tc>
                <a:tc>
                  <a:txBody>
                    <a:bodyPr/>
                    <a:lstStyle/>
                    <a:p>
                      <a:pPr indent="0" lvl="0" marL="0" rtl="0" algn="l">
                        <a:spcBef>
                          <a:spcPts val="0"/>
                        </a:spcBef>
                        <a:spcAft>
                          <a:spcPts val="0"/>
                        </a:spcAft>
                        <a:buNone/>
                      </a:pPr>
                      <a:r>
                        <a:rPr lang="en"/>
                        <a:t>Environment modeling in MATLAB</a:t>
                      </a:r>
                      <a:r>
                        <a:rPr lang="en"/>
                        <a:t>.</a:t>
                      </a:r>
                      <a:endParaRPr/>
                    </a:p>
                  </a:txBody>
                  <a:tcPr marT="91425" marB="91425" marR="91425" marL="91425"/>
                </a:tc>
              </a:tr>
              <a:tr h="833850">
                <a:tc>
                  <a:txBody>
                    <a:bodyPr/>
                    <a:lstStyle/>
                    <a:p>
                      <a:pPr indent="0" lvl="0" marL="0" rtl="0" algn="l">
                        <a:spcBef>
                          <a:spcPts val="0"/>
                        </a:spcBef>
                        <a:spcAft>
                          <a:spcPts val="0"/>
                        </a:spcAft>
                        <a:buNone/>
                      </a:pPr>
                      <a:r>
                        <a:rPr lang="en"/>
                        <a:t>April 2021</a:t>
                      </a:r>
                      <a:endParaRPr/>
                    </a:p>
                  </a:txBody>
                  <a:tcPr marT="91425" marB="91425" marR="91425" marL="91425"/>
                </a:tc>
                <a:tc>
                  <a:txBody>
                    <a:bodyPr/>
                    <a:lstStyle/>
                    <a:p>
                      <a:pPr indent="0" lvl="0" marL="0" rtl="0" algn="just">
                        <a:lnSpc>
                          <a:spcPct val="115000"/>
                        </a:lnSpc>
                        <a:spcBef>
                          <a:spcPts val="0"/>
                        </a:spcBef>
                        <a:spcAft>
                          <a:spcPts val="1600"/>
                        </a:spcAft>
                        <a:buNone/>
                      </a:pPr>
                      <a:r>
                        <a:rPr lang="en">
                          <a:highlight>
                            <a:srgbClr val="FFFFFF"/>
                          </a:highlight>
                        </a:rPr>
                        <a:t>Autonomous Landing </a:t>
                      </a:r>
                      <a:endParaRPr sz="900"/>
                    </a:p>
                  </a:txBody>
                  <a:tcPr marT="91425" marB="91425" marR="91425" marL="91425"/>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6"/>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sp>
        <p:nvSpPr>
          <p:cNvPr id="226" name="Google Shape;226;p36"/>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From the experiments conducted based on </a:t>
            </a:r>
            <a:r>
              <a:rPr lang="en"/>
              <a:t>various</a:t>
            </a:r>
            <a:r>
              <a:rPr lang="en"/>
              <a:t> factors of </a:t>
            </a:r>
            <a:r>
              <a:rPr lang="en"/>
              <a:t>distortion</a:t>
            </a:r>
            <a:r>
              <a:rPr lang="en"/>
              <a:t> in images for the </a:t>
            </a:r>
            <a:r>
              <a:rPr lang="en"/>
              <a:t>feature</a:t>
            </a:r>
            <a:r>
              <a:rPr lang="en"/>
              <a:t> extraction </a:t>
            </a:r>
            <a:r>
              <a:rPr lang="en"/>
              <a:t>techniques</a:t>
            </a:r>
            <a:r>
              <a:rPr lang="en"/>
              <a:t> </a:t>
            </a:r>
            <a:r>
              <a:rPr lang="en"/>
              <a:t>available,</a:t>
            </a:r>
            <a:r>
              <a:rPr lang="en"/>
              <a:t> we </a:t>
            </a:r>
            <a:r>
              <a:rPr lang="en"/>
              <a:t>concluded</a:t>
            </a:r>
            <a:r>
              <a:rPr lang="en"/>
              <a:t> that SURF has the highest efficacy with respect to other available feature extraction algorithms.</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7"/>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Reference</a:t>
            </a:r>
            <a:endParaRPr/>
          </a:p>
        </p:txBody>
      </p:sp>
      <p:sp>
        <p:nvSpPr>
          <p:cNvPr id="232" name="Google Shape;232;p37"/>
          <p:cNvSpPr txBox="1"/>
          <p:nvPr>
            <p:ph idx="1" type="body"/>
          </p:nvPr>
        </p:nvSpPr>
        <p:spPr>
          <a:xfrm>
            <a:off x="311700" y="1266325"/>
            <a:ext cx="8520600" cy="3620400"/>
          </a:xfrm>
          <a:prstGeom prst="rect">
            <a:avLst/>
          </a:prstGeom>
        </p:spPr>
        <p:txBody>
          <a:bodyPr anchorCtr="0" anchor="t" bIns="91425" lIns="91425" spcFirstLastPara="1" rIns="91425" wrap="square" tIns="91425">
            <a:noAutofit/>
          </a:bodyPr>
          <a:lstStyle/>
          <a:p>
            <a:pPr indent="-299878" lvl="0" marL="457200" rtl="0" algn="l">
              <a:lnSpc>
                <a:spcPct val="105000"/>
              </a:lnSpc>
              <a:spcBef>
                <a:spcPts val="0"/>
              </a:spcBef>
              <a:spcAft>
                <a:spcPts val="0"/>
              </a:spcAft>
              <a:buClr>
                <a:srgbClr val="000000"/>
              </a:buClr>
              <a:buSzPts val="1123"/>
              <a:buFont typeface="Georgia"/>
              <a:buChar char="●"/>
            </a:pPr>
            <a:r>
              <a:rPr lang="en" sz="1122">
                <a:solidFill>
                  <a:srgbClr val="000000"/>
                </a:solidFill>
                <a:latin typeface="Georgia"/>
                <a:ea typeface="Georgia"/>
                <a:cs typeface="Georgia"/>
                <a:sym typeface="Georgia"/>
              </a:rPr>
              <a:t>BRISK: Binary Robust Invariant Scalable Keypoints Stefan Leutenegger, Margarita     Chilli and Roland Y. Siegwart Autonomous Systems Lab, ETH Zurich</a:t>
            </a:r>
            <a:endParaRPr sz="1122">
              <a:solidFill>
                <a:srgbClr val="000000"/>
              </a:solidFill>
              <a:latin typeface="Georgia"/>
              <a:ea typeface="Georgia"/>
              <a:cs typeface="Georgia"/>
              <a:sym typeface="Georgia"/>
            </a:endParaRPr>
          </a:p>
          <a:p>
            <a:pPr indent="-299878" lvl="1" marL="914400" rtl="0" algn="l">
              <a:lnSpc>
                <a:spcPct val="105000"/>
              </a:lnSpc>
              <a:spcBef>
                <a:spcPts val="0"/>
              </a:spcBef>
              <a:spcAft>
                <a:spcPts val="0"/>
              </a:spcAft>
              <a:buClr>
                <a:srgbClr val="000000"/>
              </a:buClr>
              <a:buSzPts val="1123"/>
              <a:buFont typeface="Georgia"/>
              <a:buChar char="○"/>
            </a:pPr>
            <a:r>
              <a:t/>
            </a:r>
            <a:endParaRPr sz="1122">
              <a:solidFill>
                <a:srgbClr val="000000"/>
              </a:solidFill>
              <a:latin typeface="Georgia"/>
              <a:ea typeface="Georgia"/>
              <a:cs typeface="Georgia"/>
              <a:sym typeface="Georgia"/>
            </a:endParaRPr>
          </a:p>
          <a:p>
            <a:pPr indent="-299878" lvl="0" marL="457200" rtl="0" algn="l">
              <a:lnSpc>
                <a:spcPct val="105000"/>
              </a:lnSpc>
              <a:spcBef>
                <a:spcPts val="0"/>
              </a:spcBef>
              <a:spcAft>
                <a:spcPts val="0"/>
              </a:spcAft>
              <a:buClr>
                <a:srgbClr val="000000"/>
              </a:buClr>
              <a:buSzPts val="1123"/>
              <a:buFont typeface="Georgia"/>
              <a:buChar char="●"/>
            </a:pPr>
            <a:r>
              <a:rPr lang="en" sz="1122">
                <a:solidFill>
                  <a:srgbClr val="000000"/>
                </a:solidFill>
                <a:latin typeface="Georgia"/>
                <a:ea typeface="Georgia"/>
                <a:cs typeface="Georgia"/>
                <a:sym typeface="Georgia"/>
              </a:rPr>
              <a:t>Leutenegger, Stefan, M.Chli, and R.Siegwart(2011), “BRISK: Binary robust invariant scalable keypoints.”, In Proceedings of “IEEE International Conference on Computer Vision (ICCV)”, pp. 2548-2555.</a:t>
            </a:r>
            <a:endParaRPr sz="1122">
              <a:solidFill>
                <a:srgbClr val="000000"/>
              </a:solidFill>
              <a:latin typeface="Georgia"/>
              <a:ea typeface="Georgia"/>
              <a:cs typeface="Georgia"/>
              <a:sym typeface="Georgia"/>
            </a:endParaRPr>
          </a:p>
          <a:p>
            <a:pPr indent="-299878" lvl="4" marL="2286000" rtl="0" algn="l">
              <a:lnSpc>
                <a:spcPct val="105000"/>
              </a:lnSpc>
              <a:spcBef>
                <a:spcPts val="0"/>
              </a:spcBef>
              <a:spcAft>
                <a:spcPts val="0"/>
              </a:spcAft>
              <a:buClr>
                <a:srgbClr val="000000"/>
              </a:buClr>
              <a:buSzPts val="1123"/>
              <a:buFont typeface="Georgia"/>
              <a:buChar char="○"/>
            </a:pPr>
            <a:r>
              <a:t/>
            </a:r>
            <a:endParaRPr sz="1122">
              <a:solidFill>
                <a:srgbClr val="000000"/>
              </a:solidFill>
              <a:latin typeface="Georgia"/>
              <a:ea typeface="Georgia"/>
              <a:cs typeface="Georgia"/>
              <a:sym typeface="Georgia"/>
            </a:endParaRPr>
          </a:p>
          <a:p>
            <a:pPr indent="-299878" lvl="0" marL="457200" rtl="0" algn="l">
              <a:lnSpc>
                <a:spcPct val="105000"/>
              </a:lnSpc>
              <a:spcBef>
                <a:spcPts val="0"/>
              </a:spcBef>
              <a:spcAft>
                <a:spcPts val="0"/>
              </a:spcAft>
              <a:buClr>
                <a:srgbClr val="000000"/>
              </a:buClr>
              <a:buSzPts val="1123"/>
              <a:buFont typeface="Georgia"/>
              <a:buChar char="●"/>
            </a:pPr>
            <a:r>
              <a:rPr lang="en" sz="1122">
                <a:solidFill>
                  <a:srgbClr val="000000"/>
                </a:solidFill>
                <a:highlight>
                  <a:srgbClr val="FCFCFC"/>
                </a:highlight>
                <a:latin typeface="Georgia"/>
                <a:ea typeface="Georgia"/>
                <a:cs typeface="Georgia"/>
                <a:sym typeface="Georgia"/>
              </a:rPr>
              <a:t>Wu, M. Research on optimization of image fast feature point matching algorithm. </a:t>
            </a:r>
            <a:r>
              <a:rPr i="1" lang="en" sz="1122">
                <a:solidFill>
                  <a:srgbClr val="000000"/>
                </a:solidFill>
                <a:highlight>
                  <a:srgbClr val="FCFCFC"/>
                </a:highlight>
                <a:latin typeface="Georgia"/>
                <a:ea typeface="Georgia"/>
                <a:cs typeface="Georgia"/>
                <a:sym typeface="Georgia"/>
              </a:rPr>
              <a:t>J Image Video Proc.</a:t>
            </a:r>
            <a:r>
              <a:rPr lang="en" sz="1122">
                <a:solidFill>
                  <a:srgbClr val="000000"/>
                </a:solidFill>
                <a:highlight>
                  <a:srgbClr val="FCFCFC"/>
                </a:highlight>
                <a:latin typeface="Georgia"/>
                <a:ea typeface="Georgia"/>
                <a:cs typeface="Georgia"/>
                <a:sym typeface="Georgia"/>
              </a:rPr>
              <a:t> 2018, 106 (2018). https://doi.org/10.1186/s13640-018-0354-y </a:t>
            </a:r>
            <a:endParaRPr sz="1122">
              <a:solidFill>
                <a:srgbClr val="000000"/>
              </a:solidFill>
              <a:highlight>
                <a:srgbClr val="FCFCFC"/>
              </a:highlight>
              <a:latin typeface="Georgia"/>
              <a:ea typeface="Georgia"/>
              <a:cs typeface="Georgia"/>
              <a:sym typeface="Georgia"/>
            </a:endParaRPr>
          </a:p>
          <a:p>
            <a:pPr indent="-299878" lvl="2" marL="1371600" rtl="0" algn="l">
              <a:lnSpc>
                <a:spcPct val="105000"/>
              </a:lnSpc>
              <a:spcBef>
                <a:spcPts val="0"/>
              </a:spcBef>
              <a:spcAft>
                <a:spcPts val="0"/>
              </a:spcAft>
              <a:buClr>
                <a:srgbClr val="333333"/>
              </a:buClr>
              <a:buSzPts val="1123"/>
              <a:buFont typeface="Georgia"/>
              <a:buChar char="■"/>
            </a:pPr>
            <a:r>
              <a:t/>
            </a:r>
            <a:endParaRPr sz="1122">
              <a:solidFill>
                <a:srgbClr val="333333"/>
              </a:solidFill>
              <a:highlight>
                <a:srgbClr val="FCFCFC"/>
              </a:highlight>
              <a:latin typeface="Georgia"/>
              <a:ea typeface="Georgia"/>
              <a:cs typeface="Georgia"/>
              <a:sym typeface="Georgia"/>
            </a:endParaRPr>
          </a:p>
          <a:p>
            <a:pPr indent="-299878" lvl="0" marL="457200" rtl="0" algn="just">
              <a:lnSpc>
                <a:spcPct val="105000"/>
              </a:lnSpc>
              <a:spcBef>
                <a:spcPts val="0"/>
              </a:spcBef>
              <a:spcAft>
                <a:spcPts val="0"/>
              </a:spcAft>
              <a:buClr>
                <a:srgbClr val="000000"/>
              </a:buClr>
              <a:buSzPts val="1123"/>
              <a:buFont typeface="Georgia"/>
              <a:buChar char="●"/>
            </a:pPr>
            <a:r>
              <a:rPr lang="en" sz="1122">
                <a:solidFill>
                  <a:srgbClr val="000000"/>
                </a:solidFill>
                <a:latin typeface="Georgia"/>
                <a:ea typeface="Georgia"/>
                <a:cs typeface="Georgia"/>
                <a:sym typeface="Georgia"/>
              </a:rPr>
              <a:t>Zeng, Yonghong &amp; Liang, Ying-Chang. (2007). Maximum-Minimum Eigenvalue     Detection for Cognitive Radio. 1 - 5. 10.1109/PIMRC.2007.4394211. </a:t>
            </a:r>
            <a:endParaRPr sz="1122">
              <a:solidFill>
                <a:srgbClr val="000000"/>
              </a:solidFill>
              <a:latin typeface="Georgia"/>
              <a:ea typeface="Georgia"/>
              <a:cs typeface="Georgia"/>
              <a:sym typeface="Georgia"/>
            </a:endParaRPr>
          </a:p>
          <a:p>
            <a:pPr indent="-299878" lvl="2" marL="1371600" rtl="0" algn="just">
              <a:lnSpc>
                <a:spcPct val="105000"/>
              </a:lnSpc>
              <a:spcBef>
                <a:spcPts val="0"/>
              </a:spcBef>
              <a:spcAft>
                <a:spcPts val="0"/>
              </a:spcAft>
              <a:buClr>
                <a:srgbClr val="000000"/>
              </a:buClr>
              <a:buSzPts val="1123"/>
              <a:buFont typeface="Georgia"/>
              <a:buChar char="■"/>
            </a:pPr>
            <a:r>
              <a:t/>
            </a:r>
            <a:endParaRPr sz="1122">
              <a:solidFill>
                <a:srgbClr val="000000"/>
              </a:solidFill>
              <a:latin typeface="Georgia"/>
              <a:ea typeface="Georgia"/>
              <a:cs typeface="Georgia"/>
              <a:sym typeface="Georgia"/>
            </a:endParaRPr>
          </a:p>
          <a:p>
            <a:pPr indent="-299878" lvl="0" marL="457200" rtl="0" algn="l">
              <a:lnSpc>
                <a:spcPct val="105000"/>
              </a:lnSpc>
              <a:spcBef>
                <a:spcPts val="0"/>
              </a:spcBef>
              <a:spcAft>
                <a:spcPts val="0"/>
              </a:spcAft>
              <a:buClr>
                <a:srgbClr val="000000"/>
              </a:buClr>
              <a:buSzPts val="1123"/>
              <a:buFont typeface="Georgia"/>
              <a:buChar char="●"/>
            </a:pPr>
            <a:r>
              <a:rPr lang="en" sz="1122">
                <a:solidFill>
                  <a:srgbClr val="000000"/>
                </a:solidFill>
                <a:latin typeface="Georgia"/>
                <a:ea typeface="Georgia"/>
                <a:cs typeface="Georgia"/>
                <a:sym typeface="Georgia"/>
              </a:rPr>
              <a:t>P.-E. Forssen(2007), “Maximally stable colour regions for recognition and matching,” In Proceedings of “IEEE Conference on Computer Vision and Pattern Recognition”, Minneapolis, USA.</a:t>
            </a:r>
            <a:endParaRPr sz="1122">
              <a:solidFill>
                <a:srgbClr val="000000"/>
              </a:solidFill>
              <a:latin typeface="Georgia"/>
              <a:ea typeface="Georgia"/>
              <a:cs typeface="Georgia"/>
              <a:sym typeface="Georgia"/>
            </a:endParaRPr>
          </a:p>
          <a:p>
            <a:pPr indent="-299878" lvl="2" marL="1371600" rtl="0" algn="l">
              <a:lnSpc>
                <a:spcPct val="105000"/>
              </a:lnSpc>
              <a:spcBef>
                <a:spcPts val="0"/>
              </a:spcBef>
              <a:spcAft>
                <a:spcPts val="0"/>
              </a:spcAft>
              <a:buClr>
                <a:srgbClr val="000000"/>
              </a:buClr>
              <a:buSzPts val="1123"/>
              <a:buFont typeface="Georgia"/>
              <a:buChar char="■"/>
            </a:pPr>
            <a:r>
              <a:t/>
            </a:r>
            <a:endParaRPr sz="1122">
              <a:solidFill>
                <a:srgbClr val="000000"/>
              </a:solidFill>
              <a:latin typeface="Georgia"/>
              <a:ea typeface="Georgia"/>
              <a:cs typeface="Georgia"/>
              <a:sym typeface="Georgia"/>
            </a:endParaRPr>
          </a:p>
          <a:p>
            <a:pPr indent="-299878" lvl="0" marL="457200" rtl="0" algn="l">
              <a:lnSpc>
                <a:spcPct val="105000"/>
              </a:lnSpc>
              <a:spcBef>
                <a:spcPts val="0"/>
              </a:spcBef>
              <a:spcAft>
                <a:spcPts val="0"/>
              </a:spcAft>
              <a:buSzPts val="1123"/>
              <a:buFont typeface="Georgia"/>
              <a:buChar char="●"/>
            </a:pPr>
            <a:r>
              <a:rPr lang="en" sz="1122">
                <a:solidFill>
                  <a:srgbClr val="000000"/>
                </a:solidFill>
                <a:highlight>
                  <a:srgbClr val="FCFCFC"/>
                </a:highlight>
                <a:latin typeface="Georgia"/>
                <a:ea typeface="Georgia"/>
                <a:cs typeface="Georgia"/>
                <a:sym typeface="Georgia"/>
              </a:rPr>
              <a:t>Donoser, Michael &amp; Bischof, Horst. (2006). Efficient Maximally Stable Extremal Region (MSER) Tracking.IEEE Comp. Soc. Conf. Comp. Vis. Pattern Recogn. 1.553-560.10.1109/CVPR.2006.107</a:t>
            </a:r>
            <a:r>
              <a:rPr lang="en" sz="1122">
                <a:solidFill>
                  <a:srgbClr val="333333"/>
                </a:solidFill>
                <a:highlight>
                  <a:srgbClr val="FCFCFC"/>
                </a:highlight>
                <a:latin typeface="Georgia"/>
                <a:ea typeface="Georgia"/>
                <a:cs typeface="Georgia"/>
                <a:sym typeface="Georgia"/>
              </a:rPr>
              <a:t>. </a:t>
            </a:r>
            <a:endParaRPr sz="1122">
              <a:solidFill>
                <a:srgbClr val="333333"/>
              </a:solidFill>
              <a:highlight>
                <a:srgbClr val="FCFCFC"/>
              </a:highlight>
              <a:latin typeface="Georgia"/>
              <a:ea typeface="Georgia"/>
              <a:cs typeface="Georgia"/>
              <a:sym typeface="Georgia"/>
            </a:endParaRPr>
          </a:p>
          <a:p>
            <a:pPr indent="-299878" lvl="2" marL="1371600" rtl="0" algn="l">
              <a:lnSpc>
                <a:spcPct val="105000"/>
              </a:lnSpc>
              <a:spcBef>
                <a:spcPts val="0"/>
              </a:spcBef>
              <a:spcAft>
                <a:spcPts val="0"/>
              </a:spcAft>
              <a:buClr>
                <a:srgbClr val="333333"/>
              </a:buClr>
              <a:buSzPts val="1123"/>
              <a:buFont typeface="Georgia"/>
              <a:buChar char="■"/>
            </a:pPr>
            <a:r>
              <a:t/>
            </a:r>
            <a:endParaRPr sz="1122">
              <a:solidFill>
                <a:srgbClr val="333333"/>
              </a:solidFill>
              <a:highlight>
                <a:srgbClr val="FCFCFC"/>
              </a:highlight>
              <a:latin typeface="Georgia"/>
              <a:ea typeface="Georgia"/>
              <a:cs typeface="Georgia"/>
              <a:sym typeface="Georgia"/>
            </a:endParaRPr>
          </a:p>
          <a:p>
            <a:pPr indent="-299878" lvl="0" marL="457200" rtl="0" algn="l">
              <a:lnSpc>
                <a:spcPct val="105000"/>
              </a:lnSpc>
              <a:spcBef>
                <a:spcPts val="0"/>
              </a:spcBef>
              <a:spcAft>
                <a:spcPts val="0"/>
              </a:spcAft>
              <a:buClr>
                <a:srgbClr val="000000"/>
              </a:buClr>
              <a:buSzPts val="1123"/>
              <a:buFont typeface="Georgia"/>
              <a:buChar char="●"/>
            </a:pPr>
            <a:r>
              <a:rPr lang="en" sz="1122">
                <a:solidFill>
                  <a:srgbClr val="000000"/>
                </a:solidFill>
                <a:latin typeface="Georgia"/>
                <a:ea typeface="Georgia"/>
                <a:cs typeface="Georgia"/>
                <a:sym typeface="Georgia"/>
              </a:rPr>
              <a:t>ORB: an efficient alternative to SIFT or SURF, Ethan Rublee Vincent Rabaud Kurt Konolige Gary Bradski</a:t>
            </a:r>
            <a:endParaRPr sz="1122">
              <a:solidFill>
                <a:srgbClr val="000000"/>
              </a:solidFill>
              <a:latin typeface="Georgia"/>
              <a:ea typeface="Georgia"/>
              <a:cs typeface="Georgia"/>
              <a:sym typeface="Georgia"/>
            </a:endParaRPr>
          </a:p>
          <a:p>
            <a:pPr indent="0" lvl="0" marL="0" rtl="0" algn="l">
              <a:lnSpc>
                <a:spcPct val="105000"/>
              </a:lnSpc>
              <a:spcBef>
                <a:spcPts val="0"/>
              </a:spcBef>
              <a:spcAft>
                <a:spcPts val="0"/>
              </a:spcAft>
              <a:buNone/>
            </a:pPr>
            <a:r>
              <a:t/>
            </a:r>
            <a:endParaRPr/>
          </a:p>
          <a:p>
            <a:pPr indent="0" lvl="0" marL="457200" rtl="0" algn="l">
              <a:lnSpc>
                <a:spcPct val="105000"/>
              </a:lnSpc>
              <a:spcBef>
                <a:spcPts val="0"/>
              </a:spcBef>
              <a:spcAft>
                <a:spcPts val="0"/>
              </a:spcAft>
              <a:buNone/>
            </a:pPr>
            <a:r>
              <a:t/>
            </a:r>
            <a:endParaRPr sz="1122">
              <a:solidFill>
                <a:srgbClr val="000000"/>
              </a:solidFill>
              <a:latin typeface="Georgia"/>
              <a:ea typeface="Georgia"/>
              <a:cs typeface="Georgia"/>
              <a:sym typeface="Georgia"/>
            </a:endParaRPr>
          </a:p>
          <a:p>
            <a:pPr indent="0" lvl="0" marL="457200" rtl="0" algn="l">
              <a:lnSpc>
                <a:spcPct val="105000"/>
              </a:lnSpc>
              <a:spcBef>
                <a:spcPts val="0"/>
              </a:spcBef>
              <a:spcAft>
                <a:spcPts val="0"/>
              </a:spcAft>
              <a:buSzPts val="523"/>
              <a:buNone/>
            </a:pPr>
            <a:r>
              <a:t/>
            </a:r>
            <a:endParaRPr sz="1122">
              <a:solidFill>
                <a:srgbClr val="000000"/>
              </a:solidFill>
              <a:latin typeface="Georgia"/>
              <a:ea typeface="Georgia"/>
              <a:cs typeface="Georgia"/>
              <a:sym typeface="Georgia"/>
            </a:endParaRPr>
          </a:p>
          <a:p>
            <a:pPr indent="0" lvl="0" marL="457200" rtl="0" algn="l">
              <a:lnSpc>
                <a:spcPct val="105000"/>
              </a:lnSpc>
              <a:spcBef>
                <a:spcPts val="0"/>
              </a:spcBef>
              <a:spcAft>
                <a:spcPts val="0"/>
              </a:spcAft>
              <a:buSzPts val="523"/>
              <a:buNone/>
            </a:pPr>
            <a:r>
              <a:t/>
            </a:r>
            <a:endParaRPr sz="1455"/>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8"/>
          <p:cNvSpPr txBox="1"/>
          <p:nvPr>
            <p:ph idx="1" type="body"/>
          </p:nvPr>
        </p:nvSpPr>
        <p:spPr>
          <a:xfrm>
            <a:off x="311700" y="266550"/>
            <a:ext cx="8520600" cy="4302600"/>
          </a:xfrm>
          <a:prstGeom prst="rect">
            <a:avLst/>
          </a:prstGeom>
        </p:spPr>
        <p:txBody>
          <a:bodyPr anchorCtr="0" anchor="t" bIns="91425" lIns="91425" spcFirstLastPara="1" rIns="91425" wrap="square" tIns="91425">
            <a:normAutofit fontScale="92500" lnSpcReduction="20000"/>
          </a:bodyPr>
          <a:lstStyle/>
          <a:p>
            <a:pPr indent="-294532" lvl="0" marL="457200" rtl="0" algn="l">
              <a:lnSpc>
                <a:spcPct val="105000"/>
              </a:lnSpc>
              <a:spcBef>
                <a:spcPts val="0"/>
              </a:spcBef>
              <a:spcAft>
                <a:spcPts val="0"/>
              </a:spcAft>
              <a:buClr>
                <a:srgbClr val="000000"/>
              </a:buClr>
              <a:buSzPct val="100000"/>
              <a:buFont typeface="Georgia"/>
              <a:buChar char="●"/>
            </a:pPr>
            <a:r>
              <a:rPr lang="en" sz="1122">
                <a:solidFill>
                  <a:srgbClr val="000000"/>
                </a:solidFill>
                <a:latin typeface="Georgia"/>
                <a:ea typeface="Georgia"/>
                <a:cs typeface="Georgia"/>
                <a:sym typeface="Georgia"/>
              </a:rPr>
              <a:t>Speeded-Up Robust Feature Extraction and Matching for Fingerprint Recognition, Umma Hany; Lutfa Akter; 2nd Int'l Conf. on   Electrical Engineering and Information &amp; Communication Technology (ICEEICT) 2015 Jahangirnagar University, Dhaka-1342, Bangladesh, 21-23 May 2015</a:t>
            </a:r>
            <a:endParaRPr sz="1122">
              <a:solidFill>
                <a:srgbClr val="000000"/>
              </a:solidFill>
              <a:latin typeface="Georgia"/>
              <a:ea typeface="Georgia"/>
              <a:cs typeface="Georgia"/>
              <a:sym typeface="Georgia"/>
            </a:endParaRPr>
          </a:p>
          <a:p>
            <a:pPr indent="-294532" lvl="4" marL="2286000" rtl="0" algn="l">
              <a:lnSpc>
                <a:spcPct val="105000"/>
              </a:lnSpc>
              <a:spcBef>
                <a:spcPts val="0"/>
              </a:spcBef>
              <a:spcAft>
                <a:spcPts val="0"/>
              </a:spcAft>
              <a:buClr>
                <a:srgbClr val="000000"/>
              </a:buClr>
              <a:buSzPct val="100000"/>
              <a:buFont typeface="Georgia"/>
              <a:buChar char="○"/>
            </a:pPr>
            <a:r>
              <a:t/>
            </a:r>
            <a:endParaRPr sz="1122">
              <a:solidFill>
                <a:srgbClr val="000000"/>
              </a:solidFill>
              <a:latin typeface="Georgia"/>
              <a:ea typeface="Georgia"/>
              <a:cs typeface="Georgia"/>
              <a:sym typeface="Georgia"/>
            </a:endParaRPr>
          </a:p>
          <a:p>
            <a:pPr indent="-294532" lvl="0" marL="457200" rtl="0" algn="l">
              <a:lnSpc>
                <a:spcPct val="105000"/>
              </a:lnSpc>
              <a:spcBef>
                <a:spcPts val="0"/>
              </a:spcBef>
              <a:spcAft>
                <a:spcPts val="0"/>
              </a:spcAft>
              <a:buClr>
                <a:srgbClr val="000000"/>
              </a:buClr>
              <a:buSzPct val="100000"/>
              <a:buFont typeface="Georgia"/>
              <a:buChar char="●"/>
            </a:pPr>
            <a:r>
              <a:rPr lang="en" sz="1122">
                <a:solidFill>
                  <a:srgbClr val="000000"/>
                </a:solidFill>
                <a:latin typeface="Georgia"/>
                <a:ea typeface="Georgia"/>
                <a:cs typeface="Georgia"/>
                <a:sym typeface="Georgia"/>
              </a:rPr>
              <a:t>H. Bay, A. Ess, T. Tuytelaars, L. Van Gool(2008), “SURF: Speeded Up Robust Features, “Computer Vision and Image Understanding, vol. 110(3), pp. 346–359.</a:t>
            </a:r>
            <a:endParaRPr sz="1122">
              <a:solidFill>
                <a:srgbClr val="000000"/>
              </a:solidFill>
              <a:latin typeface="Georgia"/>
              <a:ea typeface="Georgia"/>
              <a:cs typeface="Georgia"/>
              <a:sym typeface="Georgia"/>
            </a:endParaRPr>
          </a:p>
          <a:p>
            <a:pPr indent="-294532" lvl="4" marL="2286000" rtl="0" algn="l">
              <a:lnSpc>
                <a:spcPct val="105000"/>
              </a:lnSpc>
              <a:spcBef>
                <a:spcPts val="0"/>
              </a:spcBef>
              <a:spcAft>
                <a:spcPts val="0"/>
              </a:spcAft>
              <a:buClr>
                <a:srgbClr val="000000"/>
              </a:buClr>
              <a:buSzPct val="100000"/>
              <a:buFont typeface="Georgia"/>
              <a:buChar char="○"/>
            </a:pPr>
            <a:r>
              <a:t/>
            </a:r>
            <a:endParaRPr sz="1122">
              <a:solidFill>
                <a:srgbClr val="000000"/>
              </a:solidFill>
              <a:latin typeface="Georgia"/>
              <a:ea typeface="Georgia"/>
              <a:cs typeface="Georgia"/>
              <a:sym typeface="Georgia"/>
            </a:endParaRPr>
          </a:p>
          <a:p>
            <a:pPr indent="-294532" lvl="0" marL="457200" rtl="0" algn="l">
              <a:lnSpc>
                <a:spcPct val="105000"/>
              </a:lnSpc>
              <a:spcBef>
                <a:spcPts val="0"/>
              </a:spcBef>
              <a:spcAft>
                <a:spcPts val="0"/>
              </a:spcAft>
              <a:buClr>
                <a:srgbClr val="000000"/>
              </a:buClr>
              <a:buSzPct val="100000"/>
              <a:buFont typeface="Georgia"/>
              <a:buChar char="●"/>
            </a:pPr>
            <a:r>
              <a:rPr lang="en" sz="1122">
                <a:solidFill>
                  <a:srgbClr val="000000"/>
                </a:solidFill>
                <a:latin typeface="Georgia"/>
                <a:ea typeface="Georgia"/>
                <a:cs typeface="Georgia"/>
                <a:sym typeface="Georgia"/>
              </a:rPr>
              <a:t>Harris and M. Stephens (1988), “A combined corner and edge detector”, (PDF), In: Proceedings of Alvey Vision Conference, pp. 147–151.</a:t>
            </a:r>
            <a:endParaRPr sz="1122">
              <a:solidFill>
                <a:srgbClr val="000000"/>
              </a:solidFill>
              <a:latin typeface="Georgia"/>
              <a:ea typeface="Georgia"/>
              <a:cs typeface="Georgia"/>
              <a:sym typeface="Georgia"/>
            </a:endParaRPr>
          </a:p>
          <a:p>
            <a:pPr indent="-294532" lvl="4" marL="2286000" rtl="0" algn="l">
              <a:lnSpc>
                <a:spcPct val="105000"/>
              </a:lnSpc>
              <a:spcBef>
                <a:spcPts val="0"/>
              </a:spcBef>
              <a:spcAft>
                <a:spcPts val="0"/>
              </a:spcAft>
              <a:buClr>
                <a:srgbClr val="000000"/>
              </a:buClr>
              <a:buSzPct val="100000"/>
              <a:buFont typeface="Georgia"/>
              <a:buChar char="○"/>
            </a:pPr>
            <a:r>
              <a:t/>
            </a:r>
            <a:endParaRPr sz="1122">
              <a:solidFill>
                <a:srgbClr val="000000"/>
              </a:solidFill>
              <a:latin typeface="Georgia"/>
              <a:ea typeface="Georgia"/>
              <a:cs typeface="Georgia"/>
              <a:sym typeface="Georgia"/>
            </a:endParaRPr>
          </a:p>
          <a:p>
            <a:pPr indent="-294532" lvl="0" marL="457200" rtl="0" algn="l">
              <a:lnSpc>
                <a:spcPct val="105000"/>
              </a:lnSpc>
              <a:spcBef>
                <a:spcPts val="0"/>
              </a:spcBef>
              <a:spcAft>
                <a:spcPts val="0"/>
              </a:spcAft>
              <a:buClr>
                <a:srgbClr val="000000"/>
              </a:buClr>
              <a:buSzPct val="100000"/>
              <a:buFont typeface="Georgia"/>
              <a:buChar char="●"/>
            </a:pPr>
            <a:r>
              <a:rPr lang="en" sz="1122">
                <a:solidFill>
                  <a:srgbClr val="000000"/>
                </a:solidFill>
                <a:latin typeface="Georgia"/>
                <a:ea typeface="Georgia"/>
                <a:cs typeface="Georgia"/>
                <a:sym typeface="Georgia"/>
              </a:rPr>
              <a:t>Evaluating Harris Method in Camera Calibration OUYANG Cheng, WANG Guangzhi, ZHANG Quan, KANG Wei, DING Hui, Proceedings of the 2005 IEEE Engineering in Medicine and Biology 27th Annual Conference Shanghai, China, September 1-4, 2005</a:t>
            </a:r>
            <a:endParaRPr sz="1122">
              <a:solidFill>
                <a:srgbClr val="000000"/>
              </a:solidFill>
              <a:latin typeface="Georgia"/>
              <a:ea typeface="Georgia"/>
              <a:cs typeface="Georgia"/>
              <a:sym typeface="Georgia"/>
            </a:endParaRPr>
          </a:p>
          <a:p>
            <a:pPr indent="-294532" lvl="4" marL="2286000" rtl="0" algn="l">
              <a:lnSpc>
                <a:spcPct val="105000"/>
              </a:lnSpc>
              <a:spcBef>
                <a:spcPts val="0"/>
              </a:spcBef>
              <a:spcAft>
                <a:spcPts val="0"/>
              </a:spcAft>
              <a:buClr>
                <a:srgbClr val="000000"/>
              </a:buClr>
              <a:buSzPct val="100000"/>
              <a:buFont typeface="Georgia"/>
              <a:buChar char="○"/>
            </a:pPr>
            <a:r>
              <a:t/>
            </a:r>
            <a:endParaRPr sz="1122">
              <a:solidFill>
                <a:srgbClr val="000000"/>
              </a:solidFill>
              <a:latin typeface="Georgia"/>
              <a:ea typeface="Georgia"/>
              <a:cs typeface="Georgia"/>
              <a:sym typeface="Georgia"/>
            </a:endParaRPr>
          </a:p>
          <a:p>
            <a:pPr indent="-294532" lvl="0" marL="457200" rtl="0" algn="l">
              <a:lnSpc>
                <a:spcPct val="105000"/>
              </a:lnSpc>
              <a:spcBef>
                <a:spcPts val="0"/>
              </a:spcBef>
              <a:spcAft>
                <a:spcPts val="0"/>
              </a:spcAft>
              <a:buClr>
                <a:srgbClr val="000000"/>
              </a:buClr>
              <a:buSzPct val="100000"/>
              <a:buFont typeface="Georgia"/>
              <a:buChar char="●"/>
            </a:pPr>
            <a:r>
              <a:rPr lang="en" sz="1122">
                <a:solidFill>
                  <a:srgbClr val="000000"/>
                </a:solidFill>
                <a:highlight>
                  <a:srgbClr val="FCFCFC"/>
                </a:highlight>
                <a:latin typeface="Georgia"/>
                <a:ea typeface="Georgia"/>
                <a:cs typeface="Georgia"/>
                <a:sym typeface="Georgia"/>
              </a:rPr>
              <a:t>Kok, Kai Yit &amp; Rajendran, Parvathy. (2018). Validation of Harris Detector and Eigen Features Detector. IOP Conference Series Materials Science and Engineering. 370. 10.1088/1757-899X/370/1/012013. </a:t>
            </a:r>
            <a:endParaRPr sz="1122">
              <a:solidFill>
                <a:srgbClr val="000000"/>
              </a:solidFill>
              <a:highlight>
                <a:srgbClr val="FCFCFC"/>
              </a:highlight>
              <a:latin typeface="Georgia"/>
              <a:ea typeface="Georgia"/>
              <a:cs typeface="Georgia"/>
              <a:sym typeface="Georgia"/>
            </a:endParaRPr>
          </a:p>
          <a:p>
            <a:pPr indent="-294532" lvl="4" marL="2286000" rtl="0" algn="l">
              <a:lnSpc>
                <a:spcPct val="105000"/>
              </a:lnSpc>
              <a:spcBef>
                <a:spcPts val="0"/>
              </a:spcBef>
              <a:spcAft>
                <a:spcPts val="0"/>
              </a:spcAft>
              <a:buClr>
                <a:srgbClr val="000000"/>
              </a:buClr>
              <a:buSzPct val="100000"/>
              <a:buFont typeface="Georgia"/>
              <a:buChar char="○"/>
            </a:pPr>
            <a:r>
              <a:t/>
            </a:r>
            <a:endParaRPr sz="1122">
              <a:solidFill>
                <a:srgbClr val="000000"/>
              </a:solidFill>
              <a:highlight>
                <a:srgbClr val="FCFCFC"/>
              </a:highlight>
              <a:latin typeface="Georgia"/>
              <a:ea typeface="Georgia"/>
              <a:cs typeface="Georgia"/>
              <a:sym typeface="Georgia"/>
            </a:endParaRPr>
          </a:p>
          <a:p>
            <a:pPr indent="-294532" lvl="0" marL="457200" rtl="0" algn="l">
              <a:lnSpc>
                <a:spcPct val="105000"/>
              </a:lnSpc>
              <a:spcBef>
                <a:spcPts val="0"/>
              </a:spcBef>
              <a:spcAft>
                <a:spcPts val="0"/>
              </a:spcAft>
              <a:buClr>
                <a:srgbClr val="000000"/>
              </a:buClr>
              <a:buSzPct val="100000"/>
              <a:buFont typeface="Georgia"/>
              <a:buChar char="●"/>
            </a:pPr>
            <a:r>
              <a:rPr lang="en" sz="1122">
                <a:solidFill>
                  <a:srgbClr val="000000"/>
                </a:solidFill>
                <a:highlight>
                  <a:srgbClr val="FCFCFC"/>
                </a:highlight>
                <a:latin typeface="Georgia"/>
                <a:ea typeface="Georgia"/>
                <a:cs typeface="Georgia"/>
                <a:sym typeface="Georgia"/>
              </a:rPr>
              <a:t>Alcantarilla P.F., Bartoli A., Davison A.J. (2012) KAZE Features. In: Fitzgibbon A., Lazebnik S., Perona P., Sato Y., Schmid C. (eds) Computer Vision – ECCV 2012. ECCV 2012. Lecture Notes in Computer Science, vol 7577. Springer, Berlin, Heidelberg. https://doi.org/10.1007/978-3-642-33783-3_16</a:t>
            </a:r>
            <a:endParaRPr sz="1122">
              <a:solidFill>
                <a:srgbClr val="000000"/>
              </a:solidFill>
              <a:latin typeface="Georgia"/>
              <a:ea typeface="Georgia"/>
              <a:cs typeface="Georgia"/>
              <a:sym typeface="Georgia"/>
            </a:endParaRPr>
          </a:p>
          <a:p>
            <a:pPr indent="-294532" lvl="4" marL="2286000" rtl="0" algn="l">
              <a:lnSpc>
                <a:spcPct val="105000"/>
              </a:lnSpc>
              <a:spcBef>
                <a:spcPts val="0"/>
              </a:spcBef>
              <a:spcAft>
                <a:spcPts val="0"/>
              </a:spcAft>
              <a:buClr>
                <a:srgbClr val="000000"/>
              </a:buClr>
              <a:buSzPct val="100000"/>
              <a:buFont typeface="Georgia"/>
              <a:buChar char="○"/>
            </a:pPr>
            <a:r>
              <a:t/>
            </a:r>
            <a:endParaRPr sz="1122">
              <a:solidFill>
                <a:srgbClr val="000000"/>
              </a:solidFill>
              <a:latin typeface="Georgia"/>
              <a:ea typeface="Georgia"/>
              <a:cs typeface="Georgia"/>
              <a:sym typeface="Georgia"/>
            </a:endParaRPr>
          </a:p>
          <a:p>
            <a:pPr indent="-294532" lvl="0" marL="457200" rtl="0" algn="l">
              <a:lnSpc>
                <a:spcPct val="105000"/>
              </a:lnSpc>
              <a:spcBef>
                <a:spcPts val="0"/>
              </a:spcBef>
              <a:spcAft>
                <a:spcPts val="0"/>
              </a:spcAft>
              <a:buClr>
                <a:srgbClr val="000000"/>
              </a:buClr>
              <a:buSzPct val="100000"/>
              <a:buFont typeface="Georgia"/>
              <a:buChar char="●"/>
            </a:pPr>
            <a:r>
              <a:rPr lang="en" sz="1122">
                <a:solidFill>
                  <a:srgbClr val="000000"/>
                </a:solidFill>
                <a:latin typeface="Georgia"/>
                <a:ea typeface="Georgia"/>
                <a:cs typeface="Georgia"/>
                <a:sym typeface="Georgia"/>
              </a:rPr>
              <a:t>Comparison and Study of Classic Feature Point Detection Algorithm Daguang Jiang, Junkai Yi 2012 International Conference on Computer Science and Service System</a:t>
            </a:r>
            <a:endParaRPr sz="1122">
              <a:solidFill>
                <a:srgbClr val="000000"/>
              </a:solidFill>
              <a:latin typeface="Georgia"/>
              <a:ea typeface="Georgia"/>
              <a:cs typeface="Georgia"/>
              <a:sym typeface="Georgia"/>
            </a:endParaRPr>
          </a:p>
          <a:p>
            <a:pPr indent="-294532" lvl="2" marL="1371600" rtl="0" algn="l">
              <a:lnSpc>
                <a:spcPct val="105000"/>
              </a:lnSpc>
              <a:spcBef>
                <a:spcPts val="0"/>
              </a:spcBef>
              <a:spcAft>
                <a:spcPts val="0"/>
              </a:spcAft>
              <a:buClr>
                <a:srgbClr val="000000"/>
              </a:buClr>
              <a:buSzPct val="100000"/>
              <a:buFont typeface="Georgia"/>
              <a:buChar char="■"/>
            </a:pPr>
            <a:r>
              <a:t/>
            </a:r>
            <a:endParaRPr sz="1122">
              <a:solidFill>
                <a:srgbClr val="000000"/>
              </a:solidFill>
              <a:latin typeface="Georgia"/>
              <a:ea typeface="Georgia"/>
              <a:cs typeface="Georgia"/>
              <a:sym typeface="Georgia"/>
            </a:endParaRPr>
          </a:p>
          <a:p>
            <a:pPr indent="-294532" lvl="0" marL="457200" rtl="0" algn="l">
              <a:lnSpc>
                <a:spcPct val="105000"/>
              </a:lnSpc>
              <a:spcBef>
                <a:spcPts val="0"/>
              </a:spcBef>
              <a:spcAft>
                <a:spcPts val="0"/>
              </a:spcAft>
              <a:buClr>
                <a:srgbClr val="000000"/>
              </a:buClr>
              <a:buSzPct val="100000"/>
              <a:buFont typeface="Georgia"/>
              <a:buChar char="●"/>
            </a:pPr>
            <a:r>
              <a:rPr lang="en" sz="1122">
                <a:solidFill>
                  <a:srgbClr val="000000"/>
                </a:solidFill>
                <a:latin typeface="Georgia"/>
                <a:ea typeface="Georgia"/>
                <a:cs typeface="Georgia"/>
                <a:sym typeface="Georgia"/>
              </a:rPr>
              <a:t>Performance Evaluation of Various Feature detection Algorithms in VSLAM, S.SriVidhya, Prakash S, ISSN - 2250-1991 | IF 5.215 | IC Value: 79.96, PARIPEX - INDIAN JOURNAL OF RESEARCH</a:t>
            </a:r>
            <a:endParaRPr sz="1122">
              <a:solidFill>
                <a:srgbClr val="000000"/>
              </a:solidFill>
              <a:latin typeface="Georgia"/>
              <a:ea typeface="Georgia"/>
              <a:cs typeface="Georgia"/>
              <a:sym typeface="Georgia"/>
            </a:endParaRPr>
          </a:p>
          <a:p>
            <a:pPr indent="-294532" lvl="4" marL="2286000" rtl="0" algn="l">
              <a:lnSpc>
                <a:spcPct val="105000"/>
              </a:lnSpc>
              <a:spcBef>
                <a:spcPts val="0"/>
              </a:spcBef>
              <a:spcAft>
                <a:spcPts val="0"/>
              </a:spcAft>
              <a:buClr>
                <a:srgbClr val="000000"/>
              </a:buClr>
              <a:buSzPct val="100000"/>
              <a:buFont typeface="Georgia"/>
              <a:buChar char="○"/>
            </a:pPr>
            <a:r>
              <a:t/>
            </a:r>
            <a:endParaRPr sz="1122">
              <a:solidFill>
                <a:srgbClr val="000000"/>
              </a:solidFill>
              <a:latin typeface="Georgia"/>
              <a:ea typeface="Georgia"/>
              <a:cs typeface="Georgia"/>
              <a:sym typeface="Georgia"/>
            </a:endParaRPr>
          </a:p>
          <a:p>
            <a:pPr indent="-294532" lvl="0" marL="457200" rtl="0" algn="l">
              <a:lnSpc>
                <a:spcPct val="105000"/>
              </a:lnSpc>
              <a:spcBef>
                <a:spcPts val="0"/>
              </a:spcBef>
              <a:spcAft>
                <a:spcPts val="0"/>
              </a:spcAft>
              <a:buClr>
                <a:srgbClr val="000000"/>
              </a:buClr>
              <a:buSzPct val="100000"/>
              <a:buFont typeface="Georgia"/>
              <a:buChar char="●"/>
            </a:pPr>
            <a:r>
              <a:rPr lang="en" sz="1122">
                <a:solidFill>
                  <a:srgbClr val="000000"/>
                </a:solidFill>
                <a:latin typeface="Georgia"/>
                <a:ea typeface="Georgia"/>
                <a:cs typeface="Georgia"/>
                <a:sym typeface="Georgia"/>
              </a:rPr>
              <a:t>J. Bauer, H. Bischof, A. Klaus, K. Karner(2004), “Robust and fully automated image registration using invariant features,” ISPRS, DVD Proc, pp. 12–23.</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