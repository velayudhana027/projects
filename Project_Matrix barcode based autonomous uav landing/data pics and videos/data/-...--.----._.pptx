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Montserrat"/>
      <p:regular r:id="rId10"/>
      <p:bold r:id="rId11"/>
      <p:italic r:id="rId12"/>
      <p:boldItalic r:id="rId13"/>
    </p:embeddedFont>
    <p:embeddedFont>
      <p:font typeface="La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bold.fntdata"/><Relationship Id="rId10" Type="http://schemas.openxmlformats.org/officeDocument/2006/relationships/font" Target="fonts/Montserrat-regular.fntdata"/><Relationship Id="rId13" Type="http://schemas.openxmlformats.org/officeDocument/2006/relationships/font" Target="fonts/Montserrat-boldItalic.fntdata"/><Relationship Id="rId12"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bold.fntdata"/><Relationship Id="rId14" Type="http://schemas.openxmlformats.org/officeDocument/2006/relationships/font" Target="fonts/Lato-regular.fntdata"/><Relationship Id="rId17" Type="http://schemas.openxmlformats.org/officeDocument/2006/relationships/font" Target="fonts/Lato-boldItalic.fntdata"/><Relationship Id="rId16"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a0d268e0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a0d268e0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a0d268e01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a0d268e01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a0d268e01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a0d268e01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mathworks.com/discovery/object-dete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DETECTION, LOCALISATION  and TRACKING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139700" marR="139700" rtl="0" algn="l">
              <a:lnSpc>
                <a:spcPct val="121000"/>
              </a:lnSpc>
              <a:spcBef>
                <a:spcPts val="0"/>
              </a:spcBef>
              <a:spcAft>
                <a:spcPts val="1100"/>
              </a:spcAft>
              <a:buNone/>
            </a:pPr>
            <a:r>
              <a:rPr b="1" lang="en">
                <a:latin typeface="Arial"/>
                <a:ea typeface="Arial"/>
                <a:cs typeface="Arial"/>
                <a:sym typeface="Arial"/>
              </a:rPr>
              <a:t>Object Recognition vs. Object Detection</a:t>
            </a:r>
            <a:endParaRPr/>
          </a:p>
        </p:txBody>
      </p:sp>
      <p:sp>
        <p:nvSpPr>
          <p:cNvPr id="140" name="Google Shape;140;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139700" marR="139700" rtl="0" algn="l">
              <a:spcBef>
                <a:spcPts val="0"/>
              </a:spcBef>
              <a:spcAft>
                <a:spcPts val="0"/>
              </a:spcAft>
              <a:buNone/>
            </a:pPr>
            <a:r>
              <a:rPr b="1" lang="en">
                <a:latin typeface="Arial"/>
                <a:ea typeface="Arial"/>
                <a:cs typeface="Arial"/>
                <a:sym typeface="Arial"/>
              </a:rPr>
              <a:t>Object detection and object recognition are similar techniques for identifying objects, but they vary in their execution. </a:t>
            </a:r>
            <a:r>
              <a:rPr b="1" lang="en">
                <a:uFill>
                  <a:noFill/>
                </a:uFill>
                <a:latin typeface="Arial"/>
                <a:ea typeface="Arial"/>
                <a:cs typeface="Arial"/>
                <a:sym typeface="Arial"/>
                <a:hlinkClick r:id="rId3"/>
              </a:rPr>
              <a:t>Object detection</a:t>
            </a:r>
            <a:r>
              <a:rPr b="1" lang="en">
                <a:latin typeface="Arial"/>
                <a:ea typeface="Arial"/>
                <a:cs typeface="Arial"/>
                <a:sym typeface="Arial"/>
              </a:rPr>
              <a:t> is the process of finding instances of objects in images. In the case of deep learning, object detection is a subset of object recognition, where the object is not only identified but also located in an image. This allows for multiple objects to be identified and located within the same image.</a:t>
            </a:r>
            <a:endParaRPr b="1">
              <a:latin typeface="Arial"/>
              <a:ea typeface="Arial"/>
              <a:cs typeface="Arial"/>
              <a:sym typeface="Arial"/>
            </a:endParaRPr>
          </a:p>
          <a:p>
            <a:pPr indent="0" lvl="0" marL="0" rtl="0" algn="l">
              <a:spcBef>
                <a:spcPts val="17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t>
            </a:r>
            <a:endParaRPr/>
          </a:p>
        </p:txBody>
      </p:sp>
      <p:pic>
        <p:nvPicPr>
          <p:cNvPr id="146" name="Google Shape;146;p15"/>
          <p:cNvPicPr preferRelativeResize="0"/>
          <p:nvPr/>
        </p:nvPicPr>
        <p:blipFill>
          <a:blip r:embed="rId3">
            <a:alphaModFix/>
          </a:blip>
          <a:stretch>
            <a:fillRect/>
          </a:stretch>
        </p:blipFill>
        <p:spPr>
          <a:xfrm>
            <a:off x="1755150" y="1684875"/>
            <a:ext cx="5886450" cy="2676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 extraction</a:t>
            </a:r>
            <a:endParaRPr/>
          </a:p>
        </p:txBody>
      </p:sp>
      <p:sp>
        <p:nvSpPr>
          <p:cNvPr id="152" name="Google Shape;152;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3" name="Google Shape;153;p16"/>
          <p:cNvPicPr preferRelativeResize="0"/>
          <p:nvPr/>
        </p:nvPicPr>
        <p:blipFill>
          <a:blip r:embed="rId3">
            <a:alphaModFix/>
          </a:blip>
          <a:stretch>
            <a:fillRect/>
          </a:stretch>
        </p:blipFill>
        <p:spPr>
          <a:xfrm>
            <a:off x="1297500" y="1260050"/>
            <a:ext cx="2009575" cy="3526203"/>
          </a:xfrm>
          <a:prstGeom prst="rect">
            <a:avLst/>
          </a:prstGeom>
          <a:noFill/>
          <a:ln>
            <a:noFill/>
          </a:ln>
        </p:spPr>
      </p:pic>
      <p:pic>
        <p:nvPicPr>
          <p:cNvPr id="154" name="Google Shape;154;p16"/>
          <p:cNvPicPr preferRelativeResize="0"/>
          <p:nvPr/>
        </p:nvPicPr>
        <p:blipFill>
          <a:blip r:embed="rId4">
            <a:alphaModFix/>
          </a:blip>
          <a:stretch>
            <a:fillRect/>
          </a:stretch>
        </p:blipFill>
        <p:spPr>
          <a:xfrm>
            <a:off x="1297500" y="1260050"/>
            <a:ext cx="2009575" cy="3526203"/>
          </a:xfrm>
          <a:prstGeom prst="rect">
            <a:avLst/>
          </a:prstGeom>
          <a:noFill/>
          <a:ln>
            <a:noFill/>
          </a:ln>
        </p:spPr>
      </p:pic>
      <p:pic>
        <p:nvPicPr>
          <p:cNvPr id="155" name="Google Shape;155;p16"/>
          <p:cNvPicPr preferRelativeResize="0"/>
          <p:nvPr/>
        </p:nvPicPr>
        <p:blipFill>
          <a:blip r:embed="rId3">
            <a:alphaModFix/>
          </a:blip>
          <a:stretch>
            <a:fillRect/>
          </a:stretch>
        </p:blipFill>
        <p:spPr>
          <a:xfrm>
            <a:off x="5777900" y="1099375"/>
            <a:ext cx="2394027" cy="38475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